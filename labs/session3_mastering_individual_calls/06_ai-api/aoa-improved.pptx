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Cloudy oil paint art">
            <a:extLst>
              <a:ext uri="{FF2B5EF4-FFF2-40B4-BE49-F238E27FC236}">
                <a16:creationId xmlns:a16="http://schemas.microsoft.com/office/drawing/2014/main" id="{3BD7D9CB-CF65-B4FF-6F54-5AEA91BF0A18}"/>
              </a:ext>
            </a:extLst>
          </p:cNvPr>
          <p:cNvPicPr>
            <a:picLocks noChangeAspect="1"/>
          </p:cNvPicPr>
          <p:nvPr/>
        </p:nvPicPr>
        <p:blipFill>
          <a:blip r:embed="rId2"/>
          <a:srcRect t="15257" b="474"/>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9A07CE9-56B5-DE68-07A0-A943D92CC908}"/>
              </a:ext>
            </a:extLst>
          </p:cNvPr>
          <p:cNvSpPr>
            <a:spLocks noGrp="1"/>
          </p:cNvSpPr>
          <p:nvPr>
            <p:ph type="ctrTitle"/>
          </p:nvPr>
        </p:nvSpPr>
        <p:spPr>
          <a:xfrm>
            <a:off x="7473219" y="898373"/>
            <a:ext cx="4470544" cy="3474720"/>
          </a:xfrm>
        </p:spPr>
        <p:txBody>
          <a:bodyPr anchor="b">
            <a:normAutofit/>
          </a:bodyPr>
          <a:lstStyle/>
          <a:p>
            <a:pPr algn="l"/>
            <a:endParaRPr lang="en-US" sz="5800"/>
          </a:p>
        </p:txBody>
      </p:sp>
      <p:sp>
        <p:nvSpPr>
          <p:cNvPr id="3" name="Subtitle 2">
            <a:extLst>
              <a:ext uri="{FF2B5EF4-FFF2-40B4-BE49-F238E27FC236}">
                <a16:creationId xmlns:a16="http://schemas.microsoft.com/office/drawing/2014/main" id="{29E0EFEE-7EB1-B2F1-BA21-F2030A3A283C}"/>
              </a:ext>
            </a:extLst>
          </p:cNvPr>
          <p:cNvSpPr>
            <a:spLocks noGrp="1"/>
          </p:cNvSpPr>
          <p:nvPr>
            <p:ph type="subTitle" idx="1"/>
          </p:nvPr>
        </p:nvSpPr>
        <p:spPr>
          <a:xfrm>
            <a:off x="7482646" y="4495013"/>
            <a:ext cx="4116410" cy="1386840"/>
          </a:xfrm>
        </p:spPr>
        <p:txBody>
          <a:bodyPr anchor="t">
            <a:normAutofit/>
          </a:bodyPr>
          <a:lstStyle/>
          <a:p>
            <a:pPr algn="l"/>
            <a:endParaRPr lang="en-US" sz="22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A diagram of a website&#10;&#10;AI-generated content may be incorrect.">
            <a:extLst>
              <a:ext uri="{FF2B5EF4-FFF2-40B4-BE49-F238E27FC236}">
                <a16:creationId xmlns:a16="http://schemas.microsoft.com/office/drawing/2014/main" id="{33A19664-C765-6903-77E2-D334375B73B6}"/>
              </a:ext>
            </a:extLst>
          </p:cNvPr>
          <p:cNvPicPr>
            <a:picLocks noChangeAspect="1"/>
          </p:cNvPicPr>
          <p:nvPr/>
        </p:nvPicPr>
        <p:blipFill>
          <a:blip r:embed="rId2"/>
          <a:stretch>
            <a:fillRect/>
          </a:stretch>
        </p:blipFill>
        <p:spPr>
          <a:xfrm>
            <a:off x="1409700" y="488949"/>
            <a:ext cx="8949080" cy="561439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A diagram of a website&#10;&#10;AI-generated content may be incorrect.">
            <a:extLst>
              <a:ext uri="{FF2B5EF4-FFF2-40B4-BE49-F238E27FC236}">
                <a16:creationId xmlns:a16="http://schemas.microsoft.com/office/drawing/2014/main" id="{BC895C7E-DFD4-8FCC-3A19-632B350D3190}"/>
              </a:ext>
            </a:extLst>
          </p:cNvPr>
          <p:cNvPicPr>
            <a:picLocks noChangeAspect="1"/>
          </p:cNvPicPr>
          <p:nvPr/>
        </p:nvPicPr>
        <p:blipFill>
          <a:blip r:embed="rId2"/>
          <a:stretch>
            <a:fillRect/>
          </a:stretch>
        </p:blipFill>
        <p:spPr>
          <a:xfrm>
            <a:off x="7370284" y="121340"/>
            <a:ext cx="4821717" cy="3025007"/>
          </a:xfrm>
          <a:prstGeom prst="rect">
            <a:avLst/>
          </a:prstGeom>
        </p:spPr>
      </p:pic>
      <p:sp>
        <p:nvSpPr>
          <p:cNvPr id="3" name="TextBox 2">
            <a:extLst>
              <a:ext uri="{FF2B5EF4-FFF2-40B4-BE49-F238E27FC236}">
                <a16:creationId xmlns:a16="http://schemas.microsoft.com/office/drawing/2014/main" id="{33FC2053-238D-04C5-1EBC-5E8E35B4344D}"/>
              </a:ext>
            </a:extLst>
          </p:cNvPr>
          <p:cNvSpPr txBox="1"/>
          <p:nvPr/>
        </p:nvSpPr>
        <p:spPr>
          <a:xfrm>
            <a:off x="220337" y="3711654"/>
            <a:ext cx="11751325" cy="3046988"/>
          </a:xfrm>
          <a:prstGeom prst="rect">
            <a:avLst/>
          </a:prstGeom>
          <a:noFill/>
        </p:spPr>
        <p:txBody>
          <a:bodyPr wrap="square">
            <a:spAutoFit/>
          </a:bodyPr>
          <a:lstStyle/>
          <a:p>
            <a:pPr marL="342900" indent="-342900">
              <a:buFont typeface="+mj-lt"/>
              <a:buAutoNum type="arabicPeriod"/>
            </a:pPr>
            <a:endParaRPr lang="en-US" sz="1600" dirty="0">
              <a:latin typeface="Segoe UI" panose="020B0502040204020203" pitchFamily="34" charset="0"/>
              <a:cs typeface="Segoe UI" panose="020B0502040204020203" pitchFamily="34" charset="0"/>
            </a:endParaRPr>
          </a:p>
          <a:p>
            <a:pPr marL="342900" indent="-342900">
              <a:buFont typeface="+mj-lt"/>
              <a:buAutoNum type="arabicPeriod"/>
            </a:pPr>
            <a:r>
              <a:rPr lang="en-US" sz="1600" dirty="0">
                <a:latin typeface="Segoe UI" panose="020B0502040204020203" pitchFamily="34" charset="0"/>
                <a:cs typeface="Segoe UI" panose="020B0502040204020203" pitchFamily="34" charset="0"/>
              </a:rPr>
              <a:t>Services are described for humans. The language for "services" and "tools" is HTML, rendered as text. Services accessed via HTTP.</a:t>
            </a:r>
          </a:p>
          <a:p>
            <a:pPr marL="342900" indent="-342900">
              <a:buFont typeface="+mj-lt"/>
              <a:buAutoNum type="arabicPeriod"/>
            </a:pPr>
            <a:r>
              <a:rPr lang="en-US" sz="1600" dirty="0">
                <a:latin typeface="Segoe UI" panose="020B0502040204020203" pitchFamily="34" charset="0"/>
                <a:cs typeface="Segoe UI" panose="020B0502040204020203" pitchFamily="34" charset="0"/>
              </a:rPr>
              <a:t>The description is </a:t>
            </a:r>
            <a:r>
              <a:rPr lang="en-US" sz="1600" b="1" dirty="0">
                <a:latin typeface="Segoe UI" panose="020B0502040204020203" pitchFamily="34" charset="0"/>
                <a:cs typeface="Segoe UI" panose="020B0502040204020203" pitchFamily="34" charset="0"/>
              </a:rPr>
              <a:t>comprehensive</a:t>
            </a:r>
            <a:r>
              <a:rPr lang="en-US" sz="1600" dirty="0">
                <a:latin typeface="Segoe UI" panose="020B0502040204020203" pitchFamily="34" charset="0"/>
                <a:cs typeface="Segoe UI" panose="020B0502040204020203" pitchFamily="34" charset="0"/>
              </a:rPr>
              <a:t>, in addition to navigation being </a:t>
            </a:r>
            <a:r>
              <a:rPr lang="en-US" sz="1600" b="1" dirty="0">
                <a:latin typeface="Segoe UI" panose="020B0502040204020203" pitchFamily="34" charset="0"/>
                <a:cs typeface="Segoe UI" panose="020B0502040204020203" pitchFamily="34" charset="0"/>
              </a:rPr>
              <a:t>guided</a:t>
            </a:r>
            <a:r>
              <a:rPr lang="en-US" sz="1600" dirty="0">
                <a:latin typeface="Segoe UI" panose="020B0502040204020203" pitchFamily="34" charset="0"/>
                <a:cs typeface="Segoe UI" panose="020B0502040204020203" pitchFamily="34" charset="0"/>
              </a:rPr>
              <a:t>. The web pages drive and guide the interaction through the provider's services. Pages describe the provider, the services and how they fit.</a:t>
            </a:r>
          </a:p>
          <a:p>
            <a:pPr marL="342900" indent="-342900">
              <a:buFont typeface="+mj-lt"/>
              <a:buAutoNum type="arabicPeriod"/>
            </a:pPr>
            <a:r>
              <a:rPr lang="en-US" sz="1600" dirty="0">
                <a:latin typeface="Segoe UI" panose="020B0502040204020203" pitchFamily="34" charset="0"/>
                <a:cs typeface="Segoe UI" panose="020B0502040204020203" pitchFamily="34" charset="0"/>
              </a:rPr>
              <a:t>Humans ARE the agent, their actions are just "mediated" by the browser. AI has no autonomy. Humans know what they want (kind of) and drive the "browser". No need to describe it. There is </a:t>
            </a:r>
            <a:r>
              <a:rPr lang="en-US" sz="1600" b="1" dirty="0">
                <a:latin typeface="Segoe UI" panose="020B0502040204020203" pitchFamily="34" charset="0"/>
                <a:cs typeface="Segoe UI" panose="020B0502040204020203" pitchFamily="34" charset="0"/>
              </a:rPr>
              <a:t>no "autonomy leash"</a:t>
            </a:r>
            <a:r>
              <a:rPr lang="en-US" sz="1600" dirty="0">
                <a:latin typeface="Segoe UI" panose="020B0502040204020203" pitchFamily="34" charset="0"/>
                <a:cs typeface="Segoe UI" panose="020B0502040204020203" pitchFamily="34" charset="0"/>
              </a:rPr>
              <a:t> or "autonomy slider" problem.</a:t>
            </a:r>
          </a:p>
          <a:p>
            <a:pPr marL="342900" indent="-342900">
              <a:buFont typeface="+mj-lt"/>
              <a:buAutoNum type="arabicPeriod"/>
            </a:pPr>
            <a:r>
              <a:rPr lang="en-US" sz="1600" dirty="0">
                <a:latin typeface="Segoe UI" panose="020B0502040204020203" pitchFamily="34" charset="0"/>
                <a:cs typeface="Segoe UI" panose="020B0502040204020203" pitchFamily="34" charset="0"/>
              </a:rPr>
              <a:t>Upgrades are quite manageable: web pages can change, humans will adapt.</a:t>
            </a:r>
          </a:p>
          <a:p>
            <a:pPr marL="342900" indent="-342900">
              <a:buFont typeface="+mj-lt"/>
              <a:buAutoNum type="arabicPeriod"/>
            </a:pPr>
            <a:r>
              <a:rPr lang="en-US" sz="1600" dirty="0">
                <a:latin typeface="Segoe UI" panose="020B0502040204020203" pitchFamily="34" charset="0"/>
                <a:cs typeface="Segoe UI" panose="020B0502040204020203" pitchFamily="34" charset="0"/>
              </a:rPr>
              <a:t>Effectiveness is measured via user studies at first, A/B testing, and tools that monitor user journeys. Testing software.</a:t>
            </a:r>
          </a:p>
          <a:p>
            <a:pPr marL="342900" indent="-342900">
              <a:buFont typeface="+mj-lt"/>
              <a:buAutoNum type="arabicPeriod"/>
            </a:pPr>
            <a:r>
              <a:rPr lang="en-US" sz="1600" dirty="0">
                <a:latin typeface="Segoe UI" panose="020B0502040204020203" pitchFamily="34" charset="0"/>
                <a:cs typeface="Segoe UI" panose="020B0502040204020203" pitchFamily="34" charset="0"/>
              </a:rPr>
              <a:t>Errors and threats come from badly written pages, and (now) fairly well-known web attacks. Software clients are a few, widely-tested browsers</a:t>
            </a:r>
          </a:p>
          <a:p>
            <a:pPr marL="342900" indent="-342900">
              <a:buFont typeface="+mj-lt"/>
              <a:buAutoNum type="arabicPeriod"/>
            </a:pPr>
            <a:r>
              <a:rPr lang="en-US" sz="1600" dirty="0">
                <a:latin typeface="Segoe UI" panose="020B0502040204020203" pitchFamily="34" charset="0"/>
                <a:cs typeface="Segoe UI" panose="020B0502040204020203" pitchFamily="34" charset="0"/>
              </a:rPr>
              <a:t>Errors and undesirable behaviors are usually easily “visible” /detectable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Content Placeholder 4" descr="A diagram of a service&#10;&#10;AI-generated content may be incorrect.">
            <a:extLst>
              <a:ext uri="{FF2B5EF4-FFF2-40B4-BE49-F238E27FC236}">
                <a16:creationId xmlns:a16="http://schemas.microsoft.com/office/drawing/2014/main" id="{7921CC38-2FD7-0049-6E86-0D3D865016A7}"/>
              </a:ext>
            </a:extLst>
          </p:cNvPr>
          <p:cNvPicPr>
            <a:picLocks noGrp="1" noChangeAspect="1"/>
          </p:cNvPicPr>
          <p:nvPr>
            <p:ph idx="1"/>
          </p:nvPr>
        </p:nvPicPr>
        <p:blipFill>
          <a:blip r:embed="rId2"/>
          <a:stretch>
            <a:fillRect/>
          </a:stretch>
        </p:blipFill>
        <p:spPr>
          <a:xfrm>
            <a:off x="930345" y="813256"/>
            <a:ext cx="9742611" cy="5231487"/>
          </a:xfr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Content Placeholder 4" descr="A diagram of a service&#10;&#10;AI-generated content may be incorrect.">
            <a:extLst>
              <a:ext uri="{FF2B5EF4-FFF2-40B4-BE49-F238E27FC236}">
                <a16:creationId xmlns:a16="http://schemas.microsoft.com/office/drawing/2014/main" id="{DE59E1CC-E7EA-37F4-BDB8-895F06129D72}"/>
              </a:ext>
            </a:extLst>
          </p:cNvPr>
          <p:cNvPicPr>
            <a:picLocks noGrp="1" noChangeAspect="1"/>
          </p:cNvPicPr>
          <p:nvPr>
            <p:ph idx="1"/>
          </p:nvPr>
        </p:nvPicPr>
        <p:blipFill>
          <a:blip r:embed="rId2"/>
          <a:stretch>
            <a:fillRect/>
          </a:stretch>
        </p:blipFill>
        <p:spPr>
          <a:xfrm>
            <a:off x="5788508" y="200239"/>
            <a:ext cx="5624967" cy="3020437"/>
          </a:xfrm>
        </p:spPr>
      </p:pic>
      <p:sp>
        <p:nvSpPr>
          <p:cNvPr id="3" name="TextBox 2">
            <a:extLst>
              <a:ext uri="{FF2B5EF4-FFF2-40B4-BE49-F238E27FC236}">
                <a16:creationId xmlns:a16="http://schemas.microsoft.com/office/drawing/2014/main" id="{7FE91E17-5D4C-3DB7-0FA3-3B56F5DF4E93}"/>
              </a:ext>
            </a:extLst>
          </p:cNvPr>
          <p:cNvSpPr txBox="1"/>
          <p:nvPr/>
        </p:nvSpPr>
        <p:spPr>
          <a:xfrm>
            <a:off x="516208" y="3077455"/>
            <a:ext cx="11249806" cy="3693319"/>
          </a:xfrm>
          <a:prstGeom prst="rect">
            <a:avLst/>
          </a:prstGeom>
          <a:noFill/>
        </p:spPr>
        <p:txBody>
          <a:bodyPr wrap="square">
            <a:spAutoFit/>
          </a:bodyPr>
          <a:lstStyle/>
          <a:p>
            <a:pPr marL="342900" indent="-342900">
              <a:buFont typeface="+mj-lt"/>
              <a:buAutoNum type="arabicPeriod"/>
            </a:pPr>
            <a:endParaRPr lang="en-US" dirty="0">
              <a:latin typeface="Segoe UI" panose="020B0502040204020203" pitchFamily="34" charset="0"/>
              <a:cs typeface="Segoe UI" panose="020B0502040204020203" pitchFamily="34" charset="0"/>
            </a:endParaRPr>
          </a:p>
          <a:p>
            <a:pPr marL="342900" indent="-342900">
              <a:buFont typeface="+mj-lt"/>
              <a:buAutoNum type="arabicPeriod"/>
            </a:pPr>
            <a:r>
              <a:rPr lang="en-US" dirty="0">
                <a:latin typeface="Segoe UI" panose="020B0502040204020203" pitchFamily="34" charset="0"/>
                <a:cs typeface="Segoe UI" panose="020B0502040204020203" pitchFamily="34" charset="0"/>
              </a:rPr>
              <a:t>Services are </a:t>
            </a:r>
            <a:r>
              <a:rPr lang="en-US" b="1" dirty="0">
                <a:latin typeface="Segoe UI" panose="020B0502040204020203" pitchFamily="34" charset="0"/>
                <a:cs typeface="Segoe UI" panose="020B0502040204020203" pitchFamily="34" charset="0"/>
              </a:rPr>
              <a:t>described for humans</a:t>
            </a:r>
            <a:r>
              <a:rPr lang="en-US" dirty="0">
                <a:latin typeface="Segoe UI" panose="020B0502040204020203" pitchFamily="34" charset="0"/>
                <a:cs typeface="Segoe UI" panose="020B0502040204020203" pitchFamily="34" charset="0"/>
              </a:rPr>
              <a:t>. The language for specs is English. Interactions take place via HTTP.</a:t>
            </a:r>
          </a:p>
          <a:p>
            <a:pPr marL="342900" indent="-342900">
              <a:buFont typeface="+mj-lt"/>
              <a:buAutoNum type="arabicPeriod"/>
            </a:pPr>
            <a:r>
              <a:rPr lang="en-US" dirty="0">
                <a:latin typeface="Segoe UI" panose="020B0502040204020203" pitchFamily="34" charset="0"/>
                <a:cs typeface="Segoe UI" panose="020B0502040204020203" pitchFamily="34" charset="0"/>
              </a:rPr>
              <a:t>The description of the service is comprehensive. Navigation is not guided, in most cases - developers of clients should know what they can call when. The correct way to interact is specified in the documentation that developers have to read and understand.</a:t>
            </a:r>
          </a:p>
          <a:p>
            <a:pPr marL="342900" indent="-342900">
              <a:buFont typeface="+mj-lt"/>
              <a:buAutoNum type="arabicPeriod"/>
            </a:pPr>
            <a:r>
              <a:rPr lang="en-US" dirty="0">
                <a:latin typeface="Segoe UI" panose="020B0502040204020203" pitchFamily="34" charset="0"/>
                <a:cs typeface="Segoe UI" panose="020B0502040204020203" pitchFamily="34" charset="0"/>
              </a:rPr>
              <a:t>Developers code the "agent", a software that has no "intelligence". Either the client is programmed or interacts with humans. The software has </a:t>
            </a:r>
            <a:r>
              <a:rPr lang="en-US" b="1" dirty="0">
                <a:latin typeface="Segoe UI" panose="020B0502040204020203" pitchFamily="34" charset="0"/>
                <a:cs typeface="Segoe UI" panose="020B0502040204020203" pitchFamily="34" charset="0"/>
              </a:rPr>
              <a:t>no autonomy</a:t>
            </a:r>
            <a:r>
              <a:rPr lang="en-US" dirty="0">
                <a:latin typeface="Segoe UI" panose="020B0502040204020203" pitchFamily="34" charset="0"/>
                <a:cs typeface="Segoe UI" panose="020B0502040204020203" pitchFamily="34" charset="0"/>
              </a:rPr>
              <a:t>. Humans know what they want (kind of) and the desired behavior needs to be captured by the dev team and coded.</a:t>
            </a:r>
          </a:p>
          <a:p>
            <a:pPr marL="342900" indent="-342900">
              <a:buFont typeface="+mj-lt"/>
              <a:buAutoNum type="arabicPeriod"/>
            </a:pPr>
            <a:r>
              <a:rPr lang="en-US" dirty="0">
                <a:latin typeface="Segoe UI" panose="020B0502040204020203" pitchFamily="34" charset="0"/>
                <a:cs typeface="Segoe UI" panose="020B0502040204020203" pitchFamily="34" charset="0"/>
              </a:rPr>
              <a:t>Upgrades are tricky, versioning is costly for providers and clients.</a:t>
            </a:r>
          </a:p>
          <a:p>
            <a:pPr marL="342900" indent="-342900">
              <a:buFont typeface="+mj-lt"/>
              <a:buAutoNum type="arabicPeriod"/>
            </a:pPr>
            <a:r>
              <a:rPr lang="en-US" dirty="0">
                <a:latin typeface="Segoe UI" panose="020B0502040204020203" pitchFamily="34" charset="0"/>
                <a:cs typeface="Segoe UI" panose="020B0502040204020203" pitchFamily="34" charset="0"/>
              </a:rPr>
              <a:t>Testing, logging and monitoring is often basic and meant to assess if code breaks, for the most part.</a:t>
            </a:r>
          </a:p>
          <a:p>
            <a:pPr marL="342900" indent="-342900">
              <a:buFont typeface="+mj-lt"/>
              <a:buAutoNum type="arabicPeriod"/>
            </a:pPr>
            <a:r>
              <a:rPr lang="en-US" dirty="0">
                <a:latin typeface="Segoe UI" panose="020B0502040204020203" pitchFamily="34" charset="0"/>
                <a:cs typeface="Segoe UI" panose="020B0502040204020203" pitchFamily="34" charset="0"/>
              </a:rPr>
              <a:t>Errors and attack coming from versioning, injections, and the general complexities of distributed systems that have many components and moving parts</a:t>
            </a:r>
          </a:p>
          <a:p>
            <a:pPr marL="342900" indent="-342900">
              <a:buFont typeface="+mj-lt"/>
              <a:buAutoNum type="arabicPeriod"/>
            </a:pPr>
            <a:r>
              <a:rPr lang="en-US" dirty="0">
                <a:latin typeface="Segoe UI" panose="020B0502040204020203" pitchFamily="34" charset="0"/>
                <a:cs typeface="Segoe UI" panose="020B0502040204020203" pitchFamily="34" charset="0"/>
              </a:rPr>
              <a:t>Errors and undesirable behaviors are usually easily “visible” /detectable, traces are logged and monitored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88CA041-6FEE-7B70-BC61-50FDD23B09C4}"/>
              </a:ext>
            </a:extLst>
          </p:cNvPr>
          <p:cNvSpPr>
            <a:spLocks noGrp="1"/>
          </p:cNvSpPr>
          <p:nvPr>
            <p:ph type="title"/>
          </p:nvPr>
        </p:nvSpPr>
        <p:spPr/>
        <p:txBody>
          <a:bodyPr/>
          <a:lstStyle/>
          <a:p>
            <a:endParaRPr lang="en-US"/>
          </a:p>
        </p:txBody>
      </p:sp>
      <p:pic>
        <p:nvPicPr>
          <p:cNvPr id="5" name="Content Placeholder 4" descr="A diagram of a browser&#10;&#10;AI-generated content may be incorrect.">
            <a:extLst>
              <a:ext uri="{FF2B5EF4-FFF2-40B4-BE49-F238E27FC236}">
                <a16:creationId xmlns:a16="http://schemas.microsoft.com/office/drawing/2014/main" id="{FCFD37A0-B3CC-DB1A-9AF1-CDE460F90D49}"/>
              </a:ext>
            </a:extLst>
          </p:cNvPr>
          <p:cNvPicPr>
            <a:picLocks noGrp="1" noChangeAspect="1"/>
          </p:cNvPicPr>
          <p:nvPr>
            <p:ph idx="1"/>
          </p:nvPr>
        </p:nvPicPr>
        <p:blipFill>
          <a:blip r:embed="rId2"/>
          <a:stretch>
            <a:fillRect/>
          </a:stretch>
        </p:blipFill>
        <p:spPr>
          <a:xfrm>
            <a:off x="2064882" y="1716088"/>
            <a:ext cx="7749499" cy="4592637"/>
          </a:xfr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90336F47-88FC-6F2F-7983-FEA502191E01}"/>
              </a:ext>
            </a:extLst>
          </p:cNvPr>
          <p:cNvSpPr>
            <a:spLocks noGrp="1"/>
          </p:cNvSpPr>
          <p:nvPr>
            <p:ph idx="1"/>
          </p:nvPr>
        </p:nvSpPr>
        <p:spPr>
          <a:xfrm>
            <a:off x="125261" y="2967406"/>
            <a:ext cx="11288214" cy="3748975"/>
          </a:xfrm>
        </p:spPr>
        <p:txBody>
          <a:bodyPr>
            <a:normAutofit fontScale="92500" lnSpcReduction="20000"/>
          </a:bodyPr>
          <a:lstStyle/>
          <a:p>
            <a:pPr marL="0" indent="0">
              <a:spcBef>
                <a:spcPts val="0"/>
              </a:spcBef>
              <a:buNone/>
            </a:pPr>
            <a:endParaRPr lang="en-US" sz="1600" dirty="0">
              <a:latin typeface="Segoe UI" panose="020B0502040204020203" pitchFamily="34" charset="0"/>
              <a:cs typeface="Segoe UI" panose="020B0502040204020203" pitchFamily="34" charset="0"/>
            </a:endParaRP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Services are described for humans. The language for "services" and "tools" is HTML, rendered as text. Services accessed via HTTP. </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The description is </a:t>
            </a:r>
            <a:r>
              <a:rPr lang="en-US" sz="1600" b="1" dirty="0">
                <a:latin typeface="Segoe UI" panose="020B0502040204020203" pitchFamily="34" charset="0"/>
                <a:cs typeface="Segoe UI" panose="020B0502040204020203" pitchFamily="34" charset="0"/>
              </a:rPr>
              <a:t>comprehensive</a:t>
            </a:r>
            <a:r>
              <a:rPr lang="en-US" sz="1600" dirty="0">
                <a:latin typeface="Segoe UI" panose="020B0502040204020203" pitchFamily="34" charset="0"/>
                <a:cs typeface="Segoe UI" panose="020B0502040204020203" pitchFamily="34" charset="0"/>
              </a:rPr>
              <a:t>, in addition to navigation being </a:t>
            </a:r>
            <a:r>
              <a:rPr lang="en-US" sz="1600" b="1" dirty="0">
                <a:latin typeface="Segoe UI" panose="020B0502040204020203" pitchFamily="34" charset="0"/>
                <a:cs typeface="Segoe UI" panose="020B0502040204020203" pitchFamily="34" charset="0"/>
              </a:rPr>
              <a:t>guided</a:t>
            </a:r>
            <a:r>
              <a:rPr lang="en-US" sz="1600" dirty="0">
                <a:latin typeface="Segoe UI" panose="020B0502040204020203" pitchFamily="34" charset="0"/>
                <a:cs typeface="Segoe UI" panose="020B0502040204020203" pitchFamily="34" charset="0"/>
              </a:rPr>
              <a:t>. The web pages drive and guide the interaction through the provider's services. Pages describe the provider, the services, and how they fit.</a:t>
            </a:r>
          </a:p>
          <a:p>
            <a:pPr marL="457200" indent="-457200">
              <a:spcBef>
                <a:spcPts val="0"/>
              </a:spcBef>
              <a:buFont typeface="+mj-lt"/>
              <a:buAutoNum type="arabicPeriod"/>
            </a:pPr>
            <a:r>
              <a:rPr lang="en-US" sz="1600" b="1" dirty="0">
                <a:latin typeface="Segoe UI" panose="020B0502040204020203" pitchFamily="34" charset="0"/>
                <a:cs typeface="Segoe UI" panose="020B0502040204020203" pitchFamily="34" charset="0"/>
              </a:rPr>
              <a:t>"Agency" is mixed </a:t>
            </a:r>
            <a:r>
              <a:rPr lang="en-US" sz="1600" dirty="0">
                <a:latin typeface="Segoe UI" panose="020B0502040204020203" pitchFamily="34" charset="0"/>
                <a:cs typeface="Segoe UI" panose="020B0502040204020203" pitchFamily="34" charset="0"/>
              </a:rPr>
              <a:t>- and sits on a scale, depending on how much leash the agent is given. This model is still evolving and ranges from AI only providing a summary view of a page to AI creating plans and confirming them, to AI running off doing what they think makes sense.</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Upgrades are quite manageable: web pages can change, agents will adapt.</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Testing, logging and monitoring is still developing. No clear pattern emerged yet - except for "advanced" agents logging and learning from the past</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Errors may come from these additional sources: a. agents not understanding content, b. wrong degree of autonomy, c. attacks - still to be fully understood</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It’s hard to say how manifest errors and undesirable behaviors are, but for now this approach has a mostly short leash so they are fairly visible</a:t>
            </a:r>
          </a:p>
        </p:txBody>
      </p:sp>
      <p:pic>
        <p:nvPicPr>
          <p:cNvPr id="4" name="Content Placeholder 4" descr="A diagram of a browser&#10;&#10;AI-generated content may be incorrect.">
            <a:extLst>
              <a:ext uri="{FF2B5EF4-FFF2-40B4-BE49-F238E27FC236}">
                <a16:creationId xmlns:a16="http://schemas.microsoft.com/office/drawing/2014/main" id="{FB5B32F2-B213-C163-C392-AAE4233D72BD}"/>
              </a:ext>
            </a:extLst>
          </p:cNvPr>
          <p:cNvPicPr>
            <a:picLocks noChangeAspect="1"/>
          </p:cNvPicPr>
          <p:nvPr/>
        </p:nvPicPr>
        <p:blipFill>
          <a:blip r:embed="rId2"/>
          <a:stretch>
            <a:fillRect/>
          </a:stretch>
        </p:blipFill>
        <p:spPr>
          <a:xfrm>
            <a:off x="7077204" y="10424"/>
            <a:ext cx="4989535" cy="29569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Content Placeholder 4" descr="A diagram of a company&#10;&#10;AI-generated content may be incorrect.">
            <a:extLst>
              <a:ext uri="{FF2B5EF4-FFF2-40B4-BE49-F238E27FC236}">
                <a16:creationId xmlns:a16="http://schemas.microsoft.com/office/drawing/2014/main" id="{0E5CBB6E-B809-2D34-5589-2B082122B473}"/>
              </a:ext>
            </a:extLst>
          </p:cNvPr>
          <p:cNvPicPr>
            <a:picLocks noGrp="1" noChangeAspect="1"/>
          </p:cNvPicPr>
          <p:nvPr>
            <p:ph idx="1"/>
          </p:nvPr>
        </p:nvPicPr>
        <p:blipFill>
          <a:blip r:embed="rId3"/>
          <a:stretch>
            <a:fillRect/>
          </a:stretch>
        </p:blipFill>
        <p:spPr>
          <a:xfrm>
            <a:off x="1296912" y="713983"/>
            <a:ext cx="9191607" cy="5206435"/>
          </a:xfr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Content Placeholder 4" descr="A diagram of a company&#10;&#10;AI-generated content may be incorrect.">
            <a:extLst>
              <a:ext uri="{FF2B5EF4-FFF2-40B4-BE49-F238E27FC236}">
                <a16:creationId xmlns:a16="http://schemas.microsoft.com/office/drawing/2014/main" id="{B24F4A1E-24C5-5841-3B51-684E1268D030}"/>
              </a:ext>
            </a:extLst>
          </p:cNvPr>
          <p:cNvPicPr>
            <a:picLocks noGrp="1" noChangeAspect="1"/>
          </p:cNvPicPr>
          <p:nvPr>
            <p:ph idx="1"/>
          </p:nvPr>
        </p:nvPicPr>
        <p:blipFill>
          <a:blip r:embed="rId3"/>
          <a:stretch>
            <a:fillRect/>
          </a:stretch>
        </p:blipFill>
        <p:spPr>
          <a:xfrm>
            <a:off x="6401166" y="377042"/>
            <a:ext cx="5388024" cy="3051958"/>
          </a:xfrm>
        </p:spPr>
      </p:pic>
      <p:sp>
        <p:nvSpPr>
          <p:cNvPr id="3" name="TextBox 2">
            <a:extLst>
              <a:ext uri="{FF2B5EF4-FFF2-40B4-BE49-F238E27FC236}">
                <a16:creationId xmlns:a16="http://schemas.microsoft.com/office/drawing/2014/main" id="{1AAAB936-9EB1-49A8-7F1B-AF4A97FBF8CF}"/>
              </a:ext>
            </a:extLst>
          </p:cNvPr>
          <p:cNvSpPr txBox="1"/>
          <p:nvPr/>
        </p:nvSpPr>
        <p:spPr>
          <a:xfrm>
            <a:off x="132203" y="2417313"/>
            <a:ext cx="8962975" cy="4185761"/>
          </a:xfrm>
          <a:prstGeom prst="rect">
            <a:avLst/>
          </a:prstGeom>
          <a:noFill/>
        </p:spPr>
        <p:txBody>
          <a:bodyPr wrap="square">
            <a:spAutoFit/>
          </a:bodyPr>
          <a:lstStyle/>
          <a:p>
            <a:pPr marL="342900" indent="-342900">
              <a:buFont typeface="+mj-lt"/>
              <a:buAutoNum type="arabicPeriod"/>
            </a:pPr>
            <a:endParaRPr lang="en-US" sz="1400" dirty="0">
              <a:latin typeface="Segoe UI" panose="020B0502040204020203" pitchFamily="34" charset="0"/>
              <a:cs typeface="Segoe UI" panose="020B0502040204020203" pitchFamily="34" charset="0"/>
            </a:endParaRPr>
          </a:p>
          <a:p>
            <a:pPr marL="342900" indent="-342900">
              <a:buFont typeface="+mj-lt"/>
              <a:buAutoNum type="arabicPeriod"/>
            </a:pPr>
            <a:r>
              <a:rPr lang="en-US" sz="1400" dirty="0">
                <a:latin typeface="Segoe UI" panose="020B0502040204020203" pitchFamily="34" charset="0"/>
                <a:cs typeface="Segoe UI" panose="020B0502040204020203" pitchFamily="34" charset="0"/>
              </a:rPr>
              <a:t>Services are described for agents - kind of, and, whatever that means. The language for "services" and "tools" is JSON, often taken from python specs. Services accessed via HTTP/JSON-RPC.</a:t>
            </a:r>
          </a:p>
          <a:p>
            <a:pPr marL="342900" indent="-342900">
              <a:buFont typeface="+mj-lt"/>
              <a:buAutoNum type="arabicPeriod"/>
            </a:pPr>
            <a:r>
              <a:rPr lang="en-US" sz="1400" dirty="0">
                <a:latin typeface="Segoe UI" panose="020B0502040204020203" pitchFamily="34" charset="0"/>
                <a:cs typeface="Segoe UI" panose="020B0502040204020203" pitchFamily="34" charset="0"/>
              </a:rPr>
              <a:t>The description is spotty, no best practice emerged. </a:t>
            </a:r>
            <a:r>
              <a:rPr lang="en-US" sz="1400" b="1" dirty="0">
                <a:latin typeface="Segoe UI" panose="020B0502040204020203" pitchFamily="34" charset="0"/>
                <a:cs typeface="Segoe UI" panose="020B0502040204020203" pitchFamily="34" charset="0"/>
              </a:rPr>
              <a:t>Navigation is not guided</a:t>
            </a:r>
            <a:r>
              <a:rPr lang="en-US" sz="1400" dirty="0">
                <a:latin typeface="Segoe UI" panose="020B0502040204020203" pitchFamily="34" charset="0"/>
                <a:cs typeface="Segoe UI" panose="020B0502040204020203" pitchFamily="34" charset="0"/>
              </a:rPr>
              <a:t>. In web pages I have the page structure and access to the whole web site to read. What is the equivalent here?</a:t>
            </a:r>
          </a:p>
          <a:p>
            <a:pPr marL="342900" indent="-342900">
              <a:buFont typeface="+mj-lt"/>
              <a:buAutoNum type="arabicPeriod"/>
            </a:pPr>
            <a:r>
              <a:rPr lang="en-US" sz="1400" b="1" dirty="0">
                <a:latin typeface="Segoe UI" panose="020B0502040204020203" pitchFamily="34" charset="0"/>
                <a:cs typeface="Segoe UI" panose="020B0502040204020203" pitchFamily="34" charset="0"/>
              </a:rPr>
              <a:t>"Agency" is mixed </a:t>
            </a:r>
            <a:r>
              <a:rPr lang="en-US" sz="1400" dirty="0">
                <a:latin typeface="Segoe UI" panose="020B0502040204020203" pitchFamily="34" charset="0"/>
                <a:cs typeface="Segoe UI" panose="020B0502040204020203" pitchFamily="34" charset="0"/>
              </a:rPr>
              <a:t>- and sits on a scale, depending on how much leash the agent is given. Notions of memory and persistence of user knowledge are also emerging.</a:t>
            </a:r>
          </a:p>
          <a:p>
            <a:pPr marL="342900" indent="-342900">
              <a:buFont typeface="+mj-lt"/>
              <a:buAutoNum type="arabicPeriod"/>
            </a:pPr>
            <a:r>
              <a:rPr lang="en-US" sz="1400" dirty="0">
                <a:latin typeface="Segoe UI" panose="020B0502040204020203" pitchFamily="34" charset="0"/>
                <a:cs typeface="Segoe UI" panose="020B0502040204020203" pitchFamily="34" charset="0"/>
              </a:rPr>
              <a:t>Changes / Upgrades are in principle manageable if agents are well developed and manage to combine training knowledge, prior execution knowledge, and updated service description. Service descriptions change and agents can adapt.</a:t>
            </a:r>
          </a:p>
          <a:p>
            <a:pPr marL="342900" indent="-342900">
              <a:buFont typeface="+mj-lt"/>
              <a:buAutoNum type="arabicPeriod"/>
            </a:pPr>
            <a:r>
              <a:rPr lang="en-US" sz="1400" dirty="0">
                <a:latin typeface="Segoe UI" panose="020B0502040204020203" pitchFamily="34" charset="0"/>
                <a:cs typeface="Segoe UI" panose="020B0502040204020203" pitchFamily="34" charset="0"/>
              </a:rPr>
              <a:t>Testing, logging and monitoring is still emerging - and the notion of traces and "actually useful process mining" are emerging. Approaches to automate agent definition analysis have also emerged.</a:t>
            </a:r>
          </a:p>
          <a:p>
            <a:pPr marL="342900" indent="-342900">
              <a:buFont typeface="+mj-lt"/>
              <a:buAutoNum type="arabicPeriod"/>
            </a:pPr>
            <a:r>
              <a:rPr lang="en-US" sz="1400" dirty="0">
                <a:latin typeface="Segoe UI" panose="020B0502040204020203" pitchFamily="34" charset="0"/>
                <a:cs typeface="Segoe UI" panose="020B0502040204020203" pitchFamily="34" charset="0"/>
              </a:rPr>
              <a:t>Errors may come from </a:t>
            </a:r>
            <a:r>
              <a:rPr lang="en-US" sz="1400" dirty="0" err="1">
                <a:latin typeface="Segoe UI" panose="020B0502040204020203" pitchFamily="34" charset="0"/>
                <a:cs typeface="Segoe UI" panose="020B0502040204020203" pitchFamily="34" charset="0"/>
              </a:rPr>
              <a:t>i</a:t>
            </a:r>
            <a:r>
              <a:rPr lang="en-US" sz="1400" dirty="0">
                <a:latin typeface="Segoe UI" panose="020B0502040204020203" pitchFamily="34" charset="0"/>
                <a:cs typeface="Segoe UI" panose="020B0502040204020203" pitchFamily="34" charset="0"/>
              </a:rPr>
              <a:t>. agents not understanding content (and service descriptions not providing sufficient context), ii. wrong degree or autonomy, iii. attacks - still to be fully understood, iv) misunderstanding on what/how much the agent knows by training vs what is described</a:t>
            </a:r>
          </a:p>
          <a:p>
            <a:pPr marL="342900" indent="-342900">
              <a:buFont typeface="+mj-lt"/>
              <a:buAutoNum type="arabicPeriod"/>
            </a:pPr>
            <a:r>
              <a:rPr lang="en-US" sz="1400" dirty="0">
                <a:latin typeface="Segoe UI" panose="020B0502040204020203" pitchFamily="34" charset="0"/>
                <a:cs typeface="Segoe UI" panose="020B0502040204020203" pitchFamily="34" charset="0"/>
              </a:rPr>
              <a:t>Agents at scale - the "software engineering" moment: what happens as millions of people with little </a:t>
            </a:r>
            <a:r>
              <a:rPr lang="en-US" sz="1400" dirty="0" err="1">
                <a:latin typeface="Segoe UI" panose="020B0502040204020203" pitchFamily="34" charset="0"/>
                <a:cs typeface="Segoe UI" panose="020B0502040204020203" pitchFamily="34" charset="0"/>
              </a:rPr>
              <a:t>sw</a:t>
            </a:r>
            <a:r>
              <a:rPr lang="en-US" sz="1400" dirty="0">
                <a:latin typeface="Segoe UI" panose="020B0502040204020203" pitchFamily="34" charset="0"/>
                <a:cs typeface="Segoe UI" panose="020B0502040204020203" pitchFamily="34" charset="0"/>
              </a:rPr>
              <a:t> </a:t>
            </a:r>
            <a:r>
              <a:rPr lang="en-US" sz="1400" dirty="0" err="1">
                <a:latin typeface="Segoe UI" panose="020B0502040204020203" pitchFamily="34" charset="0"/>
                <a:cs typeface="Segoe UI" panose="020B0502040204020203" pitchFamily="34" charset="0"/>
              </a:rPr>
              <a:t>eng</a:t>
            </a:r>
            <a:r>
              <a:rPr lang="en-US" sz="1400" dirty="0">
                <a:latin typeface="Segoe UI" panose="020B0502040204020203" pitchFamily="34" charset="0"/>
                <a:cs typeface="Segoe UI" panose="020B0502040204020203" pitchFamily="34" charset="0"/>
              </a:rPr>
              <a:t> experience develops complex multi entity systems. (see next)</a:t>
            </a:r>
          </a:p>
          <a:p>
            <a:pPr marL="342900" indent="-342900">
              <a:buFont typeface="+mj-lt"/>
              <a:buAutoNum type="arabicPeriod"/>
            </a:pPr>
            <a:r>
              <a:rPr lang="en-US" sz="1400" dirty="0">
                <a:latin typeface="Segoe UI" panose="020B0502040204020203" pitchFamily="34" charset="0"/>
                <a:cs typeface="Segoe UI" panose="020B0502040204020203" pitchFamily="34" charset="0"/>
              </a:rPr>
              <a:t>In many implementations, error are suppressed -&gt; see later again for the “software engineering” crisis. Legal framework somewhat unclear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useBgFill="1">
        <p:nvSpPr>
          <p:cNvPr id="28" name="Rectangle 27">
            <a:extLst>
              <a:ext uri="{FF2B5EF4-FFF2-40B4-BE49-F238E27FC236}">
                <a16:creationId xmlns:a16="http://schemas.microsoft.com/office/drawing/2014/main" id="{B797DE5A-DA89-0A80-C73D-8DCE1A3E2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D708FBB-6F24-AA52-310D-2F22DF154685}"/>
              </a:ext>
            </a:extLst>
          </p:cNvPr>
          <p:cNvSpPr>
            <a:spLocks noGrp="1"/>
          </p:cNvSpPr>
          <p:nvPr>
            <p:ph type="title"/>
          </p:nvPr>
        </p:nvSpPr>
        <p:spPr>
          <a:xfrm>
            <a:off x="670045" y="1174376"/>
            <a:ext cx="3509383" cy="2781752"/>
          </a:xfrm>
        </p:spPr>
        <p:txBody>
          <a:bodyPr vert="horz" lIns="91440" tIns="45720" rIns="91440" bIns="45720" rtlCol="0" anchor="b">
            <a:normAutofit/>
          </a:bodyPr>
          <a:lstStyle/>
          <a:p>
            <a:r>
              <a:rPr lang="en-US" sz="2500"/>
              <a:t>Design considerations for ai agents</a:t>
            </a:r>
          </a:p>
        </p:txBody>
      </p:sp>
      <p:sp>
        <p:nvSpPr>
          <p:cNvPr id="5" name="Text Placeholder 4">
            <a:extLst>
              <a:ext uri="{FF2B5EF4-FFF2-40B4-BE49-F238E27FC236}">
                <a16:creationId xmlns:a16="http://schemas.microsoft.com/office/drawing/2014/main" id="{52EC6CA3-7920-BDC3-5ABA-E73F7EB14EDC}"/>
              </a:ext>
            </a:extLst>
          </p:cNvPr>
          <p:cNvSpPr>
            <a:spLocks noGrp="1"/>
          </p:cNvSpPr>
          <p:nvPr>
            <p:ph type="body" idx="1"/>
          </p:nvPr>
        </p:nvSpPr>
        <p:spPr>
          <a:xfrm>
            <a:off x="670045" y="4062940"/>
            <a:ext cx="3509383" cy="2293793"/>
          </a:xfrm>
        </p:spPr>
        <p:txBody>
          <a:bodyPr vert="horz" lIns="91440" tIns="45720" rIns="91440" bIns="45720" rtlCol="0">
            <a:normAutofit/>
          </a:bodyPr>
          <a:lstStyle/>
          <a:p>
            <a:pPr>
              <a:lnSpc>
                <a:spcPct val="110000"/>
              </a:lnSpc>
            </a:pPr>
            <a:r>
              <a:rPr lang="en-US" sz="1400" i="1" dirty="0"/>
              <a:t>(as a testament to the maturity of the field, this is what the </a:t>
            </a:r>
            <a:r>
              <a:rPr lang="en-US" sz="1400" i="1" dirty="0" err="1"/>
              <a:t>powerpoint</a:t>
            </a:r>
            <a:r>
              <a:rPr lang="en-US" sz="1400" i="1" dirty="0"/>
              <a:t> designer came up with)</a:t>
            </a:r>
          </a:p>
          <a:p>
            <a:pPr>
              <a:lnSpc>
                <a:spcPct val="110000"/>
              </a:lnSpc>
            </a:pPr>
            <a:r>
              <a:rPr lang="en-US" sz="1400" dirty="0"/>
              <a:t>Please consider each of them </a:t>
            </a:r>
            <a:r>
              <a:rPr lang="en-US" sz="1400" dirty="0" err="1"/>
              <a:t>rfom</a:t>
            </a:r>
            <a:r>
              <a:rPr lang="en-US" sz="1400" dirty="0"/>
              <a:t> the point of view of the </a:t>
            </a:r>
            <a:r>
              <a:rPr lang="en-US" sz="1400" dirty="0" err="1"/>
              <a:t>vaiorus</a:t>
            </a:r>
            <a:r>
              <a:rPr lang="en-US" sz="1400" dirty="0"/>
              <a:t> parties involved: who should worry about that design consideration?</a:t>
            </a:r>
          </a:p>
        </p:txBody>
      </p:sp>
      <p:pic>
        <p:nvPicPr>
          <p:cNvPr id="7" name="Picture 6" descr="Pen placed on top of a signature line">
            <a:extLst>
              <a:ext uri="{FF2B5EF4-FFF2-40B4-BE49-F238E27FC236}">
                <a16:creationId xmlns:a16="http://schemas.microsoft.com/office/drawing/2014/main" id="{02C811B7-1794-AD6B-98FE-D325FF8BA5D0}"/>
              </a:ext>
            </a:extLst>
          </p:cNvPr>
          <p:cNvPicPr>
            <a:picLocks noChangeAspect="1"/>
          </p:cNvPicPr>
          <p:nvPr/>
        </p:nvPicPr>
        <p:blipFill>
          <a:blip r:embed="rId2"/>
          <a:srcRect r="28287" b="-2"/>
          <a:stretch>
            <a:fillRect/>
          </a:stretch>
        </p:blipFill>
        <p:spPr>
          <a:xfrm>
            <a:off x="4824248" y="1"/>
            <a:ext cx="7367752"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BFD5E443-685C-EA1E-E419-91A56D2C7CC7}"/>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AI agents – systems of LLM and tools - are complex distributed systems</a:t>
            </a:r>
          </a:p>
        </p:txBody>
      </p:sp>
      <p:sp>
        <p:nvSpPr>
          <p:cNvPr id="3" name="Content Placeholder 2">
            <a:extLst>
              <a:ext uri="{FF2B5EF4-FFF2-40B4-BE49-F238E27FC236}">
                <a16:creationId xmlns:a16="http://schemas.microsoft.com/office/drawing/2014/main" id="{EBE35A3B-F7BA-B0FD-26DA-612DDEF3ADF7}"/>
              </a:ext>
            </a:extLst>
          </p:cNvPr>
          <p:cNvSpPr>
            <a:spLocks noGrp="1"/>
          </p:cNvSpPr>
          <p:nvPr>
            <p:ph idx="1"/>
          </p:nvPr>
        </p:nvSpPr>
        <p:spPr>
          <a:xfrm>
            <a:off x="612647" y="2104222"/>
            <a:ext cx="4886279" cy="4205138"/>
          </a:xfrm>
        </p:spPr>
        <p:txBody>
          <a:bodyPr>
            <a:noAutofit/>
          </a:bodyPr>
          <a:lstStyle/>
          <a:p>
            <a:r>
              <a:rPr lang="en-US" dirty="0">
                <a:latin typeface="Segoe UI" panose="020B0502040204020203" pitchFamily="34" charset="0"/>
                <a:cs typeface="Segoe UI" panose="020B0502040204020203" pitchFamily="34" charset="0"/>
              </a:rPr>
              <a:t>They have all the complexities of distributed systems, minus one, plus many more</a:t>
            </a:r>
          </a:p>
          <a:p>
            <a:r>
              <a:rPr lang="en-US" dirty="0">
                <a:latin typeface="Segoe UI" panose="020B0502040204020203" pitchFamily="34" charset="0"/>
                <a:cs typeface="Segoe UI" panose="020B0502040204020203" pitchFamily="34" charset="0"/>
              </a:rPr>
              <a:t>Ease of development does not mean that their reliable operation is easier</a:t>
            </a:r>
          </a:p>
          <a:p>
            <a:endParaRPr lang="en-US" dirty="0">
              <a:latin typeface="Segoe UI" panose="020B0502040204020203" pitchFamily="34" charset="0"/>
              <a:cs typeface="Segoe UI" panose="020B0502040204020203" pitchFamily="34" charset="0"/>
            </a:endParaRPr>
          </a:p>
        </p:txBody>
      </p:sp>
      <p:pic>
        <p:nvPicPr>
          <p:cNvPr id="4" name="Content Placeholder 4" descr="A diagram of a company&#10;&#10;AI-generated content may be incorrect.">
            <a:extLst>
              <a:ext uri="{FF2B5EF4-FFF2-40B4-BE49-F238E27FC236}">
                <a16:creationId xmlns:a16="http://schemas.microsoft.com/office/drawing/2014/main" id="{118C421C-54A9-1D1A-441C-5C5030AB152A}"/>
              </a:ext>
            </a:extLst>
          </p:cNvPr>
          <p:cNvPicPr>
            <a:picLocks noChangeAspect="1"/>
          </p:cNvPicPr>
          <p:nvPr/>
        </p:nvPicPr>
        <p:blipFill>
          <a:blip r:embed="rId2"/>
          <a:stretch>
            <a:fillRect/>
          </a:stretch>
        </p:blipFill>
        <p:spPr>
          <a:xfrm>
            <a:off x="5331722" y="2988663"/>
            <a:ext cx="6609815" cy="374402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A5DA2D7D-489F-3A70-C992-C94C00454218}"/>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AI agents – systems of LLM and tools - are complex distributed systems, and….</a:t>
            </a:r>
          </a:p>
        </p:txBody>
      </p:sp>
      <p:sp>
        <p:nvSpPr>
          <p:cNvPr id="3" name="Content Placeholder 2">
            <a:extLst>
              <a:ext uri="{FF2B5EF4-FFF2-40B4-BE49-F238E27FC236}">
                <a16:creationId xmlns:a16="http://schemas.microsoft.com/office/drawing/2014/main" id="{4DA26D97-7606-8A17-333E-7AADC2FE23CB}"/>
              </a:ext>
            </a:extLst>
          </p:cNvPr>
          <p:cNvSpPr>
            <a:spLocks noGrp="1"/>
          </p:cNvSpPr>
          <p:nvPr>
            <p:ph idx="1"/>
          </p:nvPr>
        </p:nvSpPr>
        <p:spPr>
          <a:xfrm>
            <a:off x="612647" y="2104372"/>
            <a:ext cx="10653579" cy="4204987"/>
          </a:xfrm>
        </p:spPr>
        <p:txBody>
          <a:bodyPr>
            <a:noAutofit/>
          </a:bodyPr>
          <a:lstStyle/>
          <a:p>
            <a:r>
              <a:rPr lang="en-US" dirty="0">
                <a:latin typeface="Segoe UI" panose="020B0502040204020203" pitchFamily="34" charset="0"/>
                <a:cs typeface="Segoe UI" panose="020B0502040204020203" pitchFamily="34" charset="0"/>
              </a:rPr>
              <a:t>…we currently have millions of new such systems developed daily – the overwhelming majority of which by people who have no idea what software is, or what engineering is.</a:t>
            </a:r>
          </a:p>
          <a:p>
            <a:r>
              <a:rPr lang="en-US" dirty="0">
                <a:latin typeface="Segoe UI" panose="020B0502040204020203" pitchFamily="34" charset="0"/>
                <a:cs typeface="Segoe UI" panose="020B0502040204020203" pitchFamily="34" charset="0"/>
              </a:rPr>
              <a:t>These people are using </a:t>
            </a:r>
            <a:r>
              <a:rPr lang="en-US" b="1" dirty="0">
                <a:latin typeface="Segoe UI" panose="020B0502040204020203" pitchFamily="34" charset="0"/>
                <a:cs typeface="Segoe UI" panose="020B0502040204020203" pitchFamily="34" charset="0"/>
              </a:rPr>
              <a:t>our</a:t>
            </a:r>
            <a:r>
              <a:rPr lang="en-US" dirty="0">
                <a:latin typeface="Segoe UI" panose="020B0502040204020203" pitchFamily="34" charset="0"/>
                <a:cs typeface="Segoe UI" panose="020B0502040204020203" pitchFamily="34" charset="0"/>
              </a:rPr>
              <a:t> tools to build systems.</a:t>
            </a:r>
          </a:p>
          <a:p>
            <a:r>
              <a:rPr lang="en-US" dirty="0">
                <a:latin typeface="Segoe UI" panose="020B0502040204020203" pitchFamily="34" charset="0"/>
                <a:cs typeface="Segoe UI" panose="020B0502040204020203" pitchFamily="34" charset="0"/>
              </a:rPr>
              <a:t>If we expose an MCP, either it is not used (not what we want) or it is used (also not what we want)</a:t>
            </a:r>
          </a:p>
          <a:p>
            <a:endParaRPr lang="en-US" sz="1800"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BD174BA-BFF6-B491-4483-FFDBFA94574E}"/>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Memory, Intentions, Autonomy</a:t>
            </a:r>
          </a:p>
        </p:txBody>
      </p:sp>
      <p:sp>
        <p:nvSpPr>
          <p:cNvPr id="3" name="Content Placeholder 2">
            <a:extLst>
              <a:ext uri="{FF2B5EF4-FFF2-40B4-BE49-F238E27FC236}">
                <a16:creationId xmlns:a16="http://schemas.microsoft.com/office/drawing/2014/main" id="{B74701B9-51BD-A469-6DF0-5BA8F9464505}"/>
              </a:ext>
            </a:extLst>
          </p:cNvPr>
          <p:cNvSpPr>
            <a:spLocks noGrp="1"/>
          </p:cNvSpPr>
          <p:nvPr>
            <p:ph idx="1"/>
          </p:nvPr>
        </p:nvSpPr>
        <p:spPr>
          <a:xfrm>
            <a:off x="612648" y="1232640"/>
            <a:ext cx="8042838" cy="5443582"/>
          </a:xfrm>
        </p:spPr>
        <p:txBody>
          <a:bodyPr>
            <a:noAutofit/>
          </a:bodyPr>
          <a:lstStyle/>
          <a:p>
            <a:endParaRPr lang="en-US" sz="1600" b="1"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Short term memory: how to “design” it, and who contributes or suggests content? </a:t>
            </a:r>
          </a:p>
          <a:p>
            <a:r>
              <a:rPr lang="en-US" sz="1800" dirty="0">
                <a:latin typeface="Segoe UI" panose="020B0502040204020203" pitchFamily="34" charset="0"/>
                <a:cs typeface="Segoe UI" panose="020B0502040204020203" pitchFamily="34" charset="0"/>
              </a:rPr>
              <a:t>And long term / cross session memory? </a:t>
            </a:r>
          </a:p>
          <a:p>
            <a:r>
              <a:rPr lang="en-US" sz="1800" dirty="0">
                <a:latin typeface="Segoe UI" panose="020B0502040204020203" pitchFamily="34" charset="0"/>
                <a:cs typeface="Segoe UI" panose="020B0502040204020203" pitchFamily="34" charset="0"/>
              </a:rPr>
              <a:t>How do we elicit preferences and intentions and delimit their scope? </a:t>
            </a:r>
          </a:p>
          <a:p>
            <a:r>
              <a:rPr lang="en-US" sz="1800" dirty="0">
                <a:latin typeface="Segoe UI" panose="020B0502040204020203" pitchFamily="34" charset="0"/>
                <a:cs typeface="Segoe UI" panose="020B0502040204020203" pitchFamily="34" charset="0"/>
              </a:rPr>
              <a:t>How much should be inferred vs asked? </a:t>
            </a:r>
          </a:p>
          <a:p>
            <a:r>
              <a:rPr lang="en-US" sz="1800" dirty="0">
                <a:latin typeface="Segoe UI" panose="020B0502040204020203" pitchFamily="34" charset="0"/>
                <a:cs typeface="Segoe UI" panose="020B0502040204020203" pitchFamily="34" charset="0"/>
              </a:rPr>
              <a:t>Degree of </a:t>
            </a:r>
            <a:r>
              <a:rPr lang="en-US" sz="1800" b="1" dirty="0">
                <a:latin typeface="Segoe UI" panose="020B0502040204020203" pitchFamily="34" charset="0"/>
                <a:cs typeface="Segoe UI" panose="020B0502040204020203" pitchFamily="34" charset="0"/>
              </a:rPr>
              <a:t>autonomy is a dimension and intersects with memory</a:t>
            </a:r>
            <a:endParaRPr lang="en-US" sz="1800" dirty="0">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Declarative goals? - and our level of comfort</a:t>
            </a:r>
          </a:p>
          <a:p>
            <a:pPr marL="228600" lvl="1" indent="0">
              <a:buNone/>
            </a:pPr>
            <a:endParaRPr lang="en-US" dirty="0">
              <a:latin typeface="Segoe UI" panose="020B0502040204020203" pitchFamily="34" charset="0"/>
              <a:cs typeface="Segoe UI" panose="020B0502040204020203" pitchFamily="34" charset="0"/>
            </a:endParaRPr>
          </a:p>
          <a:p>
            <a:pPr lvl="1">
              <a:buFont typeface="Symbol" pitchFamily="2" charset="2"/>
              <a:buChar char="Þ"/>
            </a:pPr>
            <a:r>
              <a:rPr lang="en-US" dirty="0">
                <a:latin typeface="Segoe UI" panose="020B0502040204020203" pitchFamily="34" charset="0"/>
                <a:cs typeface="Segoe UI" panose="020B0502040204020203" pitchFamily="34" charset="0"/>
              </a:rPr>
              <a:t>What’s the role of the MCP server? (For example, Render is wisely very explicit)</a:t>
            </a:r>
          </a:p>
          <a:p>
            <a:pPr lvl="1">
              <a:buFont typeface="Symbol" pitchFamily="2" charset="2"/>
              <a:buChar char="Þ"/>
            </a:pPr>
            <a:r>
              <a:rPr lang="en-US" dirty="0">
                <a:latin typeface="Segoe UI" panose="020B0502040204020203" pitchFamily="34" charset="0"/>
                <a:cs typeface="Segoe UI" panose="020B0502040204020203" pitchFamily="34" charset="0"/>
              </a:rPr>
              <a:t>How much should we expose and to who? How to ask? How to show? How often? </a:t>
            </a:r>
          </a:p>
        </p:txBody>
      </p:sp>
      <p:pic>
        <p:nvPicPr>
          <p:cNvPr id="5" name="Picture 4" descr="A person holding a remote control&#10;&#10;AI-generated content may be incorrect.">
            <a:extLst>
              <a:ext uri="{FF2B5EF4-FFF2-40B4-BE49-F238E27FC236}">
                <a16:creationId xmlns:a16="http://schemas.microsoft.com/office/drawing/2014/main" id="{9EA80755-C0EA-61EE-4436-E2BC480BDF4E}"/>
              </a:ext>
            </a:extLst>
          </p:cNvPr>
          <p:cNvPicPr>
            <a:picLocks noChangeAspect="1"/>
          </p:cNvPicPr>
          <p:nvPr/>
        </p:nvPicPr>
        <p:blipFill>
          <a:blip r:embed="rId2"/>
          <a:stretch>
            <a:fillRect/>
          </a:stretch>
        </p:blipFill>
        <p:spPr>
          <a:xfrm>
            <a:off x="9042400" y="1114769"/>
            <a:ext cx="3149600" cy="47117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EF422CE-694D-85B2-89F4-A6C6703E335A}"/>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Security, safety, privacy</a:t>
            </a:r>
          </a:p>
        </p:txBody>
      </p:sp>
      <p:sp>
        <p:nvSpPr>
          <p:cNvPr id="3" name="Content Placeholder 2">
            <a:extLst>
              <a:ext uri="{FF2B5EF4-FFF2-40B4-BE49-F238E27FC236}">
                <a16:creationId xmlns:a16="http://schemas.microsoft.com/office/drawing/2014/main" id="{37D6A428-AE8A-79D8-AE7E-379DC86BBAB5}"/>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Here  I have nothing particularly clever to say that you don’t know already</a:t>
            </a:r>
          </a:p>
          <a:p>
            <a:r>
              <a:rPr lang="en-US" sz="1800" dirty="0">
                <a:latin typeface="Segoe UI" panose="020B0502040204020203" pitchFamily="34" charset="0"/>
                <a:cs typeface="Segoe UI" panose="020B0502040204020203" pitchFamily="34" charset="0"/>
              </a:rPr>
              <a:t>AI systems are by definition handling nuanced and non trivial cases</a:t>
            </a:r>
          </a:p>
          <a:p>
            <a:r>
              <a:rPr lang="en-US" sz="1800" dirty="0">
                <a:latin typeface="Segoe UI" panose="020B0502040204020203" pitchFamily="34" charset="0"/>
                <a:cs typeface="Segoe UI" panose="020B0502040204020203" pitchFamily="34" charset="0"/>
              </a:rPr>
              <a:t>They may make all sorts of wrong or “unfair” decisions</a:t>
            </a:r>
          </a:p>
          <a:p>
            <a:r>
              <a:rPr lang="en-US" sz="1800" dirty="0">
                <a:latin typeface="Segoe UI" panose="020B0502040204020203" pitchFamily="34" charset="0"/>
                <a:cs typeface="Segoe UI" panose="020B0502040204020203" pitchFamily="34" charset="0"/>
              </a:rPr>
              <a:t>They may be led to do the wrong thing, and this can happen from so many sources once our client is connected to a bunch of servers - to which we probably lost track of</a:t>
            </a:r>
          </a:p>
          <a:p>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The issue arises both for providers and consumers of both intelligent and dumb services, and the responsibility is shared. We need to ask ourself the questions, no matter our role.</a:t>
            </a:r>
          </a:p>
          <a:p>
            <a:r>
              <a:rPr lang="en-US" sz="1800" dirty="0">
                <a:latin typeface="Segoe UI" panose="020B0502040204020203" pitchFamily="34" charset="0"/>
                <a:cs typeface="Segoe UI" panose="020B0502040204020203" pitchFamily="34" charset="0"/>
              </a:rPr>
              <a:t>Logs of AI interactions: can admins see what people share? What they… think?</a:t>
            </a:r>
          </a:p>
          <a:p>
            <a:pPr marL="0" indent="0">
              <a:buNone/>
            </a:pPr>
            <a:endParaRPr lang="en-US" sz="1800" dirty="0">
              <a:latin typeface="Segoe UI" panose="020B0502040204020203" pitchFamily="34" charset="0"/>
              <a:cs typeface="Segoe UI" panose="020B0502040204020203" pitchFamily="34" charset="0"/>
            </a:endParaRPr>
          </a:p>
          <a:p>
            <a:endParaRPr lang="en-US" sz="1800" dirty="0">
              <a:latin typeface="Segoe UI" panose="020B0502040204020203" pitchFamily="34" charset="0"/>
              <a:cs typeface="Segoe UI" panose="020B0502040204020203" pitchFamily="34" charset="0"/>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07B42C15-FEE1-969F-1B8E-C35CE0A3E2AF}"/>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Guided interactions</a:t>
            </a:r>
          </a:p>
        </p:txBody>
      </p:sp>
      <p:sp>
        <p:nvSpPr>
          <p:cNvPr id="3" name="Content Placeholder 2">
            <a:extLst>
              <a:ext uri="{FF2B5EF4-FFF2-40B4-BE49-F238E27FC236}">
                <a16:creationId xmlns:a16="http://schemas.microsoft.com/office/drawing/2014/main" id="{BAE26BFD-8CD7-0A09-EE72-9E466949B458}"/>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how can service providers give an integrated overview of what they offer (rather than just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 by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a:t>
            </a:r>
          </a:p>
          <a:p>
            <a:r>
              <a:rPr lang="en-US" sz="1800" dirty="0">
                <a:latin typeface="Segoe UI" panose="020B0502040204020203" pitchFamily="34" charset="0"/>
                <a:cs typeface="Segoe UI" panose="020B0502040204020203" pitchFamily="34" charset="0"/>
              </a:rPr>
              <a:t>How can interaction and “next steps” be guided, or should they?</a:t>
            </a:r>
          </a:p>
          <a:p>
            <a:r>
              <a:rPr lang="en-US" sz="1800" dirty="0">
                <a:latin typeface="Segoe UI" panose="020B0502040204020203" pitchFamily="34" charset="0"/>
                <a:cs typeface="Segoe UI" panose="020B0502040204020203" pitchFamily="34" charset="0"/>
              </a:rPr>
              <a:t>On the web, both humans and developers do have context.</a:t>
            </a:r>
          </a:p>
          <a:p>
            <a:pPr lvl="1"/>
            <a:r>
              <a:rPr lang="en-US" dirty="0">
                <a:latin typeface="Segoe UI" panose="020B0502040204020203" pitchFamily="34" charset="0"/>
                <a:cs typeface="Segoe UI" panose="020B0502040204020203" pitchFamily="34" charset="0"/>
              </a:rPr>
              <a:t>Humans or agent browsing web sites have context. what about agents with </a:t>
            </a:r>
            <a:r>
              <a:rPr lang="en-US" dirty="0" err="1">
                <a:latin typeface="Segoe UI" panose="020B0502040204020203" pitchFamily="34" charset="0"/>
                <a:cs typeface="Segoe UI" panose="020B0502040204020203" pitchFamily="34" charset="0"/>
              </a:rPr>
              <a:t>mcp</a:t>
            </a:r>
            <a:r>
              <a:rPr lang="en-US" dirty="0">
                <a:latin typeface="Segoe UI" panose="020B0502040204020203" pitchFamily="34" charset="0"/>
                <a:cs typeface="Segoe UI" panose="020B0502040204020203" pitchFamily="34" charset="0"/>
              </a:rPr>
              <a:t>-style descriptions?</a:t>
            </a:r>
          </a:p>
          <a:p>
            <a:pPr lvl="1"/>
            <a:r>
              <a:rPr lang="en-US" dirty="0">
                <a:latin typeface="Segoe UI" panose="020B0502040204020203" pitchFamily="34" charset="0"/>
                <a:cs typeface="Segoe UI" panose="020B0502040204020203" pitchFamily="34" charset="0"/>
              </a:rPr>
              <a:t>how to be intentional on what we expose?</a:t>
            </a:r>
          </a:p>
          <a:p>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Question for us: how much guidance to give? How open vs prescriptive should our description and answers be? How careful on what we expose?</a:t>
            </a:r>
          </a:p>
          <a:p>
            <a:r>
              <a:rPr lang="en-US" sz="1800" dirty="0">
                <a:latin typeface="Segoe UI" panose="020B0502040204020203" pitchFamily="34" charset="0"/>
                <a:cs typeface="Segoe UI" panose="020B0502040204020203" pitchFamily="34" charset="0"/>
              </a:rPr>
              <a:t>How can we foresee “bad usage” of our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 How to prevent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B56FEFC8-B27B-F991-485B-AC1034F29855}"/>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Quality, Logs, Traces, Business assertions /1</a:t>
            </a:r>
          </a:p>
        </p:txBody>
      </p:sp>
      <p:sp>
        <p:nvSpPr>
          <p:cNvPr id="3" name="Content Placeholder 2">
            <a:extLst>
              <a:ext uri="{FF2B5EF4-FFF2-40B4-BE49-F238E27FC236}">
                <a16:creationId xmlns:a16="http://schemas.microsoft.com/office/drawing/2014/main" id="{D57F3696-F63C-C8AE-6833-3D71CC8CF60C}"/>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As both provider and clients we want to know</a:t>
            </a:r>
          </a:p>
          <a:p>
            <a:pPr lvl="1"/>
            <a:r>
              <a:rPr lang="en-US" sz="1600" dirty="0">
                <a:latin typeface="Segoe UI" panose="020B0502040204020203" pitchFamily="34" charset="0"/>
                <a:cs typeface="Segoe UI" panose="020B0502040204020203" pitchFamily="34" charset="0"/>
              </a:rPr>
              <a:t>How are services being used? Which are the common patterns? Where do clients drop off?</a:t>
            </a:r>
          </a:p>
          <a:p>
            <a:pPr lvl="1"/>
            <a:r>
              <a:rPr lang="en-US" sz="1600" dirty="0">
                <a:latin typeface="Segoe UI" panose="020B0502040204020203" pitchFamily="34" charset="0"/>
                <a:cs typeface="Segoe UI" panose="020B0502040204020203" pitchFamily="34" charset="0"/>
                <a:sym typeface="Wingdings" pitchFamily="2" charset="2"/>
              </a:rPr>
              <a:t> very similar to how we analyze users on the web</a:t>
            </a:r>
          </a:p>
          <a:p>
            <a:r>
              <a:rPr lang="en-US" sz="1800" dirty="0">
                <a:latin typeface="Segoe UI" panose="020B0502040204020203" pitchFamily="34" charset="0"/>
                <a:cs typeface="Segoe UI" panose="020B0502040204020203" pitchFamily="34" charset="0"/>
                <a:sym typeface="Wingdings" pitchFamily="2" charset="2"/>
              </a:rPr>
              <a:t>In addition, and this is new, we know have millions of “new software engineers” with wildly differing practices on how to manage exceptions</a:t>
            </a:r>
          </a:p>
          <a:p>
            <a:pPr lvl="1"/>
            <a:r>
              <a:rPr lang="en-US" sz="1600" dirty="0">
                <a:latin typeface="Segoe UI" panose="020B0502040204020203" pitchFamily="34" charset="0"/>
                <a:cs typeface="Segoe UI" panose="020B0502040204020203" pitchFamily="34" charset="0"/>
                <a:sym typeface="Wingdings" pitchFamily="2" charset="2"/>
              </a:rPr>
              <a:t>Our job is to be robust to incompetent users</a:t>
            </a:r>
            <a:endParaRPr lang="en-US" sz="16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Key elements to this are </a:t>
            </a:r>
            <a:r>
              <a:rPr lang="en-US" sz="1800" b="1" dirty="0">
                <a:latin typeface="Segoe UI" panose="020B0502040204020203" pitchFamily="34" charset="0"/>
                <a:cs typeface="Segoe UI" panose="020B0502040204020203" pitchFamily="34" charset="0"/>
              </a:rPr>
              <a:t>telemetry for traces </a:t>
            </a:r>
            <a:r>
              <a:rPr lang="en-US" sz="1800" dirty="0">
                <a:latin typeface="Segoe UI" panose="020B0502040204020203" pitchFamily="34" charset="0"/>
                <a:cs typeface="Segoe UI" panose="020B0502040204020203" pitchFamily="34" charset="0"/>
              </a:rPr>
              <a:t>and the notion of </a:t>
            </a:r>
            <a:r>
              <a:rPr lang="en-US" sz="1800" b="1" dirty="0">
                <a:latin typeface="Segoe UI" panose="020B0502040204020203" pitchFamily="34" charset="0"/>
                <a:cs typeface="Segoe UI" panose="020B0502040204020203" pitchFamily="34" charset="0"/>
              </a:rPr>
              <a:t>business assertion. </a:t>
            </a:r>
            <a:r>
              <a:rPr lang="en-US" sz="1800" dirty="0">
                <a:latin typeface="Segoe UI" panose="020B0502040204020203" pitchFamily="34" charset="0"/>
                <a:cs typeface="Segoe UI" panose="020B0502040204020203" pitchFamily="34" charset="0"/>
              </a:rPr>
              <a:t>They try to fight the problem of </a:t>
            </a:r>
            <a:r>
              <a:rPr lang="en-US" sz="1800" b="1" dirty="0">
                <a:solidFill>
                  <a:srgbClr val="7030A0"/>
                </a:solidFill>
                <a:latin typeface="Segoe UI" panose="020B0502040204020203" pitchFamily="34" charset="0"/>
                <a:cs typeface="Segoe UI" panose="020B0502040204020203" pitchFamily="34" charset="0"/>
              </a:rPr>
              <a:t>silent failures</a:t>
            </a:r>
          </a:p>
          <a:p>
            <a:pPr lvl="1"/>
            <a:r>
              <a:rPr lang="en-US" dirty="0">
                <a:latin typeface="Segoe UI" panose="020B0502040204020203" pitchFamily="34" charset="0"/>
                <a:cs typeface="Segoe UI" panose="020B0502040204020203" pitchFamily="34" charset="0"/>
              </a:rPr>
              <a:t>what are we really monitoring for? How to do it at scale?</a:t>
            </a:r>
          </a:p>
          <a:p>
            <a:pPr lvl="1"/>
            <a:r>
              <a:rPr lang="en-US" dirty="0">
                <a:latin typeface="Segoe UI" panose="020B0502040204020203" pitchFamily="34" charset="0"/>
                <a:cs typeface="Segoe UI" panose="020B0502040204020203" pitchFamily="34" charset="0"/>
              </a:rPr>
              <a:t>Often – there are properties of an interaction that we expect to be true </a:t>
            </a:r>
            <a:r>
              <a:rPr lang="en-US" b="1" dirty="0">
                <a:latin typeface="Segoe UI" panose="020B0502040204020203" pitchFamily="34" charset="0"/>
                <a:cs typeface="Segoe UI" panose="020B0502040204020203" pitchFamily="34" charset="0"/>
              </a:rPr>
              <a:t>individually</a:t>
            </a:r>
            <a:r>
              <a:rPr lang="en-US" dirty="0">
                <a:latin typeface="Segoe UI" panose="020B0502040204020203" pitchFamily="34" charset="0"/>
                <a:cs typeface="Segoe UI" panose="020B0502040204020203" pitchFamily="34" charset="0"/>
              </a:rPr>
              <a:t> and properties that should be true </a:t>
            </a:r>
            <a:r>
              <a:rPr lang="en-US" b="1" dirty="0">
                <a:latin typeface="Segoe UI" panose="020B0502040204020203" pitchFamily="34" charset="0"/>
                <a:cs typeface="Segoe UI" panose="020B0502040204020203" pitchFamily="34" charset="0"/>
              </a:rPr>
              <a:t>statistically</a:t>
            </a:r>
          </a:p>
          <a:p>
            <a:endParaRPr lang="en-US" sz="1800" dirty="0">
              <a:latin typeface="Segoe UI" panose="020B0502040204020203" pitchFamily="34" charset="0"/>
              <a:cs typeface="Segoe UI" panose="020B0502040204020203" pitchFamily="34" charset="0"/>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1C940D6-9597-D4A2-F130-2C581BDEFB13}"/>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Quality, Logs, Traces, Business assertions /2</a:t>
            </a:r>
          </a:p>
        </p:txBody>
      </p:sp>
      <p:sp>
        <p:nvSpPr>
          <p:cNvPr id="3" name="Content Placeholder 2">
            <a:extLst>
              <a:ext uri="{FF2B5EF4-FFF2-40B4-BE49-F238E27FC236}">
                <a16:creationId xmlns:a16="http://schemas.microsoft.com/office/drawing/2014/main" id="{0CF607E7-10FC-C622-65C1-54C789914F91}"/>
              </a:ext>
            </a:extLst>
          </p:cNvPr>
          <p:cNvSpPr>
            <a:spLocks noGrp="1"/>
          </p:cNvSpPr>
          <p:nvPr>
            <p:ph idx="1"/>
          </p:nvPr>
        </p:nvSpPr>
        <p:spPr/>
        <p:txBody>
          <a:bodyPr>
            <a:noAutofit/>
          </a:bodyPr>
          <a:lstStyle/>
          <a:p>
            <a:r>
              <a:rPr lang="en-US" dirty="0">
                <a:latin typeface="Segoe UI" panose="020B0502040204020203" pitchFamily="34" charset="0"/>
                <a:cs typeface="Segoe UI" panose="020B0502040204020203" pitchFamily="34" charset="0"/>
              </a:rPr>
              <a:t>Log “consent” when possible (and what/ who consents to what)</a:t>
            </a:r>
          </a:p>
          <a:p>
            <a:r>
              <a:rPr lang="en-US" dirty="0">
                <a:latin typeface="Segoe UI" panose="020B0502040204020203" pitchFamily="34" charset="0"/>
                <a:cs typeface="Segoe UI" panose="020B0502040204020203" pitchFamily="34" charset="0"/>
              </a:rPr>
              <a:t>Automated error analysis and improvement. This now possible. In fact </a:t>
            </a:r>
            <a:r>
              <a:rPr lang="en-US" b="1" dirty="0">
                <a:latin typeface="Segoe UI" panose="020B0502040204020203" pitchFamily="34" charset="0"/>
                <a:cs typeface="Segoe UI" panose="020B0502040204020203" pitchFamily="34" charset="0"/>
              </a:rPr>
              <a:t>we are in a golden era: this is EASY today</a:t>
            </a:r>
            <a:r>
              <a:rPr lang="en-US" dirty="0">
                <a:latin typeface="Segoe UI" panose="020B0502040204020203" pitchFamily="34" charset="0"/>
                <a:cs typeface="Segoe UI" panose="020B0502040204020203" pitchFamily="34" charset="0"/>
              </a:rPr>
              <a:t>.</a:t>
            </a:r>
          </a:p>
          <a:p>
            <a:pPr lvl="1"/>
            <a:r>
              <a:rPr lang="en-US" dirty="0">
                <a:latin typeface="Segoe UI" panose="020B0502040204020203" pitchFamily="34" charset="0"/>
                <a:cs typeface="Segoe UI" panose="020B0502040204020203" pitchFamily="34" charset="0"/>
              </a:rPr>
              <a:t>The easiest consulting money you will ever make, revenue of around 50 K / day easy</a:t>
            </a:r>
          </a:p>
          <a:p>
            <a:pPr lvl="1"/>
            <a:r>
              <a:rPr lang="en-US" dirty="0">
                <a:latin typeface="Segoe UI" panose="020B0502040204020203" pitchFamily="34" charset="0"/>
                <a:cs typeface="Segoe UI" panose="020B0502040204020203" pitchFamily="34" charset="0"/>
              </a:rPr>
              <a:t>Services today are so bad that even models by [omitted on advice from legal] will detect them</a:t>
            </a:r>
          </a:p>
          <a:p>
            <a:pPr marL="228600" lvl="1" indent="0">
              <a:buNone/>
            </a:pPr>
            <a:r>
              <a:rPr lang="en-US" dirty="0">
                <a:latin typeface="Segoe UI" panose="020B0502040204020203" pitchFamily="34" charset="0"/>
                <a:cs typeface="Segoe UI" panose="020B0502040204020203" pitchFamily="34" charset="0"/>
              </a:rPr>
              <a:t>In summary we need to think and implement abstractions and practices to manage complex, semi-autonomous system and describing good vs bad behaviors.</a:t>
            </a:r>
          </a:p>
          <a:p>
            <a:r>
              <a:rPr lang="en-US" sz="1800" dirty="0">
                <a:latin typeface="Segoe UI" panose="020B0502040204020203" pitchFamily="34" charset="0"/>
                <a:cs typeface="Segoe UI" panose="020B0502040204020203" pitchFamily="34" charset="0"/>
              </a:rPr>
              <a:t>Self improvement is also kind of easy– needs to be on short leash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DFD939F-D72F-593D-CD2B-1AD38BD08094}"/>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Capturing opportunities</a:t>
            </a:r>
          </a:p>
        </p:txBody>
      </p:sp>
      <p:sp>
        <p:nvSpPr>
          <p:cNvPr id="3" name="Content Placeholder 2">
            <a:extLst>
              <a:ext uri="{FF2B5EF4-FFF2-40B4-BE49-F238E27FC236}">
                <a16:creationId xmlns:a16="http://schemas.microsoft.com/office/drawing/2014/main" id="{189A3C79-5297-A70E-BF27-2B4A3E2AC98D}"/>
              </a:ext>
            </a:extLst>
          </p:cNvPr>
          <p:cNvSpPr>
            <a:spLocks noGrp="1"/>
          </p:cNvSpPr>
          <p:nvPr>
            <p:ph idx="1"/>
          </p:nvPr>
        </p:nvSpPr>
        <p:spPr/>
        <p:txBody>
          <a:bodyPr>
            <a:noAutofit/>
          </a:bodyPr>
          <a:lstStyle/>
          <a:p>
            <a:r>
              <a:rPr lang="en-US" dirty="0">
                <a:latin typeface="Segoe UI" panose="020B0502040204020203" pitchFamily="34" charset="0"/>
                <a:cs typeface="Segoe UI" panose="020B0502040204020203" pitchFamily="34" charset="0"/>
              </a:rPr>
              <a:t>Ability to </a:t>
            </a:r>
          </a:p>
          <a:p>
            <a:pPr marL="571500" lvl="1" indent="-342900">
              <a:buFont typeface="+mj-lt"/>
              <a:buAutoNum type="arabicPeriod"/>
            </a:pPr>
            <a:r>
              <a:rPr lang="en-US" dirty="0">
                <a:latin typeface="Segoe UI" panose="020B0502040204020203" pitchFamily="34" charset="0"/>
                <a:cs typeface="Segoe UI" panose="020B0502040204020203" pitchFamily="34" charset="0"/>
              </a:rPr>
              <a:t>read docs at scale, understand complex systems </a:t>
            </a:r>
          </a:p>
          <a:p>
            <a:pPr marL="571500" lvl="1" indent="-342900">
              <a:buFont typeface="+mj-lt"/>
              <a:buAutoNum type="arabicPeriod"/>
            </a:pPr>
            <a:r>
              <a:rPr lang="en-US" dirty="0">
                <a:latin typeface="Segoe UI" panose="020B0502040204020203" pitchFamily="34" charset="0"/>
                <a:cs typeface="Segoe UI" panose="020B0502040204020203" pitchFamily="34" charset="0"/>
              </a:rPr>
              <a:t>answer direct questions about "how to do x”</a:t>
            </a:r>
          </a:p>
          <a:p>
            <a:pPr marL="571500" lvl="1" indent="-342900">
              <a:buFont typeface="+mj-lt"/>
              <a:buAutoNum type="arabicPeriod"/>
            </a:pPr>
            <a:r>
              <a:rPr lang="en-US" dirty="0">
                <a:latin typeface="Segoe UI" panose="020B0502040204020203" pitchFamily="34" charset="0"/>
                <a:cs typeface="Segoe UI" panose="020B0502040204020203" pitchFamily="34" charset="0"/>
              </a:rPr>
              <a:t>interact conversationally and create custom UI</a:t>
            </a:r>
          </a:p>
          <a:p>
            <a:r>
              <a:rPr lang="en-US" sz="1800" dirty="0">
                <a:latin typeface="Segoe UI" panose="020B0502040204020203" pitchFamily="34" charset="0"/>
                <a:cs typeface="Segoe UI" panose="020B0502040204020203" pitchFamily="34" charset="0"/>
              </a:rPr>
              <a:t>Responsibilities</a:t>
            </a:r>
          </a:p>
          <a:p>
            <a:pPr lvl="1"/>
            <a:r>
              <a:rPr lang="en-US" dirty="0">
                <a:latin typeface="Segoe UI" panose="020B0502040204020203" pitchFamily="34" charset="0"/>
                <a:cs typeface="Segoe UI" panose="020B0502040204020203" pitchFamily="34" charset="0"/>
              </a:rPr>
              <a:t>in the web we have terms and conditions - how does it work here?</a:t>
            </a:r>
          </a:p>
          <a:p>
            <a:pPr lvl="1"/>
            <a:r>
              <a:rPr lang="en-US" dirty="0">
                <a:latin typeface="Segoe UI" panose="020B0502040204020203" pitchFamily="34" charset="0"/>
                <a:cs typeface="Segoe UI" panose="020B0502040204020203" pitchFamily="34" charset="0"/>
              </a:rPr>
              <a:t>who is responsible for actions? does it depend on how clear the service descriptions are?</a:t>
            </a:r>
          </a:p>
          <a:p>
            <a:endParaRPr lang="en-US" sz="1800" dirty="0">
              <a:latin typeface="Segoe UI" panose="020B0502040204020203" pitchFamily="34" charset="0"/>
              <a:cs typeface="Segoe UI" panose="020B0502040204020203" pitchFamily="34" charset="0"/>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PART THREE</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Designing Agentic Systems</a:t>
            </a:r>
          </a:p>
        </p:txBody>
      </p:sp>
      <p:sp>
        <p:nvSpPr>
          <p:cNvPr id="4" name="TextBox 3"/>
          <p:cNvSpPr txBox="1"/>
          <p:nvPr/>
        </p:nvSpPr>
        <p:spPr>
          <a:xfrm>
            <a:off x="457200" y="3108960"/>
            <a:ext cx="8229600" cy="731520"/>
          </a:xfrm>
          <a:prstGeom prst="rect">
            <a:avLst/>
          </a:prstGeom>
          <a:noFill/>
        </p:spPr>
        <p:txBody>
          <a:bodyPr wrap="square">
            <a:spAutoFit/>
          </a:bodyPr>
          <a:lstStyle/>
          <a:p>
            <a:pPr>
              <a:defRPr sz="1800">
                <a:solidFill>
                  <a:srgbClr val="00A4A6"/>
                </a:solidFill>
              </a:defRPr>
            </a:pPr>
            <a:r>
              <a:t>Roles, Axes, Abstractions, and the Role of MCP</a:t>
            </a:r>
          </a:p>
        </p:txBody>
      </p:sp>
      <p:sp>
        <p:nvSpPr>
          <p:cNvPr id="5" name="Rectangle 4"/>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Context and Motivation</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AI agents bring new opportunities and new failure modes.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However, AI agents are only partly different from humans.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Because of this, we have a great deal to learn from what already works well — most notably, the Web.</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A key part of the design challenge is therefore to:</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identify what is similar to prior systems,</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identify what is genuinely new,</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and understand how both opportunities and failures change as a result.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Context and Motivation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Once we do this, we can reason more clearly about:</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useful abstractions,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necessary middleware,</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and eventually, meaningful standardizations — things we need to agree on as a community.</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We also have lessons from Web services and SOA.</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But we must be mindful of a crucial difference...</a:t>
            </a:r>
          </a:p>
        </p:txBody>
      </p:sp>
      <p:sp>
        <p:nvSpPr>
          <p:cNvPr id="11" name="Rounded Rectangle 10"/>
          <p:cNvSpPr/>
          <p:nvPr/>
        </p:nvSpPr>
        <p:spPr>
          <a:xfrm>
            <a:off x="365760" y="3648456"/>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In Web services and SOA, the consumer of specifications was human — a consumer that is, on average, far less capable and far less careful than a modern LLM at reading, interpreting, and consuming specifications.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AXIS 1</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Who Reads What</a:t>
            </a:r>
          </a:p>
        </p:txBody>
      </p:sp>
      <p:sp>
        <p:nvSpPr>
          <p:cNvPr id="4" name="TextBox 3"/>
          <p:cNvSpPr txBox="1"/>
          <p:nvPr/>
        </p:nvSpPr>
        <p:spPr>
          <a:xfrm>
            <a:off x="457200" y="3108960"/>
            <a:ext cx="8229600" cy="731520"/>
          </a:xfrm>
          <a:prstGeom prst="rect">
            <a:avLst/>
          </a:prstGeom>
          <a:noFill/>
        </p:spPr>
        <p:txBody>
          <a:bodyPr wrap="square">
            <a:spAutoFit/>
          </a:bodyPr>
          <a:lstStyle/>
          <a:p>
            <a:pPr>
              <a:defRPr sz="1800">
                <a:solidFill>
                  <a:srgbClr val="00A4A6"/>
                </a:solidFill>
              </a:defRPr>
            </a:pPr>
            <a:r>
              <a:t>(and How Interaction Is Guided)</a:t>
            </a:r>
          </a:p>
        </p:txBody>
      </p:sp>
      <p:sp>
        <p:nvSpPr>
          <p:cNvPr id="5" name="Rectangle 4"/>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Axis 1 — Who Reads What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This axis combines two questions: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1. Who consumes the service or tool description?</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2. What description and context do they consume — and with what guidance?</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Possible consumers include:</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Human users (via web pages)</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Developers (via API documentation)</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LLM-based agents</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Hybrid human + agent setups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 New capability: LLMs as specification consumers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LLMs can read and digest specifications at a scale and level of detail that humans typically cannot:</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they can ingest long and complex descriptions,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consistently follow mechanical constraints and schemas,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cross-reference multiple sources,</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and operate "carefully" in the sense of not skipping steps or forgetting details.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We can actually specify more behaviors and constraints than we did for humans</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(or maybe we had them in Terms and Conditions — now LLMs can read those, too)</a:t>
            </a:r>
          </a:p>
        </p:txBody>
      </p:sp>
      <p:sp>
        <p:nvSpPr>
          <p:cNvPr id="12" name="Rounded Rectangle 11"/>
          <p:cNvSpPr/>
          <p:nvPr/>
        </p:nvSpPr>
        <p:spPr>
          <a:xfrm>
            <a:off x="365760" y="4032504"/>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We had "specs" kind of working for the web: do we need something different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B. New weakness: agents sometimes get less context than humans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Despite this increased capability, many agent tool ecosystems — including MCP-style</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descriptions — risk providing less context than classic web experiences.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On the Web, users are surrounded by rich and redundant context:</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information architecture and navigation</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page structure and visual hierarchy</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explanations, examples, caveats</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implicit "you are here" state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B. New weakness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By contrast, tool descriptions often consist of:</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an operation name</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a JSON schema</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a short textual description</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little or no global view of the service</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LLMs can consume much more context — yet we sometimes give them much less.</a:t>
            </a:r>
          </a:p>
        </p:txBody>
      </p:sp>
      <p:sp>
        <p:nvSpPr>
          <p:cNvPr id="11" name="Rounded Rectangle 10"/>
          <p:cNvSpPr/>
          <p:nvPr/>
        </p:nvSpPr>
        <p:spPr>
          <a:xfrm>
            <a:off x="365760" y="3648456"/>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What is the equivalent of the "whole site" and its structure when exposing capabilities to agents?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 Missing ingredient: guided, step-by-step interaction</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Web applications do not merely expose capabilities;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they guide users through safe sequences.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For example, an Amazon purchase flow is not a single action, but a guided interaction:</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cart review</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shipping selection</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payment selection</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explicit confirmation</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post-action receipts and state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 Missing ingredient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In many MCP- or tool-based integrations, how do we do this?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Do we one-shot it, always? Do we leave it to the client/agent?</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Open problem:</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Assuming we know what we want to "support", how do we express and enforce guided flows: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what the next valid actions are,</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when confirmation is required,</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what must be shown to users,</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and what constitutes meaningful consent?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AXIS 2</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Decision and Authority</a:t>
            </a:r>
          </a:p>
        </p:txBody>
      </p:sp>
      <p:sp>
        <p:nvSpPr>
          <p:cNvPr id="4" name="TextBox 3"/>
          <p:cNvSpPr txBox="1"/>
          <p:nvPr/>
        </p:nvSpPr>
        <p:spPr>
          <a:xfrm>
            <a:off x="457200" y="3108960"/>
            <a:ext cx="8229600" cy="731520"/>
          </a:xfrm>
          <a:prstGeom prst="rect">
            <a:avLst/>
          </a:prstGeom>
          <a:noFill/>
        </p:spPr>
        <p:txBody>
          <a:bodyPr wrap="square">
            <a:spAutoFit/>
          </a:bodyPr>
          <a:lstStyle/>
          <a:p>
            <a:pPr>
              <a:defRPr sz="1800">
                <a:solidFill>
                  <a:srgbClr val="00A4A6"/>
                </a:solidFill>
              </a:defRPr>
            </a:pPr>
            <a:r>
              <a:t>(and Guardrails / Controls)</a:t>
            </a:r>
          </a:p>
        </p:txBody>
      </p:sp>
      <p:sp>
        <p:nvSpPr>
          <p:cNvPr id="5" name="Rectangle 4"/>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Axis 2 — Decision and Authority</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Who controls which decisions?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And how is that control expressed, enforced, and audited?</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(And: control rarely sits in one place.</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It is typically split across client, provider, and sometimes middleware.)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 "Acting" is a bundle of decisions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Even a seemingly simple action contains multiple decision points: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Interpretation: what does the user mean?</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Planning: what sequence is acceptable?</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Tool selection: which capability is appropriate and allowed?</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Parameter choice: which values, thresholds, and scope?</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Commitment: when does it become irreversible?</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Recovery: what happens on partial failure (retry, compensate, escalate)?</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Disclosure: what must be shown to the user before proceeding?</a:t>
            </a:r>
          </a:p>
        </p:txBody>
      </p:sp>
      <p:sp>
        <p:nvSpPr>
          <p:cNvPr id="12" name="Rounded Rectangle 11"/>
          <p:cNvSpPr/>
          <p:nvPr/>
        </p:nvSpPr>
        <p:spPr>
          <a:xfrm>
            <a:off x="365760" y="4032504"/>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For each decision point: who controls it, and how do we prevent skipping or guessing?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B. Guardrails define behavior under uncertainty</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Many "agent failures" are not model failures, but control failures: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committing too early,</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filling missing parameters with guesses,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suppressing errors,</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skipping required steps,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presenting approvals that are not meaningful.</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Guardrails are therefore part of the system's behavioral contract, not a bolt-on.</a:t>
            </a:r>
          </a:p>
        </p:txBody>
      </p:sp>
      <p:sp>
        <p:nvSpPr>
          <p:cNvPr id="12" name="Rounded Rectangle 11"/>
          <p:cNvSpPr/>
          <p:nvPr/>
        </p:nvSpPr>
        <p:spPr>
          <a:xfrm>
            <a:off x="365760" y="4032504"/>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Which constraints must be enforceable (hard), and which can only be guidance (soft)? And where can each realistically live?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 Control lives across layers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In practice, different layers have different strengths: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Clients/agents tend to control: intent elicitation, interaction policy (ask vs infer),</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step-by-step UX, user-facing summaries, recovery strategy.</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Providers/services tend to control: permissions, scopes, budgets, validation,</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refusal on ambiguity, commitment boundaries, receipts.</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Middleware/platforms often emerge to control: centralized policy, cross-tool</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enforcement, consent lifecycle, tracing, anomaly detection.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 Control lives across layers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So the key question becomes: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What should providers specify and how?</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Which abstractions, "standards" or best practices should we adopt?</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Should a new kind of middleware emerge to support this, and where should it reside?</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How can client-side abstractions help clients avoid pitfalls?</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What should we monitor?</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What can be learned quickly, at scale, from a community of clients using a service?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D. The autonomy leash</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A useful mental model is a leash as a vector of constraints,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not a single "low/medium/high autonomy" knob:</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scope (which objects/resources)</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action class (read vs write vs transfer vs irreversible)</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risk tier (financial, privacy, safety, reputational)</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 budgets (cost/time/volume/rate)</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data boundaries (what can be accessed/returned)</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reversibility (compensation possible?)</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time window (authority expiration)</a:t>
            </a:r>
          </a:p>
        </p:txBody>
      </p:sp>
      <p:sp>
        <p:nvSpPr>
          <p:cNvPr id="14" name="TextBox 13"/>
          <p:cNvSpPr txBox="1"/>
          <p:nvPr/>
        </p:nvSpPr>
        <p:spPr>
          <a:xfrm>
            <a:off x="365760" y="4663440"/>
            <a:ext cx="8412480" cy="411480"/>
          </a:xfrm>
          <a:prstGeom prst="rect">
            <a:avLst/>
          </a:prstGeom>
          <a:noFill/>
        </p:spPr>
        <p:txBody>
          <a:bodyPr wrap="square">
            <a:spAutoFit/>
          </a:bodyPr>
          <a:lstStyle/>
          <a:p>
            <a:pPr>
              <a:defRPr sz="1500">
                <a:solidFill>
                  <a:srgbClr val="1A2942"/>
                </a:solidFill>
              </a:defRPr>
            </a:pPr>
            <a:r>
              <a:t>• confirmation policy (what requires explicit approval, and when)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D. The autonomy leash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This framing forces a practical question:</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Where is each constraint declared, where is it enforced, and where is it merely suggested?</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This also changes over time: in development, we control autonomy with commits and tests,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and we can always roll back.</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In business and the agentic web, it's trickier. Are there similar business abstractions?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AXIS 3</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Consent, Approvals, Terms</a:t>
            </a:r>
          </a:p>
        </p:txBody>
      </p:sp>
      <p:sp>
        <p:nvSpPr>
          <p:cNvPr id="4" name="TextBox 3"/>
          <p:cNvSpPr txBox="1"/>
          <p:nvPr/>
        </p:nvSpPr>
        <p:spPr>
          <a:xfrm>
            <a:off x="457200" y="3108960"/>
            <a:ext cx="8229600" cy="731520"/>
          </a:xfrm>
          <a:prstGeom prst="rect">
            <a:avLst/>
          </a:prstGeom>
          <a:noFill/>
        </p:spPr>
        <p:txBody>
          <a:bodyPr wrap="square">
            <a:spAutoFit/>
          </a:bodyPr>
          <a:lstStyle/>
          <a:p>
            <a:pPr>
              <a:defRPr sz="1800">
                <a:solidFill>
                  <a:srgbClr val="00A4A6"/>
                </a:solidFill>
              </a:defRPr>
            </a:pPr>
            <a:r>
              <a:t>(and Responsibility)</a:t>
            </a:r>
          </a:p>
        </p:txBody>
      </p:sp>
      <p:sp>
        <p:nvSpPr>
          <p:cNvPr id="5" name="Rectangle 4"/>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Axis 3 — Consent, Approvals, Terms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This axis is where legal and social reality enters the system design.</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Consent is not a checkbox.</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Approvals are not a modal dialog.</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Terms and conditions are not "some PDF somewhere" where the real assumption</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is that nobody reads them.</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They define:</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what authority exists,</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what disclosures were required,</a:t>
            </a:r>
          </a:p>
        </p:txBody>
      </p:sp>
      <p:sp>
        <p:nvSpPr>
          <p:cNvPr id="14" name="TextBox 13"/>
          <p:cNvSpPr txBox="1"/>
          <p:nvPr/>
        </p:nvSpPr>
        <p:spPr>
          <a:xfrm>
            <a:off x="365760" y="4663440"/>
            <a:ext cx="8412480" cy="411480"/>
          </a:xfrm>
          <a:prstGeom prst="rect">
            <a:avLst/>
          </a:prstGeom>
          <a:noFill/>
        </p:spPr>
        <p:txBody>
          <a:bodyPr wrap="square">
            <a:spAutoFit/>
          </a:bodyPr>
          <a:lstStyle/>
          <a:p>
            <a:pPr>
              <a:defRPr sz="1500">
                <a:solidFill>
                  <a:srgbClr val="1A2942"/>
                </a:solidFill>
              </a:defRPr>
            </a:pPr>
            <a:r>
              <a:t>• what was agreed to (and when),</a:t>
            </a:r>
          </a:p>
        </p:txBody>
      </p:sp>
      <p:sp>
        <p:nvSpPr>
          <p:cNvPr id="15" name="TextBox 14"/>
          <p:cNvSpPr txBox="1"/>
          <p:nvPr/>
        </p:nvSpPr>
        <p:spPr>
          <a:xfrm>
            <a:off x="365760" y="5047488"/>
            <a:ext cx="8412480" cy="411480"/>
          </a:xfrm>
          <a:prstGeom prst="rect">
            <a:avLst/>
          </a:prstGeom>
          <a:noFill/>
        </p:spPr>
        <p:txBody>
          <a:bodyPr wrap="square">
            <a:spAutoFit/>
          </a:bodyPr>
          <a:lstStyle/>
          <a:p>
            <a:pPr>
              <a:defRPr sz="1500">
                <a:solidFill>
                  <a:srgbClr val="1A2942"/>
                </a:solidFill>
              </a:defRPr>
            </a:pPr>
            <a:r>
              <a:t>• and ultimately, who is responsible for outcomes.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A. What counts as meaningful consent?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In web flows, consent and approvals are embedded in interaction:</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the UI constrains what can happen,</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the user sees a concrete summary at commitment,</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the system records what was done.</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In agentic flows, it is easy to degrade consent into something that is</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neither meaningful to users nor defensible later.</a:t>
            </a:r>
          </a:p>
        </p:txBody>
      </p:sp>
      <p:sp>
        <p:nvSpPr>
          <p:cNvPr id="11" name="Rounded Rectangle 10"/>
          <p:cNvSpPr/>
          <p:nvPr/>
        </p:nvSpPr>
        <p:spPr>
          <a:xfrm>
            <a:off x="365760" y="3648456"/>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What must be shown to the user before approval? What does the user approve: a plan, a summary, a specific action, a delegation? How do we avoid "consent fatigue" while keeping consent real?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B. Approvals and terms should become artifacts, not vibes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A practical stance is to treat approvals/consent/terms as first-class artifacts: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what was approved (stable summary)</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under which scope and thresholds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for how long (expiry / revocation)</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under which terms/policy version</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with what identity / principal</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Otherwise we end up with:</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"approvals" that feel meaningful but are technically meaningless, or</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controls that are technically enforceable but legally indefensible.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B. Approvals and terms (cont.)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The problem again is who can help where.</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What can providers do to help?</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What can frameworks do to help?</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What can standards do to help?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C. Responsibility is shared — but boundaries must be explicit</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A recurring failure mode is that responsibility is implicit until failure,</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and then becomes contested.</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So the question is:</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When something goes wrong, what was preventable by the provider,</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what was preventable by the client, and what required middleware?</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What evidence do we have (receipts, traces, consent artifacts) to support that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THE ABSTRACTIONS WE NEED</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Six Foundational Abstractions</a:t>
            </a:r>
          </a:p>
        </p:txBody>
      </p:sp>
      <p:sp>
        <p:nvSpPr>
          <p:cNvPr id="4" name="Rectangle 3"/>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1. Capability Abstraction (What Can Be Done)</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Missing today:</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preconditions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side effects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cost, risk, reversibility</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Needed outcome:</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Agents (and humans) must be able to reason about world impact, not just API calls.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2. Intent Abstraction (Why It Is Done)</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Missing today:</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explicit representation of user intent</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explicit representation of inferred agent intent</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scope and expiration</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Needed outcome:</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Intent must be a first-class object, inspectable and auditable.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3. Control / Autonomy Contract (Who May Do What, When)</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We need an explicit way to represent the "leash vector":</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scope, action class, risk tier</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budgets and data boundaries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confirmation policy</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expiry and revocation</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r>
              <a:t>And we need it to be:</a:t>
            </a: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 readable by clients/agents (for planning and UX),</a:t>
            </a:r>
          </a:p>
        </p:txBody>
      </p:sp>
      <p:sp>
        <p:nvSpPr>
          <p:cNvPr id="12" name="TextBox 11"/>
          <p:cNvSpPr txBox="1"/>
          <p:nvPr/>
        </p:nvSpPr>
        <p:spPr>
          <a:xfrm>
            <a:off x="365760" y="3895344"/>
            <a:ext cx="8412480" cy="411480"/>
          </a:xfrm>
          <a:prstGeom prst="rect">
            <a:avLst/>
          </a:prstGeom>
          <a:noFill/>
        </p:spPr>
        <p:txBody>
          <a:bodyPr wrap="square">
            <a:spAutoFit/>
          </a:bodyPr>
          <a:lstStyle/>
          <a:p>
            <a:pPr>
              <a:defRPr sz="1500">
                <a:solidFill>
                  <a:srgbClr val="1A2942"/>
                </a:solidFill>
              </a:defRPr>
            </a:pPr>
            <a:r>
              <a:t>• enforceable by providers/middleware (for safety/cost),</a:t>
            </a:r>
          </a:p>
        </p:txBody>
      </p:sp>
      <p:sp>
        <p:nvSpPr>
          <p:cNvPr id="13" name="TextBox 12"/>
          <p:cNvSpPr txBox="1"/>
          <p:nvPr/>
        </p:nvSpPr>
        <p:spPr>
          <a:xfrm>
            <a:off x="365760" y="4279392"/>
            <a:ext cx="8412480" cy="411480"/>
          </a:xfrm>
          <a:prstGeom prst="rect">
            <a:avLst/>
          </a:prstGeom>
          <a:noFill/>
        </p:spPr>
        <p:txBody>
          <a:bodyPr wrap="square">
            <a:spAutoFit/>
          </a:bodyPr>
          <a:lstStyle/>
          <a:p>
            <a:pPr>
              <a:defRPr sz="1500">
                <a:solidFill>
                  <a:srgbClr val="1A2942"/>
                </a:solidFill>
              </a:defRPr>
            </a:pPr>
            <a:r>
              <a:t>• and loggable for audit.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4. Guided Interaction / Flow Semantics (How to Proceed Safely)</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If the Web's superpower is guided flows, we need an equivalent abstraction:</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state ("where are we?")</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allowed next actions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required confirmations and disclosures</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commitment points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recovery semantics</a:t>
            </a:r>
          </a:p>
        </p:txBody>
      </p:sp>
      <p:sp>
        <p:nvSpPr>
          <p:cNvPr id="10" name="TextBox 9"/>
          <p:cNvSpPr txBox="1"/>
          <p:nvPr/>
        </p:nvSpPr>
        <p:spPr>
          <a:xfrm>
            <a:off x="365760" y="3127248"/>
            <a:ext cx="8412480" cy="411480"/>
          </a:xfrm>
          <a:prstGeom prst="rect">
            <a:avLst/>
          </a:prstGeom>
          <a:noFill/>
        </p:spPr>
        <p:txBody>
          <a:bodyPr wrap="square">
            <a:spAutoFit/>
          </a:bodyPr>
          <a:lstStyle/>
          <a:p>
            <a:pPr>
              <a:defRPr sz="1500">
                <a:solidFill>
                  <a:srgbClr val="1A2942"/>
                </a:solidFill>
              </a:defRPr>
            </a:pPr>
          </a:p>
        </p:txBody>
      </p:sp>
      <p:sp>
        <p:nvSpPr>
          <p:cNvPr id="11" name="TextBox 10"/>
          <p:cNvSpPr txBox="1"/>
          <p:nvPr/>
        </p:nvSpPr>
        <p:spPr>
          <a:xfrm>
            <a:off x="365760" y="3511296"/>
            <a:ext cx="8412480" cy="411480"/>
          </a:xfrm>
          <a:prstGeom prst="rect">
            <a:avLst/>
          </a:prstGeom>
          <a:noFill/>
        </p:spPr>
        <p:txBody>
          <a:bodyPr wrap="square">
            <a:spAutoFit/>
          </a:bodyPr>
          <a:lstStyle/>
          <a:p>
            <a:pPr>
              <a:defRPr sz="1500">
                <a:solidFill>
                  <a:srgbClr val="1A2942"/>
                </a:solidFill>
              </a:defRPr>
            </a:pPr>
            <a:r>
              <a:t>Otherwise "tools" stay as isolated calls, and safety/UX becomes ad hoc.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5. Observability with Meaning (What Happened, and Why)</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Beyond logs, we need:</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semantic traces: intent → plan → actions → outcomes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business assertions: invariants and postconditions that detect silent failure</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receipts: structured, auditable outcomes (what changed, where, under what authority)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6. Consent / Approval / Terms Artifacts (Authority Basis)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We need standard ways to represent:</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approvals (what was approved, by whom, when)</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consent grants (scope, thresholds, expiry, revocation)</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terms/policy versions referenced at commitment</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These artifacts connect the technical system to legal accountability.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WHERE MCP FITS</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r>
              <a:t>What It Helps With — and What It Does Not</a:t>
            </a:r>
          </a:p>
        </p:txBody>
      </p:sp>
      <p:sp>
        <p:nvSpPr>
          <p:cNvPr id="4" name="Rectangle 3"/>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Where MCP Helps</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MCP helps standardize the invocation surface between agents and tools:</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discovery of capabilities</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structured input/output schemas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a natural mediation point for tooling (logging, policy hooks)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A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8412480" cy="640080"/>
          </a:xfrm>
          <a:prstGeom prst="rect">
            <a:avLst/>
          </a:prstGeom>
          <a:noFill/>
        </p:spPr>
        <p:txBody>
          <a:bodyPr wrap="square">
            <a:spAutoFit/>
          </a:bodyPr>
          <a:lstStyle/>
          <a:p>
            <a:pPr>
              <a:defRPr sz="2600" b="1">
                <a:solidFill>
                  <a:srgbClr val="1A2942"/>
                </a:solidFill>
              </a:defRPr>
            </a:pPr>
            <a:r>
              <a:t>Where MCP Does Not Help (by itself)</a:t>
            </a:r>
          </a:p>
        </p:txBody>
      </p:sp>
      <p:sp>
        <p:nvSpPr>
          <p:cNvPr id="4" name="TextBox 3"/>
          <p:cNvSpPr txBox="1"/>
          <p:nvPr/>
        </p:nvSpPr>
        <p:spPr>
          <a:xfrm>
            <a:off x="365760" y="822960"/>
            <a:ext cx="8412480" cy="411480"/>
          </a:xfrm>
          <a:prstGeom prst="rect">
            <a:avLst/>
          </a:prstGeom>
          <a:noFill/>
        </p:spPr>
        <p:txBody>
          <a:bodyPr wrap="square">
            <a:spAutoFit/>
          </a:bodyPr>
          <a:lstStyle/>
          <a:p>
            <a:pPr>
              <a:defRPr sz="1500">
                <a:solidFill>
                  <a:srgbClr val="1A2942"/>
                </a:solidFill>
              </a:defRPr>
            </a:pPr>
            <a:r>
              <a:t>But MCP does not, by itself, solve:</a:t>
            </a:r>
          </a:p>
        </p:txBody>
      </p:sp>
      <p:sp>
        <p:nvSpPr>
          <p:cNvPr id="5" name="TextBox 4"/>
          <p:cNvSpPr txBox="1"/>
          <p:nvPr/>
        </p:nvSpPr>
        <p:spPr>
          <a:xfrm>
            <a:off x="365760" y="1207008"/>
            <a:ext cx="8412480" cy="411480"/>
          </a:xfrm>
          <a:prstGeom prst="rect">
            <a:avLst/>
          </a:prstGeom>
          <a:noFill/>
        </p:spPr>
        <p:txBody>
          <a:bodyPr wrap="square">
            <a:spAutoFit/>
          </a:bodyPr>
          <a:lstStyle/>
          <a:p>
            <a:pPr>
              <a:defRPr sz="1500">
                <a:solidFill>
                  <a:srgbClr val="1A2942"/>
                </a:solidFill>
              </a:defRPr>
            </a:pPr>
            <a:r>
              <a:t>• intent representation</a:t>
            </a:r>
          </a:p>
        </p:txBody>
      </p:sp>
      <p:sp>
        <p:nvSpPr>
          <p:cNvPr id="6" name="TextBox 5"/>
          <p:cNvSpPr txBox="1"/>
          <p:nvPr/>
        </p:nvSpPr>
        <p:spPr>
          <a:xfrm>
            <a:off x="365760" y="1591056"/>
            <a:ext cx="8412480" cy="411480"/>
          </a:xfrm>
          <a:prstGeom prst="rect">
            <a:avLst/>
          </a:prstGeom>
          <a:noFill/>
        </p:spPr>
        <p:txBody>
          <a:bodyPr wrap="square">
            <a:spAutoFit/>
          </a:bodyPr>
          <a:lstStyle/>
          <a:p>
            <a:pPr>
              <a:defRPr sz="1500">
                <a:solidFill>
                  <a:srgbClr val="1A2942"/>
                </a:solidFill>
              </a:defRPr>
            </a:pPr>
            <a:r>
              <a:t>• guided interaction / flows</a:t>
            </a:r>
          </a:p>
        </p:txBody>
      </p:sp>
      <p:sp>
        <p:nvSpPr>
          <p:cNvPr id="7" name="TextBox 6"/>
          <p:cNvSpPr txBox="1"/>
          <p:nvPr/>
        </p:nvSpPr>
        <p:spPr>
          <a:xfrm>
            <a:off x="365760" y="1975104"/>
            <a:ext cx="8412480" cy="411480"/>
          </a:xfrm>
          <a:prstGeom prst="rect">
            <a:avLst/>
          </a:prstGeom>
          <a:noFill/>
        </p:spPr>
        <p:txBody>
          <a:bodyPr wrap="square">
            <a:spAutoFit/>
          </a:bodyPr>
          <a:lstStyle/>
          <a:p>
            <a:pPr>
              <a:defRPr sz="1500">
                <a:solidFill>
                  <a:srgbClr val="1A2942"/>
                </a:solidFill>
              </a:defRPr>
            </a:pPr>
            <a:r>
              <a:t>• autonomy contracts and enforcement</a:t>
            </a:r>
          </a:p>
        </p:txBody>
      </p:sp>
      <p:sp>
        <p:nvSpPr>
          <p:cNvPr id="8" name="TextBox 7"/>
          <p:cNvSpPr txBox="1"/>
          <p:nvPr/>
        </p:nvSpPr>
        <p:spPr>
          <a:xfrm>
            <a:off x="365760" y="2359152"/>
            <a:ext cx="8412480" cy="411480"/>
          </a:xfrm>
          <a:prstGeom prst="rect">
            <a:avLst/>
          </a:prstGeom>
          <a:noFill/>
        </p:spPr>
        <p:txBody>
          <a:bodyPr wrap="square">
            <a:spAutoFit/>
          </a:bodyPr>
          <a:lstStyle/>
          <a:p>
            <a:pPr>
              <a:defRPr sz="1500">
                <a:solidFill>
                  <a:srgbClr val="1A2942"/>
                </a:solidFill>
              </a:defRPr>
            </a:pPr>
            <a:r>
              <a:t>• meaningful consent and approval artifacts</a:t>
            </a:r>
          </a:p>
        </p:txBody>
      </p:sp>
      <p:sp>
        <p:nvSpPr>
          <p:cNvPr id="9" name="TextBox 8"/>
          <p:cNvSpPr txBox="1"/>
          <p:nvPr/>
        </p:nvSpPr>
        <p:spPr>
          <a:xfrm>
            <a:off x="365760" y="2743200"/>
            <a:ext cx="8412480" cy="411480"/>
          </a:xfrm>
          <a:prstGeom prst="rect">
            <a:avLst/>
          </a:prstGeom>
          <a:noFill/>
        </p:spPr>
        <p:txBody>
          <a:bodyPr wrap="square">
            <a:spAutoFit/>
          </a:bodyPr>
          <a:lstStyle/>
          <a:p>
            <a:pPr>
              <a:defRPr sz="1500">
                <a:solidFill>
                  <a:srgbClr val="1A2942"/>
                </a:solidFill>
              </a:defRPr>
            </a:pPr>
            <a:r>
              <a:t>• responsibility boundaries</a:t>
            </a:r>
          </a:p>
        </p:txBody>
      </p:sp>
      <p:sp>
        <p:nvSpPr>
          <p:cNvPr id="10" name="Rounded Rectangle 9"/>
          <p:cNvSpPr/>
          <p:nvPr/>
        </p:nvSpPr>
        <p:spPr>
          <a:xfrm>
            <a:off x="365760" y="3264408"/>
            <a:ext cx="8412480" cy="594360"/>
          </a:xfrm>
          <a:prstGeom prst="roundRect">
            <a:avLst/>
          </a:prstGeom>
          <a:solidFill>
            <a:srgbClr val="F0F7F7"/>
          </a:solidFill>
          <a:ln>
            <a:solidFill>
              <a:srgbClr val="00A4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1A2942"/>
                </a:solidFill>
              </a:defRPr>
            </a:pPr>
            <a:r>
              <a:t>MCP is to agentic systems what HTTP was to the Web: necessary, foundational — and insufficient on its own.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2942"/>
        </a:solidFill>
        <a:effectLst/>
      </p:bgPr>
    </p:bg>
    <p:spTree>
      <p:nvGrpSpPr>
        <p:cNvPr id="1" name=""/>
        <p:cNvGrpSpPr/>
        <p:nvPr/>
      </p:nvGrpSpPr>
      <p:grpSpPr/>
      <p:sp>
        <p:nvSpPr>
          <p:cNvPr id="2" name="TextBox 1"/>
          <p:cNvSpPr txBox="1"/>
          <p:nvPr/>
        </p:nvSpPr>
        <p:spPr>
          <a:xfrm>
            <a:off x="457200" y="1371600"/>
            <a:ext cx="8229600" cy="548640"/>
          </a:xfrm>
          <a:prstGeom prst="rect">
            <a:avLst/>
          </a:prstGeom>
          <a:noFill/>
        </p:spPr>
        <p:txBody>
          <a:bodyPr wrap="none">
            <a:spAutoFit/>
          </a:bodyPr>
          <a:lstStyle/>
          <a:p>
            <a:pPr>
              <a:defRPr sz="2200" b="1">
                <a:solidFill>
                  <a:srgbClr val="00A4A6"/>
                </a:solidFill>
              </a:defRPr>
            </a:pPr>
            <a:r>
              <a:t>SYNTHESIS</a:t>
            </a:r>
          </a:p>
        </p:txBody>
      </p:sp>
      <p:sp>
        <p:nvSpPr>
          <p:cNvPr id="3" name="TextBox 2"/>
          <p:cNvSpPr txBox="1"/>
          <p:nvPr/>
        </p:nvSpPr>
        <p:spPr>
          <a:xfrm>
            <a:off x="457200" y="1920240"/>
            <a:ext cx="8229600" cy="1371600"/>
          </a:xfrm>
          <a:prstGeom prst="rect">
            <a:avLst/>
          </a:prstGeom>
          <a:noFill/>
        </p:spPr>
        <p:txBody>
          <a:bodyPr wrap="square">
            <a:spAutoFit/>
          </a:bodyPr>
          <a:lstStyle/>
          <a:p>
            <a:pPr>
              <a:defRPr sz="4000" b="1">
                <a:solidFill>
                  <a:srgbClr val="FFFFFF"/>
                </a:solidFill>
              </a:defRPr>
            </a:pPr>
          </a:p>
        </p:txBody>
      </p:sp>
      <p:sp>
        <p:nvSpPr>
          <p:cNvPr id="4" name="Rectangle 3"/>
          <p:cNvSpPr/>
          <p:nvPr/>
        </p:nvSpPr>
        <p:spPr>
          <a:xfrm>
            <a:off x="457200" y="3749039"/>
            <a:ext cx="18288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9F9"/>
        </a:solidFill>
        <a:effectLst/>
      </p:bgPr>
    </p:bg>
    <p:spTree>
      <p:nvGrpSpPr>
        <p:cNvPr id="1" name=""/>
        <p:cNvGrpSpPr/>
        <p:nvPr/>
      </p:nvGrpSpPr>
      <p:grpSpPr/>
      <p:sp>
        <p:nvSpPr>
          <p:cNvPr id="2" name="TextBox 1"/>
          <p:cNvSpPr txBox="1"/>
          <p:nvPr/>
        </p:nvSpPr>
        <p:spPr>
          <a:xfrm>
            <a:off x="365760" y="731520"/>
            <a:ext cx="914400" cy="914400"/>
          </a:xfrm>
          <a:prstGeom prst="rect">
            <a:avLst/>
          </a:prstGeom>
          <a:noFill/>
        </p:spPr>
        <p:txBody>
          <a:bodyPr wrap="none">
            <a:spAutoFit/>
          </a:bodyPr>
          <a:lstStyle/>
          <a:p>
            <a:pPr>
              <a:defRPr sz="7200">
                <a:solidFill>
                  <a:srgbClr val="00A4A6"/>
                </a:solidFill>
              </a:defRPr>
            </a:pPr>
            <a:r>
              <a:t>"</a:t>
            </a:r>
          </a:p>
        </p:txBody>
      </p:sp>
      <p:sp>
        <p:nvSpPr>
          <p:cNvPr id="3" name="TextBox 2"/>
          <p:cNvSpPr txBox="1"/>
          <p:nvPr/>
        </p:nvSpPr>
        <p:spPr>
          <a:xfrm>
            <a:off x="548640" y="1371600"/>
            <a:ext cx="8229600" cy="3200400"/>
          </a:xfrm>
          <a:prstGeom prst="rect">
            <a:avLst/>
          </a:prstGeom>
          <a:noFill/>
        </p:spPr>
        <p:txBody>
          <a:bodyPr wrap="square">
            <a:spAutoFit/>
          </a:bodyPr>
          <a:lstStyle/>
          <a:p>
            <a:pPr>
              <a:lnSpc>
                <a:spcPct val="130000"/>
              </a:lnSpc>
              <a:defRPr sz="2000" i="1">
                <a:solidFill>
                  <a:srgbClr val="1A2942"/>
                </a:solidFill>
              </a:defRPr>
            </a:pPr>
            <a:r>
              <a:t>AI agents are systems that read, decide, and act.</a:t>
            </a:r>
            <a:br/>
            <a:br/>
            <a:r>
              <a:t>The challenge is not only "how do we call tools?"</a:t>
            </a:r>
            <a:br/>
            <a:br/>
            <a:r>
              <a:t>It is making explicit:</a:t>
            </a:r>
            <a:br/>
            <a:r>
              <a:t>• what is read and what context is available,</a:t>
            </a:r>
            <a:br/>
            <a:r>
              <a:t>• who controls which decisions and how constraints are enforced,</a:t>
            </a:r>
            <a:br/>
            <a:r>
              <a:t>• what constitutes consent under which terms,</a:t>
            </a:r>
            <a:br/>
            <a:r>
              <a:t>• and how responsibility is assigned and evidenced.</a:t>
            </a:r>
            <a:br/>
            <a:br/>
            <a:r>
              <a:t>This is where abstractions, middleware, and (eventually) standardization matter.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