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sldIdLst>
    <p:sldId id="347" r:id="rId3"/>
    <p:sldId id="316" r:id="rId4"/>
    <p:sldId id="348" r:id="rId5"/>
    <p:sldId id="357" r:id="rId6"/>
    <p:sldId id="339" r:id="rId7"/>
    <p:sldId id="349" r:id="rId8"/>
    <p:sldId id="340" r:id="rId9"/>
    <p:sldId id="341" r:id="rId10"/>
    <p:sldId id="350" r:id="rId11"/>
    <p:sldId id="342" r:id="rId12"/>
    <p:sldId id="351" r:id="rId13"/>
    <p:sldId id="343" r:id="rId14"/>
    <p:sldId id="352" r:id="rId15"/>
    <p:sldId id="344" r:id="rId16"/>
    <p:sldId id="353" r:id="rId17"/>
    <p:sldId id="345" r:id="rId18"/>
    <p:sldId id="354" r:id="rId19"/>
    <p:sldId id="332" r:id="rId20"/>
    <p:sldId id="34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D4BF"/>
    <a:srgbClr val="1C007D"/>
    <a:srgbClr val="09192E"/>
    <a:srgbClr val="14D6F4"/>
    <a:srgbClr val="1EC0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96" d="100"/>
          <a:sy n="96" d="100"/>
        </p:scale>
        <p:origin x="200" y="5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0" name="TopAccent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E8ECF4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E8ECF4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E8ECF4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E8ECF4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E8ECF4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8ECF4"/>
          </a:solidFill>
        </a:defRPr>
      </a:defPPr>
      <a:lvl1pPr marL="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0" name="TopAccent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E8ECF4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E8ECF4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E8ECF4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E8ECF4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E8ECF4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8ECF4"/>
          </a:solidFill>
        </a:defRPr>
      </a:defPPr>
      <a:lvl1pPr marL="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Tool Calling with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 i="0">
                <a:solidFill>
                  <a:srgbClr val="FFFFFF"/>
                </a:solidFill>
                <a:latin typeface="Calibri"/>
              </a:defRPr>
            </a:pPr>
            <a:r>
              <a:t>Goals, Issues, Strategies &amp; Examples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566160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AI Design  |  Lab 4b</a:t>
            </a:r>
          </a:p>
        </p:txBody>
      </p:sp>
      <p:sp>
        <p:nvSpPr>
          <p:cNvPr id="7" name="Oval 6"/>
          <p:cNvSpPr/>
          <p:nvPr/>
        </p:nvSpPr>
        <p:spPr>
          <a:xfrm>
            <a:off x="9601200" y="47548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32720" y="43891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0" y="53035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79550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38BA-116B-E2FA-99F0-7AC29D44B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4D6F4"/>
                </a:solidFill>
              </a:rPr>
              <a:t>We are giving tools </a:t>
            </a:r>
            <a:br>
              <a:rPr lang="en-US" dirty="0">
                <a:solidFill>
                  <a:srgbClr val="14D6F4"/>
                </a:solidFill>
              </a:rPr>
            </a:br>
            <a:r>
              <a:rPr lang="en-US" dirty="0">
                <a:solidFill>
                  <a:srgbClr val="14D6F4"/>
                </a:solidFill>
              </a:rPr>
              <a:t>(and decision power) to LLMs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1901E-4EDE-CEC9-F20A-37B87CB0B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1EC0DA"/>
                </a:solidFill>
              </a:rPr>
              <a:t>A scary proposition….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E68CA8-B3AE-8B3C-9D18-1291CC988820}"/>
              </a:ext>
            </a:extLst>
          </p:cNvPr>
          <p:cNvSpPr/>
          <p:nvPr/>
        </p:nvSpPr>
        <p:spPr>
          <a:xfrm>
            <a:off x="10137913" y="0"/>
            <a:ext cx="2054087" cy="68580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29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1C007D"/>
                </a:solidFill>
                <a:latin typeface="Calibri"/>
              </a:defRPr>
            </a:pPr>
            <a:r>
              <a:rPr dirty="0">
                <a:solidFill>
                  <a:srgbClr val="09192E"/>
                </a:solidFill>
              </a:rPr>
              <a:t>Why Tool Calling?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1A1F2E"/>
                </a:solidFill>
                <a:latin typeface="Calibri"/>
              </a:defRPr>
            </a:pPr>
            <a:r>
              <a:t>LLMs are powerful at language — but they can't do everything alone.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29260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560320" cy="73152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00200" y="2377440"/>
            <a:ext cx="822960" cy="82296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Computation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Math, statistics,</a:t>
            </a:r>
            <a:br/>
            <a:r>
              <a:t>precise calculations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2011680"/>
            <a:ext cx="2560320" cy="29260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39" y="2011680"/>
            <a:ext cx="2560320" cy="73152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89120" y="2377440"/>
            <a:ext cx="822960" cy="82296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99" y="3383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Live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9" y="384048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APIs, databases,</a:t>
            </a:r>
            <a:br/>
            <a:r>
              <a:t>current information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011680"/>
            <a:ext cx="2560320" cy="29260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2011680"/>
            <a:ext cx="2560320" cy="73152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78040" y="2377440"/>
            <a:ext cx="822960" cy="82296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84048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Send emails, update records,</a:t>
            </a:r>
            <a:br/>
            <a:r>
              <a:t>trigger workflows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011680"/>
            <a:ext cx="2560320" cy="29260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2011680"/>
            <a:ext cx="2560320" cy="73152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966959" y="2377440"/>
            <a:ext cx="822960" cy="82296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383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Structured 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84048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SQL queries, file operations,</a:t>
            </a:r>
            <a:br/>
            <a:r>
              <a:t>system commands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440680"/>
            <a:ext cx="10241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rPr dirty="0"/>
              <a:t>Tool calling lets the model delegate to systems better suited for each sub-task.</a:t>
            </a:r>
          </a:p>
        </p:txBody>
      </p:sp>
    </p:spTree>
    <p:extLst>
      <p:ext uri="{BB962C8B-B14F-4D97-AF65-F5344CB8AC3E}">
        <p14:creationId xmlns:p14="http://schemas.microsoft.com/office/powerpoint/2010/main" val="653839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opBar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1" name="Title"/>
          <p:cNvSpPr/>
          <p:nvPr/>
        </p:nvSpPr>
        <p:spPr>
          <a:xfrm>
            <a:off x="736600" y="368300"/>
            <a:ext cx="1016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Example: Weather Forecast</a:t>
            </a:r>
          </a:p>
        </p:txBody>
      </p:sp>
      <p:sp>
        <p:nvSpPr>
          <p:cNvPr id="102" name="Subtitle"/>
          <p:cNvSpPr/>
          <p:nvPr/>
        </p:nvSpPr>
        <p:spPr>
          <a:xfrm>
            <a:off x="736600" y="10922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 i="1">
                <a:solidFill>
                  <a:srgbClr val="FFFFFF"/>
                </a:solidFill>
                <a:latin typeface="Calibri"/>
              </a:defRPr>
            </a:pPr>
            <a:r>
              <a:t>The model can't check the weather — but it can call a tool that does.</a:t>
            </a:r>
          </a:p>
        </p:txBody>
      </p:sp>
      <p:sp>
        <p:nvSpPr>
          <p:cNvPr id="110" name="S1Dot"/>
          <p:cNvSpPr/>
          <p:nvPr/>
        </p:nvSpPr>
        <p:spPr>
          <a:xfrm>
            <a:off x="736600" y="1587500"/>
            <a:ext cx="406400" cy="406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800" b="1" dirty="0">
                <a:solidFill>
                  <a:srgbClr val="1A1F2E"/>
                </a:solidFill>
                <a:latin typeface="Calibri"/>
              </a:rPr>
              <a:t>1</a:t>
            </a:r>
          </a:p>
        </p:txBody>
      </p:sp>
      <p:sp>
        <p:nvSpPr>
          <p:cNvPr id="111" name="S1Lbl"/>
          <p:cNvSpPr/>
          <p:nvPr/>
        </p:nvSpPr>
        <p:spPr>
          <a:xfrm>
            <a:off x="1270000" y="1587500"/>
            <a:ext cx="254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112" name="S1Box"/>
          <p:cNvSpPr/>
          <p:nvPr/>
        </p:nvSpPr>
        <p:spPr>
          <a:xfrm>
            <a:off x="736600" y="1993900"/>
            <a:ext cx="10693400" cy="5715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>
                <a:solidFill>
                  <a:srgbClr val="FFFFFF"/>
                </a:solidFill>
                <a:latin typeface="Consolas"/>
              </a:defRPr>
            </a:pPr>
            <a:r>
              <a:t>"What's the weather in Paris tomorrow?"</a:t>
            </a:r>
          </a:p>
        </p:txBody>
      </p:sp>
      <p:sp>
        <p:nvSpPr>
          <p:cNvPr id="120" name="S2Dot"/>
          <p:cNvSpPr/>
          <p:nvPr/>
        </p:nvSpPr>
        <p:spPr>
          <a:xfrm>
            <a:off x="736600" y="2870200"/>
            <a:ext cx="406400" cy="406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800" b="1" dirty="0">
                <a:solidFill>
                  <a:srgbClr val="1A1F2E"/>
                </a:solidFill>
                <a:latin typeface="Calibri"/>
              </a:rPr>
              <a:t>2</a:t>
            </a:r>
          </a:p>
        </p:txBody>
      </p:sp>
      <p:sp>
        <p:nvSpPr>
          <p:cNvPr id="121" name="S2Lbl"/>
          <p:cNvSpPr/>
          <p:nvPr/>
        </p:nvSpPr>
        <p:spPr>
          <a:xfrm>
            <a:off x="1270000" y="2870200"/>
            <a:ext cx="457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LLM Response (tool call)</a:t>
            </a:r>
          </a:p>
        </p:txBody>
      </p:sp>
      <p:sp>
        <p:nvSpPr>
          <p:cNvPr id="122" name="S2Box"/>
          <p:cNvSpPr/>
          <p:nvPr/>
        </p:nvSpPr>
        <p:spPr>
          <a:xfrm>
            <a:off x="736600" y="3276600"/>
            <a:ext cx="10693400" cy="5715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 b="0">
                <a:solidFill>
                  <a:srgbClr val="FFFFFF"/>
                </a:solidFill>
                <a:latin typeface="Consolas"/>
              </a:defRPr>
            </a:pPr>
            <a:r>
              <a:t>{ "tool": "get_weather", "args": { "city": "Paris", "date": "tomorrow" } }</a:t>
            </a:r>
          </a:p>
        </p:txBody>
      </p:sp>
      <p:sp>
        <p:nvSpPr>
          <p:cNvPr id="130" name="S3Dot"/>
          <p:cNvSpPr/>
          <p:nvPr/>
        </p:nvSpPr>
        <p:spPr>
          <a:xfrm>
            <a:off x="736600" y="4152900"/>
            <a:ext cx="406400" cy="406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800" b="1" dirty="0">
                <a:solidFill>
                  <a:srgbClr val="1A1F2E"/>
                </a:solidFill>
                <a:latin typeface="Calibri"/>
              </a:rPr>
              <a:t>3</a:t>
            </a:r>
          </a:p>
        </p:txBody>
      </p:sp>
      <p:sp>
        <p:nvSpPr>
          <p:cNvPr id="131" name="S3Lbl"/>
          <p:cNvSpPr/>
          <p:nvPr/>
        </p:nvSpPr>
        <p:spPr>
          <a:xfrm>
            <a:off x="1270000" y="4152900"/>
            <a:ext cx="254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Tool Result</a:t>
            </a:r>
          </a:p>
        </p:txBody>
      </p:sp>
      <p:sp>
        <p:nvSpPr>
          <p:cNvPr id="132" name="S3Box"/>
          <p:cNvSpPr/>
          <p:nvPr/>
        </p:nvSpPr>
        <p:spPr>
          <a:xfrm>
            <a:off x="736600" y="4559300"/>
            <a:ext cx="10693400" cy="5715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>
                <a:solidFill>
                  <a:srgbClr val="FFFFFF"/>
                </a:solidFill>
                <a:latin typeface="Consolas"/>
              </a:defRPr>
            </a:pPr>
            <a:r>
              <a:t>{ "forecast": "Partly cloudy, 18C, 30% chance of rain" }</a:t>
            </a:r>
          </a:p>
        </p:txBody>
      </p:sp>
      <p:sp>
        <p:nvSpPr>
          <p:cNvPr id="140" name="S4Dot"/>
          <p:cNvSpPr/>
          <p:nvPr/>
        </p:nvSpPr>
        <p:spPr>
          <a:xfrm>
            <a:off x="736600" y="5435600"/>
            <a:ext cx="406400" cy="406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800" b="1" dirty="0">
                <a:solidFill>
                  <a:srgbClr val="1A1F2E"/>
                </a:solidFill>
                <a:latin typeface="Calibri"/>
              </a:rPr>
              <a:t>4</a:t>
            </a:r>
          </a:p>
        </p:txBody>
      </p:sp>
      <p:sp>
        <p:nvSpPr>
          <p:cNvPr id="141" name="S4Lbl"/>
          <p:cNvSpPr/>
          <p:nvPr/>
        </p:nvSpPr>
        <p:spPr>
          <a:xfrm>
            <a:off x="1270000" y="5435600"/>
            <a:ext cx="457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LLM Response (final answer)</a:t>
            </a:r>
          </a:p>
        </p:txBody>
      </p:sp>
      <p:sp>
        <p:nvSpPr>
          <p:cNvPr id="142" name="S4Box"/>
          <p:cNvSpPr/>
          <p:nvPr/>
        </p:nvSpPr>
        <p:spPr>
          <a:xfrm>
            <a:off x="736600" y="5842000"/>
            <a:ext cx="10693400" cy="5715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defRPr sz="1800">
                <a:solidFill>
                  <a:srgbClr val="FFFFFF"/>
                </a:solidFill>
                <a:latin typeface="Consolas"/>
              </a:defRPr>
            </a:pPr>
            <a:r>
              <a:t>"Tomorrow in Paris: partly cloudy, around 18C with a 30% chance of rain."</a:t>
            </a:r>
          </a:p>
        </p:txBody>
      </p:sp>
    </p:spTree>
    <p:extLst>
      <p:ext uri="{BB962C8B-B14F-4D97-AF65-F5344CB8AC3E}">
        <p14:creationId xmlns:p14="http://schemas.microsoft.com/office/powerpoint/2010/main" val="2845458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The Core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 i="1">
                <a:solidFill>
                  <a:srgbClr val="FFFFFF"/>
                </a:solidFill>
                <a:latin typeface="Calibri"/>
              </a:defRPr>
            </a:pPr>
            <a:r>
              <a:t>Observe → Decide → Act → Observe → 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011680" cy="14630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Query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0360" y="2606039"/>
            <a:ext cx="457200" cy="4572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29000" y="2103120"/>
            <a:ext cx="2011680" cy="14630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  <a:br/>
            <a:r>
              <a:t>Decides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86400" y="2606039"/>
            <a:ext cx="457200" cy="4572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35040" y="2103120"/>
            <a:ext cx="2011680" cy="14630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Tool</a:t>
            </a:r>
            <a:br/>
            <a:r>
              <a:t>Executes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92440" y="2606039"/>
            <a:ext cx="457200" cy="4572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41080" y="2103120"/>
            <a:ext cx="2011680" cy="14630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Result</a:t>
            </a:r>
            <a:br/>
            <a:r>
              <a:t>Returns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↳  Loop continues until the model has enough info to answer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while True: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response = LLM(messages, tools)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if response has tool_calls: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    execute each tool; append results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else: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    return response.text  # done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57157E-5DEA-2122-B2C0-87407618F710}"/>
              </a:ext>
            </a:extLst>
          </p:cNvPr>
          <p:cNvSpPr txBox="1"/>
          <p:nvPr/>
        </p:nvSpPr>
        <p:spPr>
          <a:xfrm>
            <a:off x="7645179" y="5189994"/>
            <a:ext cx="36019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2DD4BF"/>
                </a:solidFill>
              </a:rPr>
              <a:t>Don’t do this – this is only to illustrate the potential</a:t>
            </a:r>
          </a:p>
        </p:txBody>
      </p:sp>
    </p:spTree>
    <p:extLst>
      <p:ext uri="{BB962C8B-B14F-4D97-AF65-F5344CB8AC3E}">
        <p14:creationId xmlns:p14="http://schemas.microsoft.com/office/powerpoint/2010/main" val="3373303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1C007D"/>
                </a:solidFill>
                <a:latin typeface="Calibri"/>
              </a:defRPr>
            </a:pPr>
            <a:r>
              <a:t>Two Approaches to Tool Calling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7548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12080" cy="73152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1C007D"/>
                </a:solidFill>
                <a:latin typeface="Calibri"/>
              </a:defRPr>
            </a:pPr>
            <a:r>
              <a:t>Manual (Prompt + Parse)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572000" cy="284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1.  Describe tools in the system prompt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2.  Ask model to output JSON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3.  Parse JSON from text response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4.  Execute function, feed result back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endParaRPr dirty="0"/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Provider-agnostic, transparent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lang="en-US" dirty="0"/>
              <a:t>Possibly</a:t>
            </a:r>
            <a:r>
              <a:rPr dirty="0"/>
              <a:t> fragile and error-prone</a:t>
            </a:r>
            <a:endParaRPr lang="en-US" dirty="0"/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endParaRPr lang="en-US" dirty="0"/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lang="en-US" dirty="0"/>
              <a:t>But, you are in control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1C007D"/>
                </a:solidFill>
                <a:latin typeface="Calibri"/>
              </a:defRPr>
            </a:pPr>
            <a:r>
              <a:t>API-Native Tool Calling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572000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1.  Register tools with JSON schemas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2.  Model returns structured </a:t>
            </a:r>
            <a:r>
              <a:rPr dirty="0" err="1"/>
              <a:t>tool_calls</a:t>
            </a:r>
            <a:endParaRPr dirty="0"/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3.  Execute function, send result back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4.  Repeat until model answers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endParaRPr dirty="0"/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lang="en-US" dirty="0"/>
              <a:t>Likely more r</a:t>
            </a:r>
            <a:r>
              <a:rPr dirty="0"/>
              <a:t>eliable, validated, multi-tool</a:t>
            </a:r>
          </a:p>
          <a:p>
            <a:pPr algn="l">
              <a:lnSpc>
                <a:spcPts val="2400"/>
              </a:lnSpc>
              <a:defRPr sz="1800" b="0">
                <a:solidFill>
                  <a:srgbClr val="1A1F2E"/>
                </a:solidFill>
                <a:latin typeface="Calibri"/>
              </a:defRPr>
            </a:pPr>
            <a:r>
              <a:rPr dirty="0"/>
              <a:t>Requires provider API support</a:t>
            </a:r>
          </a:p>
        </p:txBody>
      </p:sp>
    </p:spTree>
    <p:extLst>
      <p:ext uri="{BB962C8B-B14F-4D97-AF65-F5344CB8AC3E}">
        <p14:creationId xmlns:p14="http://schemas.microsoft.com/office/powerpoint/2010/main" val="2004795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Manual Tool Calling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The model outputs JSON text — you parse and execute it yourself.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400800" cy="292608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SYSTEM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5943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You have access to these tools: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get_weather(city, date)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search_hotels(city, checkin, checkout, max_price)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When you need a tool, output JSON: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{"tool": "name", "args": {...}}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Output ONLY JSON, nothing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737360"/>
            <a:ext cx="3840480" cy="12801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51806" y="1775793"/>
            <a:ext cx="303195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MODEL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1806" y="2095833"/>
            <a:ext cx="3840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{"tool": "</a:t>
            </a:r>
            <a:r>
              <a:rPr sz="1600" dirty="0" err="1"/>
              <a:t>get_weather</a:t>
            </a:r>
            <a:r>
              <a:rPr sz="1600" dirty="0"/>
              <a:t>",</a:t>
            </a:r>
            <a:br>
              <a:rPr sz="1600" dirty="0"/>
            </a:br>
            <a:r>
              <a:rPr sz="1600" dirty="0"/>
              <a:t> "</a:t>
            </a:r>
            <a:r>
              <a:rPr sz="1600" dirty="0" err="1"/>
              <a:t>args</a:t>
            </a:r>
            <a:r>
              <a:rPr sz="1600" dirty="0"/>
              <a:t>": {"city": "Rome",</a:t>
            </a:r>
            <a:br>
              <a:rPr sz="1600" dirty="0"/>
            </a:br>
            <a:r>
              <a:rPr sz="1600" dirty="0"/>
              <a:t>          "date": "2026-03-15"}}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200400"/>
            <a:ext cx="3840480" cy="14630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3291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rPr sz="1600"/>
              <a:t>YOUR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6118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parsed = </a:t>
            </a:r>
            <a:r>
              <a:rPr sz="1600" dirty="0" err="1"/>
              <a:t>json.loads</a:t>
            </a:r>
            <a:r>
              <a:rPr sz="1600" dirty="0"/>
              <a:t>(text)</a:t>
            </a:r>
          </a:p>
          <a:p>
            <a:pPr algn="l">
              <a:lnSpc>
                <a:spcPts val="19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result = </a:t>
            </a:r>
            <a:r>
              <a:rPr sz="1600" dirty="0" err="1"/>
              <a:t>execute_tool</a:t>
            </a:r>
            <a:r>
              <a:rPr sz="1600" dirty="0"/>
              <a:t>(</a:t>
            </a:r>
          </a:p>
          <a:p>
            <a:pPr algn="l">
              <a:lnSpc>
                <a:spcPts val="19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parsed['tool'],</a:t>
            </a:r>
          </a:p>
          <a:p>
            <a:pPr algn="l">
              <a:lnSpc>
                <a:spcPts val="19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    parsed['</a:t>
            </a:r>
            <a:r>
              <a:rPr sz="1600" dirty="0" err="1"/>
              <a:t>args</a:t>
            </a:r>
            <a:r>
              <a:rPr sz="1600" dirty="0"/>
              <a:t>'])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88560"/>
            <a:ext cx="10698480" cy="14630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909044"/>
            <a:ext cx="73152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0800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Common Failure Modes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097280" y="5491480"/>
            <a:ext cx="10058400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•  Adds conversational text before/after JSON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•  Uses wrong field names ("function" vs "tool")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•  Invents ad-hoc format for multiple calls</a:t>
            </a:r>
          </a:p>
        </p:txBody>
      </p:sp>
    </p:spTree>
    <p:extLst>
      <p:ext uri="{BB962C8B-B14F-4D97-AF65-F5344CB8AC3E}">
        <p14:creationId xmlns:p14="http://schemas.microsoft.com/office/powerpoint/2010/main" val="4035807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API-Level Tool Calling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The provider handles structured output — no parsing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42062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TOOL SCHEMA (JSON)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{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"type": "function",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"function": {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"name": "get_weather",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"description": "Get weather...",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"parameters": {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  "properties": {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    "city": {"type": "string"},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    "date": {"type": "string"}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  },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  "required": ["city", "date"]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 algn="l">
              <a:lnSpc>
                <a:spcPts val="18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5029200" cy="22860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STRUCTURED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572000" cy="1356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400" dirty="0" err="1"/>
              <a:t>message.tool_calls</a:t>
            </a:r>
            <a:r>
              <a:rPr sz="1400" dirty="0"/>
              <a:t>[0]: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.</a:t>
            </a:r>
            <a:r>
              <a:rPr sz="1400" dirty="0" err="1"/>
              <a:t>function.name</a:t>
            </a:r>
            <a:r>
              <a:rPr sz="1400" dirty="0"/>
              <a:t> = "</a:t>
            </a:r>
            <a:r>
              <a:rPr sz="1400" dirty="0" err="1"/>
              <a:t>get_weather</a:t>
            </a:r>
            <a:r>
              <a:rPr sz="1400" dirty="0"/>
              <a:t>"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.</a:t>
            </a:r>
            <a:r>
              <a:rPr sz="1400" dirty="0" err="1"/>
              <a:t>function.arguments</a:t>
            </a:r>
            <a:r>
              <a:rPr sz="1400" dirty="0"/>
              <a:t> = 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  '{"city":"Rome","date":"2026-03-15"}'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  .id = "call_abc123"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206240"/>
            <a:ext cx="5029200" cy="17373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4206240"/>
            <a:ext cx="73152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42976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What the API Gives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7091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✓  Guaranteed structured tool_calls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✓  Multi-tool support (parallel calls)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✓  Consistent across models &amp; temps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✓  ~5 lines of code vs ~30 for manual</a:t>
            </a:r>
          </a:p>
        </p:txBody>
      </p:sp>
    </p:spTree>
    <p:extLst>
      <p:ext uri="{BB962C8B-B14F-4D97-AF65-F5344CB8AC3E}">
        <p14:creationId xmlns:p14="http://schemas.microsoft.com/office/powerpoint/2010/main" val="4095518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1C007D"/>
                </a:solidFill>
                <a:latin typeface="Calibri"/>
              </a:defRPr>
            </a:pPr>
            <a:r>
              <a:t>Manual vs API: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14630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Manual (Prompt + Parse)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API Tool Calling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05740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Hope model outputs valid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05740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Guaranteed structured objects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697479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Parsing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697479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Custom regex / JSON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697479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message.tool_calls[0].function.name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0040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33756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Multi-tool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33756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Model invents ad-hoc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33756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Returns a list of tool_calls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40479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977639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977639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Breaks with temp &amp; model 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977639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Consistent across models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48056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46177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61772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~30 lines of fragile parsing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61772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~5 lines of structured access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12064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25780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Portability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25780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Provider-agnostic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25780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Tied to provider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1">
                <a:solidFill>
                  <a:srgbClr val="1C007D"/>
                </a:solidFill>
                <a:latin typeface="Calibri"/>
              </a:defRPr>
            </a:pPr>
            <a:r>
              <a:t>Native tool calling gives you better plumbing. It does not eliminate the orchestration problem.</a:t>
            </a:r>
          </a:p>
        </p:txBody>
      </p:sp>
    </p:spTree>
    <p:extLst>
      <p:ext uri="{BB962C8B-B14F-4D97-AF65-F5344CB8AC3E}">
        <p14:creationId xmlns:p14="http://schemas.microsoft.com/office/powerpoint/2010/main" val="2322311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The Interaction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APIs solve the syntax. The hard part is the control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201168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 i="0">
                <a:solidFill>
                  <a:srgbClr val="FFFFF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Call a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Knows which tool;</a:t>
            </a:r>
            <a:br/>
            <a:r>
              <a:t>has all parameters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737360"/>
            <a:ext cx="3474720" cy="201168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8288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 i="0">
                <a:solidFill>
                  <a:srgbClr val="FFFFFF"/>
                </a:solidFill>
                <a:latin typeface="Calibri"/>
              </a:defRPr>
            </a:pPr>
            <a:r>
              <a:t>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317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Ask the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3464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Information is</a:t>
            </a:r>
            <a:br/>
            <a:r>
              <a:t>missing or ambiguous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737360"/>
            <a:ext cx="3474720" cy="201168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18288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 i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3317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Answer Directly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83464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Has enough info</a:t>
            </a:r>
            <a:br/>
            <a:r>
              <a:t>to respond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When to Continue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Part of the user goal is still unresolved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An available tool can resolve it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The next call is necessary, not merely interesting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When to 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26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Question answered well enough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No tool can reduce remaining uncertainty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Another call wouldn't change the answer</a:t>
            </a:r>
          </a:p>
          <a:p>
            <a:pPr algn="l">
              <a:lnSpc>
                <a:spcPts val="2200"/>
              </a:lnSpc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•  Preconditions for next tool aren't met</a:t>
            </a:r>
          </a:p>
        </p:txBody>
      </p:sp>
    </p:spTree>
    <p:extLst>
      <p:ext uri="{BB962C8B-B14F-4D97-AF65-F5344CB8AC3E}">
        <p14:creationId xmlns:p14="http://schemas.microsoft.com/office/powerpoint/2010/main" val="247678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1C007D"/>
                </a:solidFill>
                <a:latin typeface="Calibri"/>
              </a:defRPr>
            </a:pPr>
            <a:r>
              <a:t>Common Failure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21945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Tool Obsession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Calling tools because they exist,</a:t>
            </a:r>
            <a:br/>
            <a:r>
              <a:t>not because they're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73152" cy="21945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79" y="16002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Skipping Preconditions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148840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Trying classification before</a:t>
            </a:r>
            <a:br/>
            <a:r>
              <a:t>checking that a label exists.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73152" cy="21945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6002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Looping Without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148840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Repeating near-identical calls</a:t>
            </a:r>
            <a:br/>
            <a:r>
              <a:t>that don't change the answer.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73152" cy="21945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16052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Bad Tool Descriptions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59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The model can't tell when</a:t>
            </a:r>
            <a:br/>
            <a:r>
              <a:t>a tool is appropriate.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93192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59" y="3931920"/>
            <a:ext cx="73152" cy="21945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79" y="416052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No Termination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709159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The agent never decides</a:t>
            </a:r>
            <a:br/>
            <a:r>
              <a:t>it has enough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93192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73152" cy="21945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416052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Tool Ambiguity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709159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Overlapping tools with</a:t>
            </a:r>
            <a:br/>
            <a:r>
              <a:t>unclear boundaries.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1">
                <a:solidFill>
                  <a:srgbClr val="1C007D"/>
                </a:solidFill>
                <a:latin typeface="Calibri"/>
              </a:defRPr>
            </a:pPr>
            <a:r>
              <a:t>The right question: "Do I need another tool?" — not "Can I call another tool?"</a:t>
            </a:r>
          </a:p>
        </p:txBody>
      </p:sp>
    </p:spTree>
    <p:extLst>
      <p:ext uri="{BB962C8B-B14F-4D97-AF65-F5344CB8AC3E}">
        <p14:creationId xmlns:p14="http://schemas.microsoft.com/office/powerpoint/2010/main" val="311673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Tool Design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The model picks tools based on names, descriptions, and parameter names.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438912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3035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✓  GOOD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1">
                <a:solidFill>
                  <a:srgbClr val="FFFFFF"/>
                </a:solidFill>
                <a:latin typeface="Consolas"/>
              </a:defRPr>
            </a:pPr>
            <a:r>
              <a:t>get_weather(city, date)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"Get weather forecast for a city on a date"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lnSpc>
                <a:spcPts val="2000"/>
              </a:lnSpc>
              <a:defRPr sz="1800" b="1">
                <a:solidFill>
                  <a:srgbClr val="FFFFFF"/>
                </a:solidFill>
                <a:latin typeface="Consolas"/>
              </a:defRPr>
            </a:pPr>
            <a:r>
              <a:t>search_hotels(city, checkin, checkout, max_price)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"Search hotels within a budget"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lnSpc>
                <a:spcPts val="2000"/>
              </a:lnSpc>
              <a:defRPr sz="1800" b="1">
                <a:solidFill>
                  <a:srgbClr val="FFFFFF"/>
                </a:solidFill>
                <a:latin typeface="Consolas"/>
              </a:defRPr>
            </a:pPr>
            <a:r>
              <a:t>convert_currency(amount, from_currency, to_currency)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"Convert between currencies using ISO 4217 codes"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029200" cy="438912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✗  BAD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1">
                <a:solidFill>
                  <a:srgbClr val="FFA060"/>
                </a:solidFill>
                <a:latin typeface="Consolas"/>
              </a:defRPr>
            </a:pPr>
            <a:r>
              <a:t>get_data(p1, p2)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"Gets data."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lnSpc>
                <a:spcPts val="2000"/>
              </a:lnSpc>
              <a:defRPr sz="1800" b="1">
                <a:solidFill>
                  <a:srgbClr val="FFA060"/>
                </a:solidFill>
                <a:latin typeface="Consolas"/>
              </a:defRPr>
            </a:pPr>
            <a:r>
              <a:t>fetch(a, b, c, d)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"Fetches results."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lnSpc>
                <a:spcPts val="2000"/>
              </a:lnSpc>
              <a:defRPr sz="1800" b="1">
                <a:solidFill>
                  <a:srgbClr val="FFA060"/>
                </a:solidFill>
                <a:latin typeface="Consolas"/>
              </a:defRPr>
            </a:pPr>
            <a:r>
              <a:t>do_lookup(x, y, z)</a:t>
            </a:r>
          </a:p>
          <a:p>
            <a:pPr algn="l">
              <a:lnSpc>
                <a:spcPts val="2000"/>
              </a:lnSpc>
              <a:defRPr sz="1800" b="0">
                <a:solidFill>
                  <a:srgbClr val="FFFFFF"/>
                </a:solidFill>
                <a:latin typeface="Consolas"/>
              </a:defRPr>
            </a:pPr>
            <a:r>
              <a:t>"Does a lookup."</a:t>
            </a:r>
          </a:p>
        </p:txBody>
      </p:sp>
    </p:spTree>
    <p:extLst>
      <p:ext uri="{BB962C8B-B14F-4D97-AF65-F5344CB8AC3E}">
        <p14:creationId xmlns:p14="http://schemas.microsoft.com/office/powerpoint/2010/main" val="1896457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1C007D"/>
                </a:solidFill>
                <a:latin typeface="Calibri"/>
              </a:defRPr>
            </a:pPr>
            <a:r>
              <a:t>Best Practices for Tool Definitions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600200"/>
            <a:ext cx="548640" cy="54864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459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Descriptive names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search_hotels vs fetch — the model</a:t>
            </a:r>
            <a:br/>
            <a:r>
              <a:t>matches intent to tool 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63440" y="1600200"/>
            <a:ext cx="548640" cy="54864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16459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Self-explaining params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city, checkin vs p1, p2 — maps</a:t>
            </a:r>
            <a:br/>
            <a:r>
              <a:t>user concepts to parameters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0" y="1600200"/>
            <a:ext cx="548640" cy="54864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64592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Rich descriptions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Tell when to use the tool and</a:t>
            </a:r>
            <a:br/>
            <a:r>
              <a:t>what each parameter expects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160520"/>
            <a:ext cx="548640" cy="54864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062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Type 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max_price: int vs d — helps</a:t>
            </a:r>
            <a:br/>
            <a:r>
              <a:t>the model pass valid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93192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63440" y="4160520"/>
            <a:ext cx="548640" cy="54864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42062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Preconditions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4632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State what must be true before</a:t>
            </a:r>
            <a:br/>
            <a:r>
              <a:t>calling (e.g., 'needs target label')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931920"/>
            <a:ext cx="3474720" cy="21945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12480" y="4160520"/>
            <a:ext cx="548640" cy="548640"/>
          </a:xfrm>
          <a:prstGeom prst="ellipse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2062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Consistent conventions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4632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If all tools follow a naming</a:t>
            </a:r>
            <a:br/>
            <a:r>
              <a:t>pattern, the model learns it</a:t>
            </a:r>
          </a:p>
        </p:txBody>
      </p:sp>
    </p:spTree>
    <p:extLst>
      <p:ext uri="{BB962C8B-B14F-4D97-AF65-F5344CB8AC3E}">
        <p14:creationId xmlns:p14="http://schemas.microsoft.com/office/powerpoint/2010/main" val="3079238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Asking Clarification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The model's most flexible "tool" is asking the user for more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23774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3035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Without Clarification 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User: "Find me a hotel."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49377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Model GUESSES:</a:t>
            </a:r>
            <a:br>
              <a:rPr sz="1600" dirty="0"/>
            </a:br>
            <a:r>
              <a:rPr sz="1600" dirty="0" err="1"/>
              <a:t>search_hotels</a:t>
            </a:r>
            <a:r>
              <a:rPr sz="1600" dirty="0"/>
              <a:t>("New York", "2026-03-20",</a:t>
            </a:r>
            <a:br>
              <a:rPr sz="1600" dirty="0"/>
            </a:br>
            <a:r>
              <a:rPr sz="1600" dirty="0"/>
              <a:t>             "2026-03-22", 200)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5029200" cy="237744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50292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With Clarification Instructions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User: "Find me a hotel."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3464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rPr sz="1600"/>
              <a:t>Model ASKS:</a:t>
            </a:r>
            <a:br>
              <a:rPr sz="1600"/>
            </a:br>
            <a:r>
              <a:rPr sz="1600"/>
              <a:t>"Which city? What dates?</a:t>
            </a:r>
            <a:br>
              <a:rPr sz="1600"/>
            </a:br>
            <a:r>
              <a:rPr sz="1600"/>
              <a:t>What's your budget per night?"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Full Clarification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1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8200" y="48920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"Find me a hotel."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01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8200" y="530352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"Which city? Dates? Budget?"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1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8200" y="571500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"Barcelona, Mar 20–23, &lt; €130"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126479"/>
            <a:ext cx="101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8200" y="6126479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onsolas"/>
              </a:defRPr>
            </a:pPr>
            <a:r>
              <a:t>search_hotels("Barcelona", ...)</a:t>
            </a:r>
          </a:p>
        </p:txBody>
      </p:sp>
    </p:spTree>
    <p:extLst>
      <p:ext uri="{BB962C8B-B14F-4D97-AF65-F5344CB8AC3E}">
        <p14:creationId xmlns:p14="http://schemas.microsoft.com/office/powerpoint/2010/main" val="3540265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1C007D"/>
                </a:solidFill>
                <a:latin typeface="Calibri"/>
              </a:defRPr>
            </a:pPr>
            <a:r>
              <a:t>Example: Travel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1A1F2E"/>
                </a:solidFill>
                <a:latin typeface="Calibri"/>
              </a:defRPr>
            </a:pPr>
            <a:r>
              <a:t>Four tools with clear boundaries, rich descriptions, and typed parameters.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10058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10058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 i="0">
                <a:solidFill>
                  <a:srgbClr val="1A1F2E"/>
                </a:solidFill>
                <a:latin typeface="Calibri"/>
              </a:defRPr>
            </a:pPr>
            <a:r>
              <a:t>☀️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74519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onsolas"/>
              </a:defRPr>
            </a:pPr>
            <a:r>
              <a:t>get_weather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7451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Weather 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74519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onsolas"/>
              </a:defRPr>
            </a:pPr>
            <a:r>
              <a:t>city,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240280"/>
            <a:ext cx="902208" cy="27431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rPr dirty="0"/>
              <a:t>Params: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10698480" cy="10058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73152" cy="10058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15468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 i="0">
                <a:solidFill>
                  <a:srgbClr val="1A1F2E"/>
                </a:solidFill>
                <a:latin typeface="Calibri"/>
              </a:defRPr>
            </a:pPr>
            <a:r>
              <a:t>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1089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onsolas"/>
              </a:defRPr>
            </a:pPr>
            <a:r>
              <a:t>convert_currency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089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Currency 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1089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onsolas"/>
              </a:defRPr>
            </a:pPr>
            <a:r>
              <a:t>amount, from, 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474720"/>
            <a:ext cx="994972" cy="2743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rPr dirty="0"/>
              <a:t>Params: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06240"/>
            <a:ext cx="10698480" cy="10058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206240"/>
            <a:ext cx="73152" cy="10058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38912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 i="0">
                <a:solidFill>
                  <a:srgbClr val="1A1F2E"/>
                </a:solidFill>
                <a:latin typeface="Calibri"/>
              </a:defRPr>
            </a:pPr>
            <a:r>
              <a:t>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343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onsolas"/>
              </a:defRPr>
            </a:pPr>
            <a:r>
              <a:t>search_hotels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3434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Hotel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343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onsolas"/>
              </a:defRPr>
            </a:pPr>
            <a:r>
              <a:t>city, dates, max_price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709159"/>
            <a:ext cx="99497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rPr dirty="0"/>
              <a:t>Params: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440680"/>
            <a:ext cx="10698480" cy="10058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5440680"/>
            <a:ext cx="73152" cy="10058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623560"/>
            <a:ext cx="45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 i="0">
                <a:solidFill>
                  <a:srgbClr val="1A1F2E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5778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onsolas"/>
              </a:defRPr>
            </a:pPr>
            <a:r>
              <a:t>get_attractions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577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Local 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5778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onsolas"/>
              </a:defRPr>
            </a:pPr>
            <a:r>
              <a:t>city, category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94360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Params: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852159"/>
            <a:ext cx="106984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6049616"/>
            <a:ext cx="10241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rPr dirty="0"/>
              <a:t>Multi-step: "Plan my Barcelona trip" → </a:t>
            </a:r>
            <a:r>
              <a:rPr dirty="0" err="1"/>
              <a:t>get_weather</a:t>
            </a:r>
            <a:r>
              <a:rPr dirty="0"/>
              <a:t> + </a:t>
            </a:r>
            <a:r>
              <a:rPr dirty="0" err="1"/>
              <a:t>search_hotels</a:t>
            </a:r>
            <a:r>
              <a:rPr dirty="0"/>
              <a:t> + </a:t>
            </a:r>
            <a:r>
              <a:rPr dirty="0" err="1"/>
              <a:t>get_attractions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1034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Example: Data Analyst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Three tools with natural preconditions and dependencies.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520440" cy="32004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explore_data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Problem Framing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Inspect schema, missing values,</a:t>
            </a:r>
            <a:br/>
            <a:r>
              <a:t>candidate targets.</a:t>
            </a:r>
            <a:br/>
            <a:r>
              <a:t>Call first when schema is unknown.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297680"/>
            <a:ext cx="3017520" cy="3657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No preconditions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737360"/>
            <a:ext cx="3520440" cy="32004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874519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cluster_data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3317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Unsupervised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74320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Discover natural groups</a:t>
            </a:r>
            <a:br/>
            <a:r>
              <a:t>via KMeans clustering.</a:t>
            </a:r>
            <a:br/>
            <a:r>
              <a:t>Needs numeric feature columns.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4297680"/>
            <a:ext cx="3017520" cy="3657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431596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Needs explore_data 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737360"/>
            <a:ext cx="3520440" cy="320040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1874519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onsolas"/>
              </a:defRPr>
            </a:pPr>
            <a:r>
              <a:t>classify_data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3317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Supervised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74320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Predict a target label,</a:t>
            </a:r>
            <a:br/>
            <a:r>
              <a:t>score new data points.</a:t>
            </a:r>
            <a:br/>
            <a:r>
              <a:t>Requires a valid target column.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4297680"/>
            <a:ext cx="3017520" cy="365760"/>
          </a:xfrm>
          <a:prstGeom prst="rect">
            <a:avLst/>
          </a:prstGeom>
          <a:solidFill>
            <a:srgbClr val="212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0" y="431596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Needs target column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Example 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"Are there customer segments, and will this customer churn?"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03504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explore_data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60350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54680" y="603504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cluster_data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60350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603504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classify_data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60350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603504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Final Answer</a:t>
            </a:r>
          </a:p>
        </p:txBody>
      </p:sp>
    </p:spTree>
    <p:extLst>
      <p:ext uri="{BB962C8B-B14F-4D97-AF65-F5344CB8AC3E}">
        <p14:creationId xmlns:p14="http://schemas.microsoft.com/office/powerpoint/2010/main" val="4191109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C0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1C007D"/>
                </a:solidFill>
                <a:latin typeface="Calibri"/>
              </a:defRPr>
            </a:pPr>
            <a:r>
              <a:t>Handling Errors &amp; Edge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5544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554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Tool Returns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508760"/>
            <a:ext cx="3840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60" y="1600200"/>
            <a:ext cx="3474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onsolas"/>
              </a:defRPr>
            </a:pPr>
            <a:r>
              <a:rPr sz="1600" dirty="0" err="1"/>
              <a:t>search_hotels</a:t>
            </a:r>
            <a:r>
              <a:rPr sz="1600" dirty="0"/>
              <a:t>("Atlantis", ...) →</a:t>
            </a:r>
            <a:br>
              <a:rPr sz="1600" dirty="0"/>
            </a:br>
            <a:r>
              <a:rPr sz="1600" dirty="0"/>
              <a:t>{"error": "City not found"}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600200"/>
            <a:ext cx="3200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Model should explain to the</a:t>
            </a:r>
            <a:br/>
            <a:r>
              <a:t>user, not retry blindly.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15544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73152" cy="1554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Missing Preconditions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3337560"/>
            <a:ext cx="3840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23360" y="3429000"/>
            <a:ext cx="3474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onsolas"/>
              </a:defRPr>
            </a:pPr>
            <a:r>
              <a:rPr sz="1600"/>
              <a:t>classify_data with no target label</a:t>
            </a:r>
            <a:br>
              <a:rPr sz="1600"/>
            </a:br>
            <a:r>
              <a:rPr sz="1600"/>
              <a:t>explore_data shows candidate_targets: []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429000"/>
            <a:ext cx="3200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Stop and explain that supervised</a:t>
            </a:r>
            <a:br/>
            <a:r>
              <a:t>prediction isn't supported.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698480" cy="15544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5029200"/>
            <a:ext cx="73152" cy="15544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C007D"/>
                </a:solidFill>
                <a:latin typeface="Calibri"/>
              </a:defRPr>
            </a:pPr>
            <a:r>
              <a:t>Ambiguous Request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5166360"/>
            <a:ext cx="3840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23360" y="5257800"/>
            <a:ext cx="3474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onsolas"/>
              </a:defRPr>
            </a:pPr>
            <a:r>
              <a:rPr sz="1600"/>
              <a:t>"Compare hotels" — which cities?</a:t>
            </a:r>
            <a:br>
              <a:rPr sz="1600"/>
            </a:br>
            <a:r>
              <a:rPr sz="1600"/>
              <a:t>What dates? What budget?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5257800"/>
            <a:ext cx="3200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1A1F2E"/>
                </a:solidFill>
                <a:latin typeface="Calibri"/>
              </a:defRPr>
            </a:pPr>
            <a:r>
              <a:t>Ask clarification questions</a:t>
            </a:r>
            <a:br/>
            <a:r>
              <a:t>instead of guessing parameters.</a:t>
            </a:r>
          </a:p>
        </p:txBody>
      </p:sp>
    </p:spTree>
    <p:extLst>
      <p:ext uri="{BB962C8B-B14F-4D97-AF65-F5344CB8AC3E}">
        <p14:creationId xmlns:p14="http://schemas.microsoft.com/office/powerpoint/2010/main" val="2449421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Tool calling is not just JSON generation — it's a control problem.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4027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9456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The real design challenge is the interaction loop.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6323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175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Good tools have clear boundaries, descriptions, and preconditions.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840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Exploration tools help determine whether other tools are valid.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70915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6634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Only call another tool when it's necessary to answer the question.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53212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4864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"Done" can mean the answer is complete, or the tools are insufficient.</a:t>
            </a:r>
          </a:p>
        </p:txBody>
      </p:sp>
    </p:spTree>
    <p:extLst>
      <p:ext uri="{BB962C8B-B14F-4D97-AF65-F5344CB8AC3E}">
        <p14:creationId xmlns:p14="http://schemas.microsoft.com/office/powerpoint/2010/main" val="2707270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0" b="1" i="0">
                <a:solidFill>
                  <a:srgbClr val="FFFFFF"/>
                </a:solidFill>
                <a:latin typeface="Calibri"/>
              </a:defRPr>
            </a:pPr>
            <a: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686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400"/>
              </a:lnSpc>
              <a:defRPr sz="3200" b="0" i="1">
                <a:solidFill>
                  <a:srgbClr val="FFFFFF"/>
                </a:solidFill>
                <a:latin typeface="Calibri"/>
              </a:defRPr>
            </a:pPr>
            <a:r>
              <a:t>Tool calling turns an LLM from a</a:t>
            </a:r>
            <a:br/>
            <a:r>
              <a:t>text generator into a controller of</a:t>
            </a:r>
            <a:br/>
            <a:r>
              <a:t>external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686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000"/>
              </a:lnSpc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The key design challenge is not only how to call tools,</a:t>
            </a:r>
            <a:br/>
            <a:r>
              <a:t>but how to decide when the job is finished.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5303520"/>
            <a:ext cx="2743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0" y="50292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332720" y="46634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0" y="557784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60100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arkTeal">
      <a:dk1>
        <a:srgbClr val="FFFFFF"/>
      </a:dk1>
      <a:lt1>
        <a:srgbClr val="1A1F2E"/>
      </a:lt1>
      <a:dk2>
        <a:srgbClr val="E8ECF4"/>
      </a:dk2>
      <a:lt2>
        <a:srgbClr val="212738"/>
      </a:lt2>
      <a:accent1>
        <a:srgbClr val="2DD4BF"/>
      </a:accent1>
      <a:accent2>
        <a:srgbClr val="F59E0B"/>
      </a:accent2>
      <a:accent3>
        <a:srgbClr val="16A34A"/>
      </a:accent3>
      <a:accent4>
        <a:srgbClr val="8A94A6"/>
      </a:accent4>
      <a:accent5>
        <a:srgbClr val="DC2626"/>
      </a:accent5>
      <a:accent6>
        <a:srgbClr val="80FFF0"/>
      </a:accent6>
      <a:hlink>
        <a:srgbClr val="2DD4BF"/>
      </a:hlink>
      <a:folHlink>
        <a:srgbClr val="8A94A6"/>
      </a:folHlink>
    </a:clrScheme>
    <a:fontScheme name="Calibri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DarkTeal">
      <a:dk1>
        <a:srgbClr val="FFFFFF"/>
      </a:dk1>
      <a:lt1>
        <a:srgbClr val="1A1F2E"/>
      </a:lt1>
      <a:dk2>
        <a:srgbClr val="E8ECF4"/>
      </a:dk2>
      <a:lt2>
        <a:srgbClr val="212738"/>
      </a:lt2>
      <a:accent1>
        <a:srgbClr val="FFFFFF"/>
      </a:accent1>
      <a:accent2>
        <a:srgbClr val="F59E0B"/>
      </a:accent2>
      <a:accent3>
        <a:srgbClr val="16A34A"/>
      </a:accent3>
      <a:accent4>
        <a:srgbClr val="8A94A6"/>
      </a:accent4>
      <a:accent5>
        <a:srgbClr val="DC2626"/>
      </a:accent5>
      <a:accent6>
        <a:srgbClr val="80FFF0"/>
      </a:accent6>
      <a:hlink>
        <a:srgbClr val="FFFFFF"/>
      </a:hlink>
      <a:folHlink>
        <a:srgbClr val="8A94A6"/>
      </a:folHlink>
    </a:clrScheme>
    <a:fontScheme name="Calibri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A70678-9E9C-B14F-8EBE-4932E0BD73D1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3483</TotalTime>
  <Words>1797</Words>
  <Application>Microsoft Macintosh PowerPoint</Application>
  <PresentationFormat>Widescreen</PresentationFormat>
  <Paragraphs>301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Office Theme</vt:lpstr>
      <vt:lpstr>Office Theme</vt:lpstr>
      <vt:lpstr>PowerPoint Presentation</vt:lpstr>
      <vt:lpstr>We are giving tools  (and decision power) to LLMs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Casati, Fabio</cp:lastModifiedBy>
  <cp:revision>3</cp:revision>
  <dcterms:created xsi:type="dcterms:W3CDTF">2013-01-27T09:14:16Z</dcterms:created>
  <dcterms:modified xsi:type="dcterms:W3CDTF">2026-03-18T22:44:56Z</dcterms:modified>
  <cp:category/>
</cp:coreProperties>
</file>