
<file path=[Content_Types].xml><?xml version="1.0" encoding="utf-8"?>
<Types xmlns="http://schemas.openxmlformats.org/package/2006/content-types">
  <Default Extension="jpeg" ContentType="image/jpeg"/>
  <Default Extension="jp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73" r:id="rId1"/>
  </p:sldMasterIdLst>
  <p:notesMasterIdLst>
    <p:notesMasterId r:id="rId20"/>
  </p:notesMasterIdLst>
  <p:sldIdLst>
    <p:sldId id="256" r:id="rId2"/>
    <p:sldId id="257" r:id="rId3"/>
    <p:sldId id="258" r:id="rId4"/>
    <p:sldId id="259" r:id="rId5"/>
    <p:sldId id="260" r:id="rId6"/>
    <p:sldId id="261" r:id="rId7"/>
    <p:sldId id="262" r:id="rId8"/>
    <p:sldId id="263" r:id="rId9"/>
    <p:sldId id="264" r:id="rId10"/>
    <p:sldId id="268" r:id="rId11"/>
    <p:sldId id="265" r:id="rId12"/>
    <p:sldId id="269" r:id="rId13"/>
    <p:sldId id="270" r:id="rId14"/>
    <p:sldId id="272" r:id="rId15"/>
    <p:sldId id="273" r:id="rId16"/>
    <p:sldId id="274" r:id="rId17"/>
    <p:sldId id="277" r:id="rId18"/>
    <p:sldId id="278" r:id="rId19"/>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1"/>
    <p:restoredTop sz="94658"/>
  </p:normalViewPr>
  <p:slideViewPr>
    <p:cSldViewPr snapToGrid="0">
      <p:cViewPr varScale="1">
        <p:scale>
          <a:sx n="116" d="100"/>
          <a:sy n="116" d="100"/>
        </p:scale>
        <p:origin x="864" y="176"/>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6ACEC2B-9365-0848-8CE4-AC8FCB72FC5B}" type="datetimeFigureOut">
              <a:rPr lang="en-US" smtClean="0"/>
              <a:t>1/22/26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496E4A8-7E4A-5140-A9ED-6A17380FD08E}" type="slidenum">
              <a:rPr lang="en-US" smtClean="0"/>
              <a:t>‹#›</a:t>
            </a:fld>
            <a:endParaRPr lang="en-US"/>
          </a:p>
        </p:txBody>
      </p:sp>
    </p:spTree>
    <p:extLst>
      <p:ext uri="{BB962C8B-B14F-4D97-AF65-F5344CB8AC3E}">
        <p14:creationId xmlns:p14="http://schemas.microsoft.com/office/powerpoint/2010/main" val="2702075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5"/>
          </p:nvPr>
        </p:nvSpPr>
        <p:spPr/>
        <p:txBody>
          <a:bodyPr/>
          <a:lstStyle/>
          <a:p>
            <a:fld id="{6496E4A8-7E4A-5140-A9ED-6A17380FD08E}" type="slidenum">
              <a:rPr lang="en-US" smtClean="0"/>
              <a:t>8</a:t>
            </a:fld>
            <a:endParaRPr lang="en-US"/>
          </a:p>
        </p:txBody>
      </p:sp>
    </p:spTree>
    <p:extLst>
      <p:ext uri="{BB962C8B-B14F-4D97-AF65-F5344CB8AC3E}">
        <p14:creationId xmlns:p14="http://schemas.microsoft.com/office/powerpoint/2010/main" val="209333817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3B84DA2-4AAF-B080-B8BB-83408CA28E31}"/>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B35D4F8-6284-B046-D7BF-10588198761E}"/>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CE0BCB7-200D-6ADC-3E91-1424E30EA95C}"/>
              </a:ext>
            </a:extLst>
          </p:cNvPr>
          <p:cNvSpPr>
            <a:spLocks noGrp="1"/>
          </p:cNvSpPr>
          <p:nvPr>
            <p:ph type="body" idx="1"/>
          </p:nvPr>
        </p:nvSpPr>
        <p:spPr/>
        <p:txBody>
          <a:bodyPr/>
          <a:lstStyle/>
          <a:p>
            <a:endParaRPr lang="en-US" dirty="0"/>
          </a:p>
        </p:txBody>
      </p:sp>
      <p:sp>
        <p:nvSpPr>
          <p:cNvPr id="4" name="Slide Number Placeholder 3">
            <a:extLst>
              <a:ext uri="{FF2B5EF4-FFF2-40B4-BE49-F238E27FC236}">
                <a16:creationId xmlns:a16="http://schemas.microsoft.com/office/drawing/2014/main" id="{9EEF618C-FB17-C56E-96D2-60D4FE93095E}"/>
              </a:ext>
            </a:extLst>
          </p:cNvPr>
          <p:cNvSpPr>
            <a:spLocks noGrp="1"/>
          </p:cNvSpPr>
          <p:nvPr>
            <p:ph type="sldNum" sz="quarter" idx="5"/>
          </p:nvPr>
        </p:nvSpPr>
        <p:spPr/>
        <p:txBody>
          <a:bodyPr/>
          <a:lstStyle/>
          <a:p>
            <a:fld id="{6496E4A8-7E4A-5140-A9ED-6A17380FD08E}" type="slidenum">
              <a:rPr lang="en-US" smtClean="0"/>
              <a:t>9</a:t>
            </a:fld>
            <a:endParaRPr lang="en-US"/>
          </a:p>
        </p:txBody>
      </p:sp>
    </p:spTree>
    <p:extLst>
      <p:ext uri="{BB962C8B-B14F-4D97-AF65-F5344CB8AC3E}">
        <p14:creationId xmlns:p14="http://schemas.microsoft.com/office/powerpoint/2010/main" val="3145465150"/>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4336E9A-8E96-CD8C-7598-F87632CD81CF}"/>
              </a:ext>
            </a:extLst>
          </p:cNvPr>
          <p:cNvSpPr>
            <a:spLocks noGrp="1"/>
          </p:cNvSpPr>
          <p:nvPr>
            <p:ph type="ctrTitle"/>
          </p:nvPr>
        </p:nvSpPr>
        <p:spPr>
          <a:xfrm>
            <a:off x="2301923" y="1122363"/>
            <a:ext cx="7588155" cy="2621154"/>
          </a:xfrm>
        </p:spPr>
        <p:txBody>
          <a:bodyPr anchor="b">
            <a:normAutofit/>
          </a:bodyPr>
          <a:lstStyle>
            <a:lvl1pPr algn="ctr">
              <a:defRPr sz="4000"/>
            </a:lvl1pPr>
          </a:lstStyle>
          <a:p>
            <a:r>
              <a:rPr lang="en-US"/>
              <a:t>Click to edit Master title style</a:t>
            </a:r>
            <a:endParaRPr lang="en-US" dirty="0"/>
          </a:p>
        </p:txBody>
      </p:sp>
      <p:sp>
        <p:nvSpPr>
          <p:cNvPr id="3" name="Subtitle 2">
            <a:extLst>
              <a:ext uri="{FF2B5EF4-FFF2-40B4-BE49-F238E27FC236}">
                <a16:creationId xmlns:a16="http://schemas.microsoft.com/office/drawing/2014/main" id="{2BDC76B8-60F6-62D3-9F73-E81662203017}"/>
              </a:ext>
            </a:extLst>
          </p:cNvPr>
          <p:cNvSpPr>
            <a:spLocks noGrp="1"/>
          </p:cNvSpPr>
          <p:nvPr>
            <p:ph type="subTitle" idx="1"/>
          </p:nvPr>
        </p:nvSpPr>
        <p:spPr>
          <a:xfrm>
            <a:off x="2301923" y="3843708"/>
            <a:ext cx="7588155" cy="1414091"/>
          </a:xfrm>
        </p:spPr>
        <p:txBody>
          <a:bodyPr>
            <a:normAutofit/>
          </a:bodyPr>
          <a:lstStyle>
            <a:lvl1pPr marL="0" indent="0" algn="ctr">
              <a:buNone/>
              <a:defRPr sz="18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US" dirty="0"/>
          </a:p>
        </p:txBody>
      </p:sp>
      <p:sp>
        <p:nvSpPr>
          <p:cNvPr id="4" name="Date Placeholder 3">
            <a:extLst>
              <a:ext uri="{FF2B5EF4-FFF2-40B4-BE49-F238E27FC236}">
                <a16:creationId xmlns:a16="http://schemas.microsoft.com/office/drawing/2014/main" id="{EAE2DAFA-435E-AAF9-8B67-495E5AFDCD91}"/>
              </a:ext>
            </a:extLst>
          </p:cNvPr>
          <p:cNvSpPr>
            <a:spLocks noGrp="1"/>
          </p:cNvSpPr>
          <p:nvPr>
            <p:ph type="dt" sz="half" idx="10"/>
          </p:nvPr>
        </p:nvSpPr>
        <p:spPr/>
        <p:txBody>
          <a:bodyPr/>
          <a:lstStyle/>
          <a:p>
            <a:fld id="{C128FA71-3A18-48C0-980F-4B68F7F63042}" type="datetime1">
              <a:rPr lang="en-US" smtClean="0"/>
              <a:t>1/21/26</a:t>
            </a:fld>
            <a:endParaRPr lang="en-US"/>
          </a:p>
        </p:txBody>
      </p:sp>
      <p:sp>
        <p:nvSpPr>
          <p:cNvPr id="5" name="Footer Placeholder 4">
            <a:extLst>
              <a:ext uri="{FF2B5EF4-FFF2-40B4-BE49-F238E27FC236}">
                <a16:creationId xmlns:a16="http://schemas.microsoft.com/office/drawing/2014/main" id="{5B407A58-3351-E479-1A0C-2FF49FA42707}"/>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81789E10-2433-2ECB-9C92-571B583A4CF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23902566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7433D9-FD02-59E2-0F81-A0B7201D2DA0}"/>
              </a:ext>
            </a:extLst>
          </p:cNvPr>
          <p:cNvSpPr>
            <a:spLocks noGrp="1"/>
          </p:cNvSpPr>
          <p:nvPr>
            <p:ph type="title"/>
          </p:nvPr>
        </p:nvSpPr>
        <p:spPr/>
        <p:txBody>
          <a:bodyPr/>
          <a:lstStyle/>
          <a:p>
            <a:r>
              <a:rPr lang="en-US"/>
              <a:t>Click to edit Master title style</a:t>
            </a:r>
          </a:p>
        </p:txBody>
      </p:sp>
      <p:sp>
        <p:nvSpPr>
          <p:cNvPr id="3" name="Content Placeholder 2">
            <a:extLst>
              <a:ext uri="{FF2B5EF4-FFF2-40B4-BE49-F238E27FC236}">
                <a16:creationId xmlns:a16="http://schemas.microsoft.com/office/drawing/2014/main" id="{6C2DD052-3E45-E789-01F8-33250024ECBD}"/>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0B9485D1-E172-8F0A-A425-3097B3ABCFB4}"/>
              </a:ext>
            </a:extLst>
          </p:cNvPr>
          <p:cNvSpPr>
            <a:spLocks noGrp="1"/>
          </p:cNvSpPr>
          <p:nvPr>
            <p:ph type="dt" sz="half" idx="10"/>
          </p:nvPr>
        </p:nvSpPr>
        <p:spPr/>
        <p:txBody>
          <a:bodyPr/>
          <a:lstStyle/>
          <a:p>
            <a:fld id="{51C1210E-201E-4473-82AC-2466F5386C38}" type="datetime1">
              <a:rPr lang="en-US" smtClean="0"/>
              <a:t>1/21/26</a:t>
            </a:fld>
            <a:endParaRPr lang="en-US"/>
          </a:p>
        </p:txBody>
      </p:sp>
      <p:sp>
        <p:nvSpPr>
          <p:cNvPr id="5" name="Footer Placeholder 4">
            <a:extLst>
              <a:ext uri="{FF2B5EF4-FFF2-40B4-BE49-F238E27FC236}">
                <a16:creationId xmlns:a16="http://schemas.microsoft.com/office/drawing/2014/main" id="{B17E6B5E-6174-FD5C-41E8-FFC44C650D7E}"/>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4BF72154-F85B-E301-DA57-E314D7315916}"/>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1890438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51D06AF-EF87-8489-2C82-DEB90B7EFE0C}"/>
              </a:ext>
            </a:extLst>
          </p:cNvPr>
          <p:cNvSpPr>
            <a:spLocks noGrp="1"/>
          </p:cNvSpPr>
          <p:nvPr>
            <p:ph type="title"/>
          </p:nvPr>
        </p:nvSpPr>
        <p:spPr>
          <a:xfrm>
            <a:off x="603381" y="553616"/>
            <a:ext cx="8273140" cy="4008859"/>
          </a:xfrm>
        </p:spPr>
        <p:txBody>
          <a:bodyPr anchor="t">
            <a:normAutofit/>
          </a:bodyPr>
          <a:lstStyle>
            <a:lvl1pPr>
              <a:defRPr sz="5400" cap="all" baseline="0"/>
            </a:lvl1p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308E5678-CA38-1318-9EA2-5E0A4F9A59BA}"/>
              </a:ext>
            </a:extLst>
          </p:cNvPr>
          <p:cNvSpPr>
            <a:spLocks noGrp="1"/>
          </p:cNvSpPr>
          <p:nvPr>
            <p:ph type="body" idx="1"/>
          </p:nvPr>
        </p:nvSpPr>
        <p:spPr>
          <a:xfrm>
            <a:off x="603380" y="4589463"/>
            <a:ext cx="8273140" cy="1384617"/>
          </a:xfrm>
        </p:spPr>
        <p:txBody>
          <a:bodyPr anchor="b">
            <a:normAutofit/>
          </a:bodyPr>
          <a:lstStyle>
            <a:lvl1pPr marL="0" indent="0">
              <a:buNone/>
              <a:defRPr sz="2000">
                <a:solidFill>
                  <a:schemeClr val="tx1"/>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4E99186-7E5A-60AF-DE69-5C7DA71611AB}"/>
              </a:ext>
            </a:extLst>
          </p:cNvPr>
          <p:cNvSpPr>
            <a:spLocks noGrp="1"/>
          </p:cNvSpPr>
          <p:nvPr>
            <p:ph type="dt" sz="half" idx="10"/>
          </p:nvPr>
        </p:nvSpPr>
        <p:spPr/>
        <p:txBody>
          <a:bodyPr/>
          <a:lstStyle/>
          <a:p>
            <a:fld id="{B01EA198-6CAB-4B8F-B93F-1F9C8C4B6CE7}" type="datetime1">
              <a:rPr lang="en-US" smtClean="0"/>
              <a:t>1/21/26</a:t>
            </a:fld>
            <a:endParaRPr lang="en-US"/>
          </a:p>
        </p:txBody>
      </p:sp>
      <p:sp>
        <p:nvSpPr>
          <p:cNvPr id="5" name="Footer Placeholder 4">
            <a:extLst>
              <a:ext uri="{FF2B5EF4-FFF2-40B4-BE49-F238E27FC236}">
                <a16:creationId xmlns:a16="http://schemas.microsoft.com/office/drawing/2014/main" id="{82FA13D1-1FBA-E820-323B-77B41F1A665D}"/>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FB39BE85-85F6-4636-C651-D87CC969A49E}"/>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123373480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AF3BB49-A328-F121-7F27-DEB7C3CC2B0F}"/>
              </a:ext>
            </a:extLst>
          </p:cNvPr>
          <p:cNvSpPr>
            <a:spLocks noGrp="1"/>
          </p:cNvSpPr>
          <p:nvPr>
            <p:ph type="title"/>
          </p:nvPr>
        </p:nvSpPr>
        <p:spPr>
          <a:xfrm>
            <a:off x="612648" y="548640"/>
            <a:ext cx="10741152" cy="1132258"/>
          </a:xfrm>
        </p:spPr>
        <p:txBody>
          <a:body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572E861E-DFBA-B4AA-9356-CDE3D3F57C04}"/>
              </a:ext>
            </a:extLst>
          </p:cNvPr>
          <p:cNvSpPr>
            <a:spLocks noGrp="1"/>
          </p:cNvSpPr>
          <p:nvPr>
            <p:ph sz="half" idx="1"/>
          </p:nvPr>
        </p:nvSpPr>
        <p:spPr>
          <a:xfrm>
            <a:off x="612648"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Content Placeholder 3">
            <a:extLst>
              <a:ext uri="{FF2B5EF4-FFF2-40B4-BE49-F238E27FC236}">
                <a16:creationId xmlns:a16="http://schemas.microsoft.com/office/drawing/2014/main" id="{451D7538-EC5A-3EE7-176F-A58920C50797}"/>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a:extLst>
              <a:ext uri="{FF2B5EF4-FFF2-40B4-BE49-F238E27FC236}">
                <a16:creationId xmlns:a16="http://schemas.microsoft.com/office/drawing/2014/main" id="{897D0B7E-1A60-DA52-6965-92412B1C2F9F}"/>
              </a:ext>
            </a:extLst>
          </p:cNvPr>
          <p:cNvSpPr>
            <a:spLocks noGrp="1"/>
          </p:cNvSpPr>
          <p:nvPr>
            <p:ph type="dt" sz="half" idx="10"/>
          </p:nvPr>
        </p:nvSpPr>
        <p:spPr/>
        <p:txBody>
          <a:bodyPr/>
          <a:lstStyle/>
          <a:p>
            <a:fld id="{CA06041F-4525-44D5-AA4F-332294BF1F56}" type="datetime1">
              <a:rPr lang="en-US" smtClean="0"/>
              <a:t>1/21/26</a:t>
            </a:fld>
            <a:endParaRPr lang="en-US"/>
          </a:p>
        </p:txBody>
      </p:sp>
      <p:sp>
        <p:nvSpPr>
          <p:cNvPr id="6" name="Footer Placeholder 5">
            <a:extLst>
              <a:ext uri="{FF2B5EF4-FFF2-40B4-BE49-F238E27FC236}">
                <a16:creationId xmlns:a16="http://schemas.microsoft.com/office/drawing/2014/main" id="{C2BDD5A2-CE3E-3215-6DAA-F75C0D1229DA}"/>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B1B822F1-284A-1786-FAF2-72129E2FE64D}"/>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8226939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1FEE969-634D-6E32-D227-18E9282C6F9E}"/>
              </a:ext>
            </a:extLst>
          </p:cNvPr>
          <p:cNvSpPr>
            <a:spLocks noGrp="1"/>
          </p:cNvSpPr>
          <p:nvPr>
            <p:ph type="title"/>
          </p:nvPr>
        </p:nvSpPr>
        <p:spPr>
          <a:xfrm>
            <a:off x="609600" y="547396"/>
            <a:ext cx="10745788" cy="1143292"/>
          </a:xfrm>
        </p:spPr>
        <p:txBody>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61CD26D4-290A-F0ED-7D62-41EDA6FEC2B9}"/>
              </a:ext>
            </a:extLst>
          </p:cNvPr>
          <p:cNvSpPr>
            <a:spLocks noGrp="1"/>
          </p:cNvSpPr>
          <p:nvPr>
            <p:ph type="body" idx="1"/>
          </p:nvPr>
        </p:nvSpPr>
        <p:spPr>
          <a:xfrm>
            <a:off x="609600" y="1685735"/>
            <a:ext cx="5157787"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94DA52B0-7419-A946-4523-6D34BCAD26D1}"/>
              </a:ext>
            </a:extLst>
          </p:cNvPr>
          <p:cNvSpPr>
            <a:spLocks noGrp="1"/>
          </p:cNvSpPr>
          <p:nvPr>
            <p:ph sz="half" idx="2"/>
          </p:nvPr>
        </p:nvSpPr>
        <p:spPr>
          <a:xfrm>
            <a:off x="609600" y="2386894"/>
            <a:ext cx="5157787"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5" name="Text Placeholder 4">
            <a:extLst>
              <a:ext uri="{FF2B5EF4-FFF2-40B4-BE49-F238E27FC236}">
                <a16:creationId xmlns:a16="http://schemas.microsoft.com/office/drawing/2014/main" id="{06536620-C4F3-EEC3-DBF1-05196B1CBB55}"/>
              </a:ext>
            </a:extLst>
          </p:cNvPr>
          <p:cNvSpPr>
            <a:spLocks noGrp="1"/>
          </p:cNvSpPr>
          <p:nvPr>
            <p:ph type="body" sz="quarter" idx="3"/>
          </p:nvPr>
        </p:nvSpPr>
        <p:spPr>
          <a:xfrm>
            <a:off x="6172200" y="1685735"/>
            <a:ext cx="5183188" cy="559834"/>
          </a:xfrm>
        </p:spPr>
        <p:txBody>
          <a:bodyPr anchor="b">
            <a:normAutofit/>
          </a:bodyPr>
          <a:lstStyle>
            <a:lvl1pPr marL="0" indent="0">
              <a:lnSpc>
                <a:spcPct val="90000"/>
              </a:lnSpc>
              <a:buNone/>
              <a:defRPr sz="2000" b="1" cap="all" baseline="0"/>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33BAE980-E611-98B5-04E9-DE4584B0E33F}"/>
              </a:ext>
            </a:extLst>
          </p:cNvPr>
          <p:cNvSpPr>
            <a:spLocks noGrp="1"/>
          </p:cNvSpPr>
          <p:nvPr>
            <p:ph sz="quarter" idx="4"/>
          </p:nvPr>
        </p:nvSpPr>
        <p:spPr>
          <a:xfrm>
            <a:off x="6172199" y="2386894"/>
            <a:ext cx="5183189" cy="3765089"/>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a:extLst>
              <a:ext uri="{FF2B5EF4-FFF2-40B4-BE49-F238E27FC236}">
                <a16:creationId xmlns:a16="http://schemas.microsoft.com/office/drawing/2014/main" id="{4E3B3581-658A-8487-F9CB-E79F2BFF27E4}"/>
              </a:ext>
            </a:extLst>
          </p:cNvPr>
          <p:cNvSpPr>
            <a:spLocks noGrp="1"/>
          </p:cNvSpPr>
          <p:nvPr>
            <p:ph type="dt" sz="half" idx="10"/>
          </p:nvPr>
        </p:nvSpPr>
        <p:spPr/>
        <p:txBody>
          <a:bodyPr/>
          <a:lstStyle/>
          <a:p>
            <a:fld id="{F9557091-BBDF-4EB9-BA6B-2BB67AC4FC0F}" type="datetime1">
              <a:rPr lang="en-US" smtClean="0"/>
              <a:t>1/21/26</a:t>
            </a:fld>
            <a:endParaRPr lang="en-US"/>
          </a:p>
        </p:txBody>
      </p:sp>
      <p:sp>
        <p:nvSpPr>
          <p:cNvPr id="8" name="Footer Placeholder 7">
            <a:extLst>
              <a:ext uri="{FF2B5EF4-FFF2-40B4-BE49-F238E27FC236}">
                <a16:creationId xmlns:a16="http://schemas.microsoft.com/office/drawing/2014/main" id="{949D76D8-9033-26CF-BF4C-AECCC685C177}"/>
              </a:ext>
            </a:extLst>
          </p:cNvPr>
          <p:cNvSpPr>
            <a:spLocks noGrp="1"/>
          </p:cNvSpPr>
          <p:nvPr>
            <p:ph type="ftr" sz="quarter" idx="11"/>
          </p:nvPr>
        </p:nvSpPr>
        <p:spPr/>
        <p:txBody>
          <a:bodyPr/>
          <a:lstStyle/>
          <a:p>
            <a:endParaRPr lang="en-US" dirty="0"/>
          </a:p>
        </p:txBody>
      </p:sp>
      <p:sp>
        <p:nvSpPr>
          <p:cNvPr id="9" name="Slide Number Placeholder 8">
            <a:extLst>
              <a:ext uri="{FF2B5EF4-FFF2-40B4-BE49-F238E27FC236}">
                <a16:creationId xmlns:a16="http://schemas.microsoft.com/office/drawing/2014/main" id="{E02A06B8-CC1D-542F-D8EB-7625046B91D2}"/>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3280447651"/>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66A9F42-7FF7-F803-C075-BC4968D35E34}"/>
              </a:ext>
            </a:extLst>
          </p:cNvPr>
          <p:cNvSpPr>
            <a:spLocks noGrp="1"/>
          </p:cNvSpPr>
          <p:nvPr>
            <p:ph type="title"/>
          </p:nvPr>
        </p:nvSpPr>
        <p:spPr/>
        <p:txBody>
          <a:bodyPr/>
          <a:lstStyle/>
          <a:p>
            <a:r>
              <a:rPr lang="en-US"/>
              <a:t>Click to edit Master title style</a:t>
            </a:r>
          </a:p>
        </p:txBody>
      </p:sp>
      <p:sp>
        <p:nvSpPr>
          <p:cNvPr id="3" name="Date Placeholder 2">
            <a:extLst>
              <a:ext uri="{FF2B5EF4-FFF2-40B4-BE49-F238E27FC236}">
                <a16:creationId xmlns:a16="http://schemas.microsoft.com/office/drawing/2014/main" id="{E89E8268-7232-2944-F1BD-399F9419B563}"/>
              </a:ext>
            </a:extLst>
          </p:cNvPr>
          <p:cNvSpPr>
            <a:spLocks noGrp="1"/>
          </p:cNvSpPr>
          <p:nvPr>
            <p:ph type="dt" sz="half" idx="10"/>
          </p:nvPr>
        </p:nvSpPr>
        <p:spPr/>
        <p:txBody>
          <a:bodyPr/>
          <a:lstStyle/>
          <a:p>
            <a:fld id="{2D6B226B-77A6-410C-9796-083F278E0125}" type="datetime1">
              <a:rPr lang="en-US" smtClean="0"/>
              <a:t>1/21/26</a:t>
            </a:fld>
            <a:endParaRPr lang="en-US"/>
          </a:p>
        </p:txBody>
      </p:sp>
      <p:sp>
        <p:nvSpPr>
          <p:cNvPr id="4" name="Footer Placeholder 3">
            <a:extLst>
              <a:ext uri="{FF2B5EF4-FFF2-40B4-BE49-F238E27FC236}">
                <a16:creationId xmlns:a16="http://schemas.microsoft.com/office/drawing/2014/main" id="{6B968DDD-323F-89A1-84E3-DDBA626D9386}"/>
              </a:ext>
            </a:extLst>
          </p:cNvPr>
          <p:cNvSpPr>
            <a:spLocks noGrp="1"/>
          </p:cNvSpPr>
          <p:nvPr>
            <p:ph type="ftr" sz="quarter" idx="11"/>
          </p:nvPr>
        </p:nvSpPr>
        <p:spPr/>
        <p:txBody>
          <a:bodyPr/>
          <a:lstStyle/>
          <a:p>
            <a:endParaRPr lang="en-US" dirty="0"/>
          </a:p>
        </p:txBody>
      </p:sp>
      <p:sp>
        <p:nvSpPr>
          <p:cNvPr id="5" name="Slide Number Placeholder 4">
            <a:extLst>
              <a:ext uri="{FF2B5EF4-FFF2-40B4-BE49-F238E27FC236}">
                <a16:creationId xmlns:a16="http://schemas.microsoft.com/office/drawing/2014/main" id="{98FBDC76-671D-1671-DCE2-D5658BD40E29}"/>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0951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49BC4D82-0182-501C-9231-46767680476E}"/>
              </a:ext>
            </a:extLst>
          </p:cNvPr>
          <p:cNvSpPr>
            <a:spLocks noGrp="1"/>
          </p:cNvSpPr>
          <p:nvPr>
            <p:ph type="dt" sz="half" idx="10"/>
          </p:nvPr>
        </p:nvSpPr>
        <p:spPr/>
        <p:txBody>
          <a:bodyPr/>
          <a:lstStyle/>
          <a:p>
            <a:fld id="{A23A578B-D289-4C40-8593-3D356C49DA58}" type="datetime1">
              <a:rPr lang="en-US" smtClean="0"/>
              <a:t>1/21/26</a:t>
            </a:fld>
            <a:endParaRPr lang="en-US"/>
          </a:p>
        </p:txBody>
      </p:sp>
      <p:sp>
        <p:nvSpPr>
          <p:cNvPr id="3" name="Footer Placeholder 2">
            <a:extLst>
              <a:ext uri="{FF2B5EF4-FFF2-40B4-BE49-F238E27FC236}">
                <a16:creationId xmlns:a16="http://schemas.microsoft.com/office/drawing/2014/main" id="{10EAA6C9-A7F3-19F1-D17C-A1D83FAF553F}"/>
              </a:ext>
            </a:extLst>
          </p:cNvPr>
          <p:cNvSpPr>
            <a:spLocks noGrp="1"/>
          </p:cNvSpPr>
          <p:nvPr>
            <p:ph type="ftr" sz="quarter" idx="11"/>
          </p:nvPr>
        </p:nvSpPr>
        <p:spPr/>
        <p:txBody>
          <a:bodyPr/>
          <a:lstStyle/>
          <a:p>
            <a:endParaRPr lang="en-US" dirty="0"/>
          </a:p>
        </p:txBody>
      </p:sp>
      <p:sp>
        <p:nvSpPr>
          <p:cNvPr id="4" name="Slide Number Placeholder 3">
            <a:extLst>
              <a:ext uri="{FF2B5EF4-FFF2-40B4-BE49-F238E27FC236}">
                <a16:creationId xmlns:a16="http://schemas.microsoft.com/office/drawing/2014/main" id="{34EBB816-1B94-116F-92D4-6043AE9E0C6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236996487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50C37F-77BE-E128-4248-D001C39E79C6}"/>
              </a:ext>
            </a:extLst>
          </p:cNvPr>
          <p:cNvSpPr>
            <a:spLocks noGrp="1"/>
          </p:cNvSpPr>
          <p:nvPr>
            <p:ph type="title"/>
          </p:nvPr>
        </p:nvSpPr>
        <p:spPr>
          <a:xfrm>
            <a:off x="597160" y="553616"/>
            <a:ext cx="3595634" cy="1757505"/>
          </a:xfrm>
        </p:spPr>
        <p:txBody>
          <a:bodyPr anchor="t">
            <a:normAutofit/>
          </a:bodyPr>
          <a:lstStyle>
            <a:lvl1pPr>
              <a:defRPr sz="2800"/>
            </a:lvl1pPr>
          </a:lstStyle>
          <a:p>
            <a:r>
              <a:rPr lang="en-US"/>
              <a:t>Click to edit Master title style</a:t>
            </a:r>
            <a:endParaRPr lang="en-US" dirty="0"/>
          </a:p>
        </p:txBody>
      </p:sp>
      <p:sp>
        <p:nvSpPr>
          <p:cNvPr id="3" name="Content Placeholder 2">
            <a:extLst>
              <a:ext uri="{FF2B5EF4-FFF2-40B4-BE49-F238E27FC236}">
                <a16:creationId xmlns:a16="http://schemas.microsoft.com/office/drawing/2014/main" id="{2F3B20A8-A604-C977-02C0-083BA8663484}"/>
              </a:ext>
            </a:extLst>
          </p:cNvPr>
          <p:cNvSpPr>
            <a:spLocks noGrp="1"/>
          </p:cNvSpPr>
          <p:nvPr>
            <p:ph idx="1"/>
          </p:nvPr>
        </p:nvSpPr>
        <p:spPr>
          <a:xfrm>
            <a:off x="5134708" y="553616"/>
            <a:ext cx="6279741" cy="5486400"/>
          </a:xfrm>
        </p:spPr>
        <p:txBody>
          <a:bodyPr>
            <a:normAutofit/>
          </a:bodyPr>
          <a:lstStyle>
            <a:lvl1pPr>
              <a:defRPr sz="2800"/>
            </a:lvl1pPr>
            <a:lvl2pPr>
              <a:defRPr sz="2400"/>
            </a:lvl2pPr>
            <a:lvl3pPr>
              <a:defRPr sz="2000"/>
            </a:lvl3pPr>
            <a:lvl4pPr>
              <a:defRPr sz="1800"/>
            </a:lvl4pPr>
            <a:lvl5pPr>
              <a:defRPr sz="18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Text Placeholder 3">
            <a:extLst>
              <a:ext uri="{FF2B5EF4-FFF2-40B4-BE49-F238E27FC236}">
                <a16:creationId xmlns:a16="http://schemas.microsoft.com/office/drawing/2014/main" id="{EC0EEBFB-2026-6A35-33ED-F008376B67A0}"/>
              </a:ext>
            </a:extLst>
          </p:cNvPr>
          <p:cNvSpPr>
            <a:spLocks noGrp="1"/>
          </p:cNvSpPr>
          <p:nvPr>
            <p:ph type="body" sz="half" idx="2"/>
          </p:nvPr>
        </p:nvSpPr>
        <p:spPr>
          <a:xfrm>
            <a:off x="597160" y="2311121"/>
            <a:ext cx="3595634" cy="3728895"/>
          </a:xfrm>
        </p:spPr>
        <p:txBody>
          <a:bodyPr anchor="t">
            <a:normAutofit/>
          </a:bodyPr>
          <a:lstStyle>
            <a:lvl1pPr marL="0" indent="0">
              <a:buNone/>
              <a:defRPr sz="18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3F05638-7A56-469A-825A-1DFA600254C8}"/>
              </a:ext>
            </a:extLst>
          </p:cNvPr>
          <p:cNvSpPr>
            <a:spLocks noGrp="1"/>
          </p:cNvSpPr>
          <p:nvPr>
            <p:ph type="dt" sz="half" idx="10"/>
          </p:nvPr>
        </p:nvSpPr>
        <p:spPr/>
        <p:txBody>
          <a:bodyPr/>
          <a:lstStyle/>
          <a:p>
            <a:fld id="{713DFAE3-14DB-48A7-A80F-80DDB072CE3D}" type="datetime1">
              <a:rPr lang="en-US" smtClean="0"/>
              <a:t>1/21/26</a:t>
            </a:fld>
            <a:endParaRPr lang="en-US"/>
          </a:p>
        </p:txBody>
      </p:sp>
      <p:sp>
        <p:nvSpPr>
          <p:cNvPr id="6" name="Footer Placeholder 5">
            <a:extLst>
              <a:ext uri="{FF2B5EF4-FFF2-40B4-BE49-F238E27FC236}">
                <a16:creationId xmlns:a16="http://schemas.microsoft.com/office/drawing/2014/main" id="{9C85A215-184B-2105-0279-ED02F6445831}"/>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32C7CA46-892B-253A-3A28-7414E17B837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9603497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FB06A09-98CF-FAC2-3708-AECC4360C651}"/>
              </a:ext>
            </a:extLst>
          </p:cNvPr>
          <p:cNvSpPr>
            <a:spLocks noGrp="1"/>
          </p:cNvSpPr>
          <p:nvPr>
            <p:ph type="title"/>
          </p:nvPr>
        </p:nvSpPr>
        <p:spPr>
          <a:xfrm>
            <a:off x="594360" y="557784"/>
            <a:ext cx="3595634" cy="2212313"/>
          </a:xfrm>
        </p:spPr>
        <p:txBody>
          <a:bodyPr anchor="t">
            <a:normAutofit/>
          </a:bodyPr>
          <a:lstStyle>
            <a:lvl1pPr>
              <a:defRPr sz="2800"/>
            </a:lvl1pPr>
          </a:lstStyle>
          <a:p>
            <a:r>
              <a:rPr lang="en-US"/>
              <a:t>Click to edit Master title style</a:t>
            </a:r>
            <a:endParaRPr lang="en-US" dirty="0"/>
          </a:p>
        </p:txBody>
      </p:sp>
      <p:sp>
        <p:nvSpPr>
          <p:cNvPr id="3" name="Picture Placeholder 2">
            <a:extLst>
              <a:ext uri="{FF2B5EF4-FFF2-40B4-BE49-F238E27FC236}">
                <a16:creationId xmlns:a16="http://schemas.microsoft.com/office/drawing/2014/main" id="{9571C769-CEC8-962A-01E6-15B0E056791E}"/>
              </a:ext>
            </a:extLst>
          </p:cNvPr>
          <p:cNvSpPr>
            <a:spLocks noGrp="1"/>
          </p:cNvSpPr>
          <p:nvPr>
            <p:ph type="pic" idx="1"/>
          </p:nvPr>
        </p:nvSpPr>
        <p:spPr>
          <a:xfrm>
            <a:off x="5063319" y="657103"/>
            <a:ext cx="6483687" cy="5555904"/>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a:extLst>
              <a:ext uri="{FF2B5EF4-FFF2-40B4-BE49-F238E27FC236}">
                <a16:creationId xmlns:a16="http://schemas.microsoft.com/office/drawing/2014/main" id="{F32C4A61-EF2A-C5A5-B150-4448600B3937}"/>
              </a:ext>
            </a:extLst>
          </p:cNvPr>
          <p:cNvSpPr>
            <a:spLocks noGrp="1"/>
          </p:cNvSpPr>
          <p:nvPr>
            <p:ph type="body" sz="half" idx="2"/>
          </p:nvPr>
        </p:nvSpPr>
        <p:spPr>
          <a:xfrm>
            <a:off x="609601" y="2826137"/>
            <a:ext cx="3585586" cy="3434638"/>
          </a:xfrm>
        </p:spPr>
        <p:txBody>
          <a:bodyPr anchor="b"/>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920B235E-39C7-4C78-20EF-DB48ECD9CB90}"/>
              </a:ext>
            </a:extLst>
          </p:cNvPr>
          <p:cNvSpPr>
            <a:spLocks noGrp="1"/>
          </p:cNvSpPr>
          <p:nvPr>
            <p:ph type="dt" sz="half" idx="10"/>
          </p:nvPr>
        </p:nvSpPr>
        <p:spPr/>
        <p:txBody>
          <a:bodyPr/>
          <a:lstStyle/>
          <a:p>
            <a:fld id="{92C5EAEF-6478-4102-8F5D-A5FE9FC97ACB}" type="datetime1">
              <a:rPr lang="en-US" smtClean="0"/>
              <a:t>1/21/26</a:t>
            </a:fld>
            <a:endParaRPr lang="en-US"/>
          </a:p>
        </p:txBody>
      </p:sp>
      <p:sp>
        <p:nvSpPr>
          <p:cNvPr id="6" name="Footer Placeholder 5">
            <a:extLst>
              <a:ext uri="{FF2B5EF4-FFF2-40B4-BE49-F238E27FC236}">
                <a16:creationId xmlns:a16="http://schemas.microsoft.com/office/drawing/2014/main" id="{7FDC75DA-9A78-9AB9-7171-95A08CC51C56}"/>
              </a:ext>
            </a:extLst>
          </p:cNvPr>
          <p:cNvSpPr>
            <a:spLocks noGrp="1"/>
          </p:cNvSpPr>
          <p:nvPr>
            <p:ph type="ftr" sz="quarter" idx="11"/>
          </p:nvPr>
        </p:nvSpPr>
        <p:spPr/>
        <p:txBody>
          <a:bodyPr/>
          <a:lstStyle/>
          <a:p>
            <a:endParaRPr lang="en-US" dirty="0"/>
          </a:p>
        </p:txBody>
      </p:sp>
      <p:sp>
        <p:nvSpPr>
          <p:cNvPr id="7" name="Slide Number Placeholder 6">
            <a:extLst>
              <a:ext uri="{FF2B5EF4-FFF2-40B4-BE49-F238E27FC236}">
                <a16:creationId xmlns:a16="http://schemas.microsoft.com/office/drawing/2014/main" id="{5EFE1A03-DCCB-53C7-DBFE-2AD55C90591B}"/>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41685907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54E956D-CB73-C986-F100-46487310D11E}"/>
              </a:ext>
            </a:extLst>
          </p:cNvPr>
          <p:cNvSpPr>
            <a:spLocks noGrp="1"/>
          </p:cNvSpPr>
          <p:nvPr>
            <p:ph type="title"/>
          </p:nvPr>
        </p:nvSpPr>
        <p:spPr>
          <a:xfrm>
            <a:off x="612648" y="548640"/>
            <a:ext cx="10515600" cy="1132258"/>
          </a:xfrm>
        </p:spPr>
        <p:txBody>
          <a:bodyPr/>
          <a:lstStyle/>
          <a:p>
            <a:r>
              <a:rPr lang="en-US"/>
              <a:t>Click to edit Master title style</a:t>
            </a:r>
          </a:p>
        </p:txBody>
      </p:sp>
      <p:sp>
        <p:nvSpPr>
          <p:cNvPr id="3" name="Vertical Text Placeholder 2">
            <a:extLst>
              <a:ext uri="{FF2B5EF4-FFF2-40B4-BE49-F238E27FC236}">
                <a16:creationId xmlns:a16="http://schemas.microsoft.com/office/drawing/2014/main" id="{FE423E6A-A07C-BF0D-EA30-9A8A854E48F1}"/>
              </a:ext>
            </a:extLst>
          </p:cNvPr>
          <p:cNvSpPr>
            <a:spLocks noGrp="1"/>
          </p:cNvSpPr>
          <p:nvPr>
            <p:ph type="body" orient="vert" idx="1"/>
          </p:nvPr>
        </p:nvSpPr>
        <p:spPr>
          <a:xfrm>
            <a:off x="612648" y="1680898"/>
            <a:ext cx="10515600" cy="44960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EEDC9908-8F95-8DFC-72CC-158552B56735}"/>
              </a:ext>
            </a:extLst>
          </p:cNvPr>
          <p:cNvSpPr>
            <a:spLocks noGrp="1"/>
          </p:cNvSpPr>
          <p:nvPr>
            <p:ph type="dt" sz="half" idx="10"/>
          </p:nvPr>
        </p:nvSpPr>
        <p:spPr/>
        <p:txBody>
          <a:bodyPr/>
          <a:lstStyle/>
          <a:p>
            <a:fld id="{7104EDB3-C0E8-45F8-9E1D-1B6C8D1880C0}" type="datetime1">
              <a:rPr lang="en-US" smtClean="0"/>
              <a:t>1/21/26</a:t>
            </a:fld>
            <a:endParaRPr lang="en-US"/>
          </a:p>
        </p:txBody>
      </p:sp>
      <p:sp>
        <p:nvSpPr>
          <p:cNvPr id="5" name="Footer Placeholder 4">
            <a:extLst>
              <a:ext uri="{FF2B5EF4-FFF2-40B4-BE49-F238E27FC236}">
                <a16:creationId xmlns:a16="http://schemas.microsoft.com/office/drawing/2014/main" id="{2C26C9BE-9060-50CB-2BB7-07307FF89A7A}"/>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A84A835B-97D3-BC22-F0B8-4986D4636271}"/>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937825490"/>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485B0252-346C-F6F4-3642-19F571550D45}"/>
              </a:ext>
            </a:extLst>
          </p:cNvPr>
          <p:cNvSpPr>
            <a:spLocks noGrp="1"/>
          </p:cNvSpPr>
          <p:nvPr>
            <p:ph type="title" orient="vert"/>
          </p:nvPr>
        </p:nvSpPr>
        <p:spPr>
          <a:xfrm>
            <a:off x="9634888" y="578497"/>
            <a:ext cx="2047037" cy="5598466"/>
          </a:xfrm>
        </p:spPr>
        <p:txBody>
          <a:bodyPr vert="eaVert"/>
          <a:lstStyle/>
          <a:p>
            <a:r>
              <a:rPr lang="en-US"/>
              <a:t>Click to edit Master title style</a:t>
            </a:r>
            <a:endParaRPr lang="en-US" dirty="0"/>
          </a:p>
        </p:txBody>
      </p:sp>
      <p:sp>
        <p:nvSpPr>
          <p:cNvPr id="3" name="Vertical Text Placeholder 2">
            <a:extLst>
              <a:ext uri="{FF2B5EF4-FFF2-40B4-BE49-F238E27FC236}">
                <a16:creationId xmlns:a16="http://schemas.microsoft.com/office/drawing/2014/main" id="{F798DA36-7351-9D6A-518B-678AB8A507D3}"/>
              </a:ext>
            </a:extLst>
          </p:cNvPr>
          <p:cNvSpPr>
            <a:spLocks noGrp="1"/>
          </p:cNvSpPr>
          <p:nvPr>
            <p:ph type="body" orient="vert" idx="1"/>
          </p:nvPr>
        </p:nvSpPr>
        <p:spPr>
          <a:xfrm>
            <a:off x="838200" y="578497"/>
            <a:ext cx="8796688" cy="559846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8846BDFF-D746-836C-04B8-CA89AD5D1466}"/>
              </a:ext>
            </a:extLst>
          </p:cNvPr>
          <p:cNvSpPr>
            <a:spLocks noGrp="1"/>
          </p:cNvSpPr>
          <p:nvPr>
            <p:ph type="dt" sz="half" idx="10"/>
          </p:nvPr>
        </p:nvSpPr>
        <p:spPr/>
        <p:txBody>
          <a:bodyPr/>
          <a:lstStyle/>
          <a:p>
            <a:fld id="{9CF0EC4B-54ED-4041-B552-9BA760FA3DBA}" type="datetime1">
              <a:rPr lang="en-US" smtClean="0"/>
              <a:t>1/21/26</a:t>
            </a:fld>
            <a:endParaRPr lang="en-US"/>
          </a:p>
        </p:txBody>
      </p:sp>
      <p:sp>
        <p:nvSpPr>
          <p:cNvPr id="5" name="Footer Placeholder 4">
            <a:extLst>
              <a:ext uri="{FF2B5EF4-FFF2-40B4-BE49-F238E27FC236}">
                <a16:creationId xmlns:a16="http://schemas.microsoft.com/office/drawing/2014/main" id="{919AA929-A9E6-FF9C-0C59-177F892D6A69}"/>
              </a:ext>
            </a:extLst>
          </p:cNvPr>
          <p:cNvSpPr>
            <a:spLocks noGrp="1"/>
          </p:cNvSpPr>
          <p:nvPr>
            <p:ph type="ftr" sz="quarter" idx="11"/>
          </p:nvPr>
        </p:nvSpPr>
        <p:spPr/>
        <p:txBody>
          <a:bodyPr/>
          <a:lstStyle/>
          <a:p>
            <a:endParaRPr lang="en-US" dirty="0"/>
          </a:p>
        </p:txBody>
      </p:sp>
      <p:sp>
        <p:nvSpPr>
          <p:cNvPr id="6" name="Slide Number Placeholder 5">
            <a:extLst>
              <a:ext uri="{FF2B5EF4-FFF2-40B4-BE49-F238E27FC236}">
                <a16:creationId xmlns:a16="http://schemas.microsoft.com/office/drawing/2014/main" id="{9316D893-7E81-90DC-4139-7687B39C3AC8}"/>
              </a:ext>
            </a:extLst>
          </p:cNvPr>
          <p:cNvSpPr>
            <a:spLocks noGrp="1"/>
          </p:cNvSpPr>
          <p:nvPr>
            <p:ph type="sldNum" sz="quarter" idx="12"/>
          </p:nvPr>
        </p:nvSpPr>
        <p:spPr/>
        <p:txBody>
          <a:bodyPr/>
          <a:lstStyle/>
          <a:p>
            <a:fld id="{CC057153-B650-4DEB-B370-79DDCFDCE934}" type="slidenum">
              <a:rPr lang="en-US" smtClean="0"/>
              <a:t>‹#›</a:t>
            </a:fld>
            <a:endParaRPr lang="en-US"/>
          </a:p>
        </p:txBody>
      </p:sp>
    </p:spTree>
    <p:extLst>
      <p:ext uri="{BB962C8B-B14F-4D97-AF65-F5344CB8AC3E}">
        <p14:creationId xmlns:p14="http://schemas.microsoft.com/office/powerpoint/2010/main" val="690911822"/>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475BFB69-9245-EC58-F1DE-FEB625BD336A}"/>
              </a:ext>
            </a:extLst>
          </p:cNvPr>
          <p:cNvSpPr>
            <a:spLocks noGrp="1"/>
          </p:cNvSpPr>
          <p:nvPr>
            <p:ph type="title"/>
          </p:nvPr>
        </p:nvSpPr>
        <p:spPr>
          <a:xfrm>
            <a:off x="612648" y="548640"/>
            <a:ext cx="10653578" cy="1132258"/>
          </a:xfrm>
          <a:prstGeom prst="rect">
            <a:avLst/>
          </a:prstGeom>
        </p:spPr>
        <p:txBody>
          <a:bodyPr vert="horz" lIns="91440" tIns="45720" rIns="91440" bIns="45720" rtlCol="0" anchor="t">
            <a:normAutofit/>
          </a:bodyPr>
          <a:lstStyle/>
          <a:p>
            <a:r>
              <a:rPr lang="en-US"/>
              <a:t>Click to edit Master title style</a:t>
            </a:r>
            <a:endParaRPr lang="en-US" dirty="0"/>
          </a:p>
        </p:txBody>
      </p:sp>
      <p:sp>
        <p:nvSpPr>
          <p:cNvPr id="3" name="Text Placeholder 2">
            <a:extLst>
              <a:ext uri="{FF2B5EF4-FFF2-40B4-BE49-F238E27FC236}">
                <a16:creationId xmlns:a16="http://schemas.microsoft.com/office/drawing/2014/main" id="{5516AFD5-5144-C460-0CA4-644BC4A93C02}"/>
              </a:ext>
            </a:extLst>
          </p:cNvPr>
          <p:cNvSpPr>
            <a:spLocks noGrp="1"/>
          </p:cNvSpPr>
          <p:nvPr>
            <p:ph type="body" idx="1"/>
          </p:nvPr>
        </p:nvSpPr>
        <p:spPr>
          <a:xfrm>
            <a:off x="612647" y="1715532"/>
            <a:ext cx="10653579" cy="459382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US" dirty="0"/>
          </a:p>
        </p:txBody>
      </p:sp>
      <p:sp>
        <p:nvSpPr>
          <p:cNvPr id="4" name="Date Placeholder 3">
            <a:extLst>
              <a:ext uri="{FF2B5EF4-FFF2-40B4-BE49-F238E27FC236}">
                <a16:creationId xmlns:a16="http://schemas.microsoft.com/office/drawing/2014/main" id="{3995753E-AF8A-7E04-8A1A-205B755A0215}"/>
              </a:ext>
            </a:extLst>
          </p:cNvPr>
          <p:cNvSpPr>
            <a:spLocks noGrp="1"/>
          </p:cNvSpPr>
          <p:nvPr>
            <p:ph type="dt" sz="half" idx="2"/>
          </p:nvPr>
        </p:nvSpPr>
        <p:spPr>
          <a:xfrm>
            <a:off x="137160" y="6453002"/>
            <a:ext cx="3494314" cy="365125"/>
          </a:xfrm>
          <a:prstGeom prst="rect">
            <a:avLst/>
          </a:prstGeom>
        </p:spPr>
        <p:txBody>
          <a:bodyPr vert="horz" lIns="91440" tIns="45720" rIns="91440" bIns="45720" rtlCol="0" anchor="ctr"/>
          <a:lstStyle>
            <a:lvl1pPr algn="l">
              <a:defRPr sz="900">
                <a:solidFill>
                  <a:schemeClr val="tx1"/>
                </a:solidFill>
              </a:defRPr>
            </a:lvl1pPr>
          </a:lstStyle>
          <a:p>
            <a:fld id="{67F45AC6-C491-4585-A584-9CE2AF7D5500}" type="datetime1">
              <a:rPr lang="en-US" smtClean="0"/>
              <a:t>1/21/26</a:t>
            </a:fld>
            <a:endParaRPr lang="en-US"/>
          </a:p>
        </p:txBody>
      </p:sp>
      <p:sp>
        <p:nvSpPr>
          <p:cNvPr id="5" name="Footer Placeholder 4">
            <a:extLst>
              <a:ext uri="{FF2B5EF4-FFF2-40B4-BE49-F238E27FC236}">
                <a16:creationId xmlns:a16="http://schemas.microsoft.com/office/drawing/2014/main" id="{D4E1B7C8-DA74-800B-EE14-A39E9DB32DE4}"/>
              </a:ext>
            </a:extLst>
          </p:cNvPr>
          <p:cNvSpPr>
            <a:spLocks noGrp="1"/>
          </p:cNvSpPr>
          <p:nvPr>
            <p:ph type="ftr" sz="quarter" idx="3"/>
          </p:nvPr>
        </p:nvSpPr>
        <p:spPr>
          <a:xfrm>
            <a:off x="8876521" y="6453002"/>
            <a:ext cx="2805405" cy="365125"/>
          </a:xfrm>
          <a:prstGeom prst="rect">
            <a:avLst/>
          </a:prstGeom>
        </p:spPr>
        <p:txBody>
          <a:bodyPr vert="horz" lIns="91440" tIns="45720" rIns="91440" bIns="45720" rtlCol="0" anchor="ctr"/>
          <a:lstStyle>
            <a:lvl1pPr algn="r">
              <a:defRPr sz="900">
                <a:solidFill>
                  <a:schemeClr val="tx1"/>
                </a:solidFill>
              </a:defRPr>
            </a:lvl1pPr>
          </a:lstStyle>
          <a:p>
            <a:endParaRPr lang="en-US" dirty="0"/>
          </a:p>
        </p:txBody>
      </p:sp>
      <p:sp>
        <p:nvSpPr>
          <p:cNvPr id="6" name="Slide Number Placeholder 5">
            <a:extLst>
              <a:ext uri="{FF2B5EF4-FFF2-40B4-BE49-F238E27FC236}">
                <a16:creationId xmlns:a16="http://schemas.microsoft.com/office/drawing/2014/main" id="{7AC1647D-0DF0-CA1B-F723-EF7B8F508DB7}"/>
              </a:ext>
            </a:extLst>
          </p:cNvPr>
          <p:cNvSpPr>
            <a:spLocks noGrp="1"/>
          </p:cNvSpPr>
          <p:nvPr>
            <p:ph type="sldNum" sz="quarter" idx="4"/>
          </p:nvPr>
        </p:nvSpPr>
        <p:spPr>
          <a:xfrm>
            <a:off x="11632162" y="6453002"/>
            <a:ext cx="429207" cy="365125"/>
          </a:xfrm>
          <a:prstGeom prst="rect">
            <a:avLst/>
          </a:prstGeom>
        </p:spPr>
        <p:txBody>
          <a:bodyPr vert="horz" lIns="91440" tIns="45720" rIns="91440" bIns="45720" rtlCol="0" anchor="ctr"/>
          <a:lstStyle>
            <a:lvl1pPr algn="r">
              <a:defRPr sz="900">
                <a:solidFill>
                  <a:schemeClr val="tx1"/>
                </a:solidFill>
              </a:defRPr>
            </a:lvl1pPr>
          </a:lstStyle>
          <a:p>
            <a:fld id="{CC057153-B650-4DEB-B370-79DDCFDCE934}" type="slidenum">
              <a:rPr lang="en-US" smtClean="0"/>
              <a:t>‹#›</a:t>
            </a:fld>
            <a:endParaRPr lang="en-US"/>
          </a:p>
        </p:txBody>
      </p:sp>
    </p:spTree>
    <p:extLst>
      <p:ext uri="{BB962C8B-B14F-4D97-AF65-F5344CB8AC3E}">
        <p14:creationId xmlns:p14="http://schemas.microsoft.com/office/powerpoint/2010/main" val="3741422709"/>
      </p:ext>
    </p:extLst>
  </p:cSld>
  <p:clrMap bg1="lt1" tx1="dk1" bg2="lt2" tx2="dk2" accent1="accent1" accent2="accent2" accent3="accent3" accent4="accent4" accent5="accent5" accent6="accent6" hlink="hlink" folHlink="folHlink"/>
  <p:sldLayoutIdLst>
    <p:sldLayoutId id="2147483662" r:id="rId1"/>
    <p:sldLayoutId id="2147483663" r:id="rId2"/>
    <p:sldLayoutId id="2147483664" r:id="rId3"/>
    <p:sldLayoutId id="2147483665" r:id="rId4"/>
    <p:sldLayoutId id="2147483666" r:id="rId5"/>
    <p:sldLayoutId id="2147483672" r:id="rId6"/>
    <p:sldLayoutId id="2147483667" r:id="rId7"/>
    <p:sldLayoutId id="2147483668" r:id="rId8"/>
    <p:sldLayoutId id="2147483669" r:id="rId9"/>
    <p:sldLayoutId id="2147483671" r:id="rId10"/>
    <p:sldLayoutId id="2147483670" r:id="rId11"/>
  </p:sldLayoutIdLst>
  <p:hf sldNum="0" hdr="0" ftr="0" dt="0"/>
  <p:txStyles>
    <p:titleStyle>
      <a:lvl1pPr algn="l" defTabSz="914400" rtl="0" eaLnBrk="1" latinLnBrk="0" hangingPunct="1">
        <a:lnSpc>
          <a:spcPct val="90000"/>
        </a:lnSpc>
        <a:spcBef>
          <a:spcPct val="0"/>
        </a:spcBef>
        <a:buNone/>
        <a:defRPr sz="3600" b="1" kern="1200">
          <a:solidFill>
            <a:schemeClr val="tx1"/>
          </a:solidFill>
          <a:latin typeface="+mj-lt"/>
          <a:ea typeface="+mj-ea"/>
          <a:cs typeface="+mj-cs"/>
        </a:defRPr>
      </a:lvl1pPr>
    </p:titleStyle>
    <p:bodyStyle>
      <a:lvl1pPr marL="228600" indent="-228600" algn="l" defTabSz="914400" rtl="0" eaLnBrk="1" latinLnBrk="0" hangingPunct="1">
        <a:lnSpc>
          <a:spcPct val="120000"/>
        </a:lnSpc>
        <a:spcBef>
          <a:spcPts val="1000"/>
        </a:spcBef>
        <a:buFont typeface="Arial" panose="020B0604020202020204" pitchFamily="34" charset="0"/>
        <a:buChar char="•"/>
        <a:defRPr sz="2000" kern="1200">
          <a:solidFill>
            <a:schemeClr val="tx1"/>
          </a:solidFill>
          <a:latin typeface="+mn-lt"/>
          <a:ea typeface="+mn-ea"/>
          <a:cs typeface="+mn-cs"/>
        </a:defRPr>
      </a:lvl1pPr>
      <a:lvl2pPr marL="457200" indent="-228600" algn="l" defTabSz="914400" rtl="0" eaLnBrk="1" latinLnBrk="0" hangingPunct="1">
        <a:lnSpc>
          <a:spcPct val="120000"/>
        </a:lnSpc>
        <a:spcBef>
          <a:spcPts val="500"/>
        </a:spcBef>
        <a:buFont typeface="Arial" panose="020B0604020202020204" pitchFamily="34" charset="0"/>
        <a:buChar char="•"/>
        <a:defRPr sz="1800" kern="1200">
          <a:solidFill>
            <a:schemeClr val="tx1"/>
          </a:solidFill>
          <a:latin typeface="+mn-lt"/>
          <a:ea typeface="+mn-ea"/>
          <a:cs typeface="+mn-cs"/>
        </a:defRPr>
      </a:lvl2pPr>
      <a:lvl3pPr marL="685800" indent="-228600" algn="l" defTabSz="914400" rtl="0" eaLnBrk="1" latinLnBrk="0" hangingPunct="1">
        <a:lnSpc>
          <a:spcPct val="120000"/>
        </a:lnSpc>
        <a:spcBef>
          <a:spcPts val="500"/>
        </a:spcBef>
        <a:buFont typeface="Arial" panose="020B0604020202020204" pitchFamily="34" charset="0"/>
        <a:buChar char="•"/>
        <a:defRPr sz="1600" kern="1200">
          <a:solidFill>
            <a:schemeClr val="tx1"/>
          </a:solidFill>
          <a:latin typeface="+mn-lt"/>
          <a:ea typeface="+mn-ea"/>
          <a:cs typeface="+mn-cs"/>
        </a:defRPr>
      </a:lvl3pPr>
      <a:lvl4pPr marL="914400" indent="-228600" algn="l" defTabSz="914400" rtl="0" eaLnBrk="1" latinLnBrk="0" hangingPunct="1">
        <a:lnSpc>
          <a:spcPct val="120000"/>
        </a:lnSpc>
        <a:spcBef>
          <a:spcPts val="500"/>
        </a:spcBef>
        <a:buFont typeface="Arial" panose="020B0604020202020204" pitchFamily="34" charset="0"/>
        <a:buChar char="•"/>
        <a:defRPr sz="1400" kern="1200">
          <a:solidFill>
            <a:schemeClr val="tx1"/>
          </a:solidFill>
          <a:latin typeface="+mn-lt"/>
          <a:ea typeface="+mn-ea"/>
          <a:cs typeface="+mn-cs"/>
        </a:defRPr>
      </a:lvl4pPr>
      <a:lvl5pPr marL="1143000" indent="-228600" algn="l" defTabSz="914400" rtl="0" eaLnBrk="1" latinLnBrk="0" hangingPunct="1">
        <a:lnSpc>
          <a:spcPct val="120000"/>
        </a:lnSpc>
        <a:spcBef>
          <a:spcPts val="500"/>
        </a:spcBef>
        <a:buFont typeface="Arial" panose="020B0604020202020204" pitchFamily="34" charset="0"/>
        <a:buChar char="•"/>
        <a:defRPr sz="12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6.jpeg"/><Relationship Id="rId1" Type="http://schemas.openxmlformats.org/officeDocument/2006/relationships/slideLayout" Target="../slideLayouts/slideLayout3.xml"/></Relationships>
</file>

<file path=ppt/slides/_rels/slide11.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7.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6E448DB1-4196-18A6-15DA-C72635C1B1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pic>
        <p:nvPicPr>
          <p:cNvPr id="4" name="Picture 3" descr="Cloudy oil paint art">
            <a:extLst>
              <a:ext uri="{FF2B5EF4-FFF2-40B4-BE49-F238E27FC236}">
                <a16:creationId xmlns:a16="http://schemas.microsoft.com/office/drawing/2014/main" id="{3BD7D9CB-CF65-B4FF-6F54-5AEA91BF0A18}"/>
              </a:ext>
            </a:extLst>
          </p:cNvPr>
          <p:cNvPicPr>
            <a:picLocks noChangeAspect="1"/>
          </p:cNvPicPr>
          <p:nvPr/>
        </p:nvPicPr>
        <p:blipFill>
          <a:blip r:embed="rId2"/>
          <a:srcRect t="15257" b="474"/>
          <a:stretch>
            <a:fillRect/>
          </a:stretch>
        </p:blipFill>
        <p:spPr>
          <a:xfrm>
            <a:off x="20" y="10"/>
            <a:ext cx="12191980" cy="6857990"/>
          </a:xfrm>
          <a:prstGeom prst="rect">
            <a:avLst/>
          </a:prstGeom>
        </p:spPr>
      </p:pic>
      <p:sp>
        <p:nvSpPr>
          <p:cNvPr id="11" name="Rectangle 10">
            <a:extLst>
              <a:ext uri="{FF2B5EF4-FFF2-40B4-BE49-F238E27FC236}">
                <a16:creationId xmlns:a16="http://schemas.microsoft.com/office/drawing/2014/main" id="{DF15DF8A-891A-1965-E372-1BA1F3B945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507179" y="173179"/>
            <a:ext cx="6858002" cy="6511640"/>
          </a:xfrm>
          <a:prstGeom prst="rect">
            <a:avLst/>
          </a:prstGeom>
          <a:gradFill>
            <a:gsLst>
              <a:gs pos="0">
                <a:schemeClr val="bg1">
                  <a:alpha val="0"/>
                </a:schemeClr>
              </a:gs>
              <a:gs pos="46000">
                <a:schemeClr val="bg1">
                  <a:alpha val="33000"/>
                </a:schemeClr>
              </a:gs>
              <a:gs pos="26000">
                <a:schemeClr val="bg1">
                  <a:alpha val="20000"/>
                </a:schemeClr>
              </a:gs>
              <a:gs pos="100000">
                <a:schemeClr val="bg1">
                  <a:alpha val="45000"/>
                </a:schemeClr>
              </a:gs>
            </a:gsLst>
            <a:lin ang="5400000" scaled="1"/>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Neue Haas Grotesk Text Pro"/>
              <a:ea typeface="+mn-ea"/>
              <a:cs typeface="+mn-cs"/>
            </a:endParaRPr>
          </a:p>
        </p:txBody>
      </p:sp>
      <p:sp>
        <p:nvSpPr>
          <p:cNvPr id="2" name="Title 1">
            <a:extLst>
              <a:ext uri="{FF2B5EF4-FFF2-40B4-BE49-F238E27FC236}">
                <a16:creationId xmlns:a16="http://schemas.microsoft.com/office/drawing/2014/main" id="{99A07CE9-56B5-DE68-07A0-A943D92CC908}"/>
              </a:ext>
            </a:extLst>
          </p:cNvPr>
          <p:cNvSpPr>
            <a:spLocks noGrp="1"/>
          </p:cNvSpPr>
          <p:nvPr>
            <p:ph type="ctrTitle"/>
          </p:nvPr>
        </p:nvSpPr>
        <p:spPr>
          <a:xfrm>
            <a:off x="7473219" y="898373"/>
            <a:ext cx="4470544" cy="3474720"/>
          </a:xfrm>
        </p:spPr>
        <p:txBody>
          <a:bodyPr anchor="b">
            <a:normAutofit/>
          </a:bodyPr>
          <a:lstStyle/>
          <a:p>
            <a:pPr algn="l"/>
            <a:endParaRPr lang="en-US" sz="5800"/>
          </a:p>
        </p:txBody>
      </p:sp>
      <p:sp>
        <p:nvSpPr>
          <p:cNvPr id="3" name="Subtitle 2">
            <a:extLst>
              <a:ext uri="{FF2B5EF4-FFF2-40B4-BE49-F238E27FC236}">
                <a16:creationId xmlns:a16="http://schemas.microsoft.com/office/drawing/2014/main" id="{29E0EFEE-7EB1-B2F1-BA21-F2030A3A283C}"/>
              </a:ext>
            </a:extLst>
          </p:cNvPr>
          <p:cNvSpPr>
            <a:spLocks noGrp="1"/>
          </p:cNvSpPr>
          <p:nvPr>
            <p:ph type="subTitle" idx="1"/>
          </p:nvPr>
        </p:nvSpPr>
        <p:spPr>
          <a:xfrm>
            <a:off x="7482646" y="4495013"/>
            <a:ext cx="4116410" cy="1386840"/>
          </a:xfrm>
        </p:spPr>
        <p:txBody>
          <a:bodyPr anchor="t">
            <a:normAutofit/>
          </a:bodyPr>
          <a:lstStyle/>
          <a:p>
            <a:pPr algn="l"/>
            <a:endParaRPr lang="en-US" sz="2200"/>
          </a:p>
        </p:txBody>
      </p:sp>
    </p:spTree>
    <p:extLst>
      <p:ext uri="{BB962C8B-B14F-4D97-AF65-F5344CB8AC3E}">
        <p14:creationId xmlns:p14="http://schemas.microsoft.com/office/powerpoint/2010/main" val="2991161757"/>
      </p:ext>
    </p:extLst>
  </p:cSld>
  <p:clrMapOvr>
    <a:overrideClrMapping bg1="dk1" tx1="lt1" bg2="dk2" tx2="lt2" accent1="accent1" accent2="accent2" accent3="accent3" accent4="accent4" accent5="accent5" accent6="accent6" hlink="hlink" folHlink="folHlink"/>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descr="A diagram of a website&#10;&#10;AI-generated content may be incorrect.">
            <a:extLst>
              <a:ext uri="{FF2B5EF4-FFF2-40B4-BE49-F238E27FC236}">
                <a16:creationId xmlns:a16="http://schemas.microsoft.com/office/drawing/2014/main" id="{33A19664-C765-6903-77E2-D334375B73B6}"/>
              </a:ext>
            </a:extLst>
          </p:cNvPr>
          <p:cNvPicPr>
            <a:picLocks noChangeAspect="1"/>
          </p:cNvPicPr>
          <p:nvPr/>
        </p:nvPicPr>
        <p:blipFill>
          <a:blip r:embed="rId2"/>
          <a:stretch>
            <a:fillRect/>
          </a:stretch>
        </p:blipFill>
        <p:spPr>
          <a:xfrm>
            <a:off x="1409700" y="488949"/>
            <a:ext cx="8949080" cy="5614395"/>
          </a:xfrm>
          <a:prstGeom prst="rect">
            <a:avLst/>
          </a:prstGeom>
        </p:spPr>
      </p:pic>
    </p:spTree>
    <p:extLst>
      <p:ext uri="{BB962C8B-B14F-4D97-AF65-F5344CB8AC3E}">
        <p14:creationId xmlns:p14="http://schemas.microsoft.com/office/powerpoint/2010/main" val="306322567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9FDE1A7-0879-FC34-700E-7AAEA0B55E52}"/>
            </a:ext>
          </a:extLst>
        </p:cNvPr>
        <p:cNvGrpSpPr/>
        <p:nvPr/>
      </p:nvGrpSpPr>
      <p:grpSpPr>
        <a:xfrm>
          <a:off x="0" y="0"/>
          <a:ext cx="0" cy="0"/>
          <a:chOff x="0" y="0"/>
          <a:chExt cx="0" cy="0"/>
        </a:xfrm>
      </p:grpSpPr>
      <p:pic>
        <p:nvPicPr>
          <p:cNvPr id="5" name="Picture 4" descr="A diagram of a website&#10;&#10;AI-generated content may be incorrect.">
            <a:extLst>
              <a:ext uri="{FF2B5EF4-FFF2-40B4-BE49-F238E27FC236}">
                <a16:creationId xmlns:a16="http://schemas.microsoft.com/office/drawing/2014/main" id="{BC895C7E-DFD4-8FCC-3A19-632B350D3190}"/>
              </a:ext>
            </a:extLst>
          </p:cNvPr>
          <p:cNvPicPr>
            <a:picLocks noChangeAspect="1"/>
          </p:cNvPicPr>
          <p:nvPr/>
        </p:nvPicPr>
        <p:blipFill>
          <a:blip r:embed="rId2"/>
          <a:stretch>
            <a:fillRect/>
          </a:stretch>
        </p:blipFill>
        <p:spPr>
          <a:xfrm>
            <a:off x="7370284" y="121340"/>
            <a:ext cx="4821717" cy="3025007"/>
          </a:xfrm>
          <a:prstGeom prst="rect">
            <a:avLst/>
          </a:prstGeom>
        </p:spPr>
      </p:pic>
      <p:sp>
        <p:nvSpPr>
          <p:cNvPr id="3" name="TextBox 2">
            <a:extLst>
              <a:ext uri="{FF2B5EF4-FFF2-40B4-BE49-F238E27FC236}">
                <a16:creationId xmlns:a16="http://schemas.microsoft.com/office/drawing/2014/main" id="{33FC2053-238D-04C5-1EBC-5E8E35B4344D}"/>
              </a:ext>
            </a:extLst>
          </p:cNvPr>
          <p:cNvSpPr txBox="1"/>
          <p:nvPr/>
        </p:nvSpPr>
        <p:spPr>
          <a:xfrm>
            <a:off x="220337" y="3711654"/>
            <a:ext cx="11751325" cy="3046988"/>
          </a:xfrm>
          <a:prstGeom prst="rect">
            <a:avLst/>
          </a:prstGeom>
          <a:noFill/>
        </p:spPr>
        <p:txBody>
          <a:bodyPr wrap="square">
            <a:spAutoFit/>
          </a:bodyPr>
          <a:lstStyle/>
          <a:p>
            <a:pPr marL="342900" indent="-342900">
              <a:buFont typeface="+mj-lt"/>
              <a:buAutoNum type="arabicPeriod"/>
            </a:pPr>
            <a:endParaRPr lang="en-US" sz="1600" dirty="0">
              <a:latin typeface="Segoe UI" panose="020B0502040204020203" pitchFamily="34" charset="0"/>
              <a:cs typeface="Segoe UI" panose="020B0502040204020203" pitchFamily="34" charset="0"/>
            </a:endParaRPr>
          </a:p>
          <a:p>
            <a:pPr marL="342900" indent="-342900">
              <a:buFont typeface="+mj-lt"/>
              <a:buAutoNum type="arabicPeriod"/>
            </a:pPr>
            <a:r>
              <a:rPr lang="en-US" sz="1600" dirty="0">
                <a:latin typeface="Segoe UI" panose="020B0502040204020203" pitchFamily="34" charset="0"/>
                <a:cs typeface="Segoe UI" panose="020B0502040204020203" pitchFamily="34" charset="0"/>
              </a:rPr>
              <a:t>Services are described for humans. The language for "services" and "tools" is HTML, rendered as text. Services accessed via HTTP.</a:t>
            </a:r>
          </a:p>
          <a:p>
            <a:pPr marL="342900" indent="-342900">
              <a:buFont typeface="+mj-lt"/>
              <a:buAutoNum type="arabicPeriod"/>
            </a:pPr>
            <a:r>
              <a:rPr lang="en-US" sz="1600" dirty="0">
                <a:latin typeface="Segoe UI" panose="020B0502040204020203" pitchFamily="34" charset="0"/>
                <a:cs typeface="Segoe UI" panose="020B0502040204020203" pitchFamily="34" charset="0"/>
              </a:rPr>
              <a:t>The description is </a:t>
            </a:r>
            <a:r>
              <a:rPr lang="en-US" sz="1600" b="1" dirty="0">
                <a:latin typeface="Segoe UI" panose="020B0502040204020203" pitchFamily="34" charset="0"/>
                <a:cs typeface="Segoe UI" panose="020B0502040204020203" pitchFamily="34" charset="0"/>
              </a:rPr>
              <a:t>comprehensive</a:t>
            </a:r>
            <a:r>
              <a:rPr lang="en-US" sz="1600" dirty="0">
                <a:latin typeface="Segoe UI" panose="020B0502040204020203" pitchFamily="34" charset="0"/>
                <a:cs typeface="Segoe UI" panose="020B0502040204020203" pitchFamily="34" charset="0"/>
              </a:rPr>
              <a:t>, in addition to navigation being </a:t>
            </a:r>
            <a:r>
              <a:rPr lang="en-US" sz="1600" b="1" dirty="0">
                <a:latin typeface="Segoe UI" panose="020B0502040204020203" pitchFamily="34" charset="0"/>
                <a:cs typeface="Segoe UI" panose="020B0502040204020203" pitchFamily="34" charset="0"/>
              </a:rPr>
              <a:t>guided</a:t>
            </a:r>
            <a:r>
              <a:rPr lang="en-US" sz="1600" dirty="0">
                <a:latin typeface="Segoe UI" panose="020B0502040204020203" pitchFamily="34" charset="0"/>
                <a:cs typeface="Segoe UI" panose="020B0502040204020203" pitchFamily="34" charset="0"/>
              </a:rPr>
              <a:t>. The web pages drive and guide the interaction through the provider's services. Pages describe the provider, the services and how they fit.</a:t>
            </a:r>
          </a:p>
          <a:p>
            <a:pPr marL="342900" indent="-342900">
              <a:buFont typeface="+mj-lt"/>
              <a:buAutoNum type="arabicPeriod"/>
            </a:pPr>
            <a:r>
              <a:rPr lang="en-US" sz="1600" dirty="0">
                <a:latin typeface="Segoe UI" panose="020B0502040204020203" pitchFamily="34" charset="0"/>
                <a:cs typeface="Segoe UI" panose="020B0502040204020203" pitchFamily="34" charset="0"/>
              </a:rPr>
              <a:t>Humans ARE the agent, their actions are just "mediated" by the browser. AI has no autonomy. Humans know what they want (kind of) and drive the "browser". No need to describe it. There is </a:t>
            </a:r>
            <a:r>
              <a:rPr lang="en-US" sz="1600" b="1" dirty="0">
                <a:latin typeface="Segoe UI" panose="020B0502040204020203" pitchFamily="34" charset="0"/>
                <a:cs typeface="Segoe UI" panose="020B0502040204020203" pitchFamily="34" charset="0"/>
              </a:rPr>
              <a:t>no "autonomy leash"</a:t>
            </a:r>
            <a:r>
              <a:rPr lang="en-US" sz="1600" dirty="0">
                <a:latin typeface="Segoe UI" panose="020B0502040204020203" pitchFamily="34" charset="0"/>
                <a:cs typeface="Segoe UI" panose="020B0502040204020203" pitchFamily="34" charset="0"/>
              </a:rPr>
              <a:t> or "autonomy slider" problem.</a:t>
            </a:r>
          </a:p>
          <a:p>
            <a:pPr marL="342900" indent="-342900">
              <a:buFont typeface="+mj-lt"/>
              <a:buAutoNum type="arabicPeriod"/>
            </a:pPr>
            <a:r>
              <a:rPr lang="en-US" sz="1600" dirty="0">
                <a:latin typeface="Segoe UI" panose="020B0502040204020203" pitchFamily="34" charset="0"/>
                <a:cs typeface="Segoe UI" panose="020B0502040204020203" pitchFamily="34" charset="0"/>
              </a:rPr>
              <a:t>Upgrades are quite manageable: web pages can change, humans will adapt.</a:t>
            </a:r>
          </a:p>
          <a:p>
            <a:pPr marL="342900" indent="-342900">
              <a:buFont typeface="+mj-lt"/>
              <a:buAutoNum type="arabicPeriod"/>
            </a:pPr>
            <a:r>
              <a:rPr lang="en-US" sz="1600" dirty="0">
                <a:latin typeface="Segoe UI" panose="020B0502040204020203" pitchFamily="34" charset="0"/>
                <a:cs typeface="Segoe UI" panose="020B0502040204020203" pitchFamily="34" charset="0"/>
              </a:rPr>
              <a:t>Effectiveness is measured via user studies at first, A/B testing, and tools that monitor user journeys. Testing software.</a:t>
            </a:r>
          </a:p>
          <a:p>
            <a:pPr marL="342900" indent="-342900">
              <a:buFont typeface="+mj-lt"/>
              <a:buAutoNum type="arabicPeriod"/>
            </a:pPr>
            <a:r>
              <a:rPr lang="en-US" sz="1600" dirty="0">
                <a:latin typeface="Segoe UI" panose="020B0502040204020203" pitchFamily="34" charset="0"/>
                <a:cs typeface="Segoe UI" panose="020B0502040204020203" pitchFamily="34" charset="0"/>
              </a:rPr>
              <a:t>Errors and threats come from badly written pages, and (now) fairly well-known web attacks. Software clients are a few, widely-tested browsers</a:t>
            </a:r>
          </a:p>
          <a:p>
            <a:pPr marL="342900" indent="-342900">
              <a:buFont typeface="+mj-lt"/>
              <a:buAutoNum type="arabicPeriod"/>
            </a:pPr>
            <a:r>
              <a:rPr lang="en-US" sz="1600" dirty="0">
                <a:latin typeface="Segoe UI" panose="020B0502040204020203" pitchFamily="34" charset="0"/>
                <a:cs typeface="Segoe UI" panose="020B0502040204020203" pitchFamily="34" charset="0"/>
              </a:rPr>
              <a:t>Errors and undesirable behaviors are usually easily “visible” /detectable</a:t>
            </a:r>
          </a:p>
        </p:txBody>
      </p:sp>
    </p:spTree>
    <p:extLst>
      <p:ext uri="{BB962C8B-B14F-4D97-AF65-F5344CB8AC3E}">
        <p14:creationId xmlns:p14="http://schemas.microsoft.com/office/powerpoint/2010/main" val="20660768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service&#10;&#10;AI-generated content may be incorrect.">
            <a:extLst>
              <a:ext uri="{FF2B5EF4-FFF2-40B4-BE49-F238E27FC236}">
                <a16:creationId xmlns:a16="http://schemas.microsoft.com/office/drawing/2014/main" id="{7921CC38-2FD7-0049-6E86-0D3D865016A7}"/>
              </a:ext>
            </a:extLst>
          </p:cNvPr>
          <p:cNvPicPr>
            <a:picLocks noGrp="1" noChangeAspect="1"/>
          </p:cNvPicPr>
          <p:nvPr>
            <p:ph idx="1"/>
          </p:nvPr>
        </p:nvPicPr>
        <p:blipFill>
          <a:blip r:embed="rId2"/>
          <a:stretch>
            <a:fillRect/>
          </a:stretch>
        </p:blipFill>
        <p:spPr>
          <a:xfrm>
            <a:off x="930345" y="813256"/>
            <a:ext cx="9742611" cy="5231487"/>
          </a:xfrm>
        </p:spPr>
      </p:pic>
    </p:spTree>
    <p:extLst>
      <p:ext uri="{BB962C8B-B14F-4D97-AF65-F5344CB8AC3E}">
        <p14:creationId xmlns:p14="http://schemas.microsoft.com/office/powerpoint/2010/main" val="41255010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56DCC35-9867-2787-CCC3-95987A2370B9}"/>
            </a:ext>
          </a:extLst>
        </p:cNvPr>
        <p:cNvGrpSpPr/>
        <p:nvPr/>
      </p:nvGrpSpPr>
      <p:grpSpPr>
        <a:xfrm>
          <a:off x="0" y="0"/>
          <a:ext cx="0" cy="0"/>
          <a:chOff x="0" y="0"/>
          <a:chExt cx="0" cy="0"/>
        </a:xfrm>
      </p:grpSpPr>
      <p:pic>
        <p:nvPicPr>
          <p:cNvPr id="5" name="Content Placeholder 4" descr="A diagram of a service&#10;&#10;AI-generated content may be incorrect.">
            <a:extLst>
              <a:ext uri="{FF2B5EF4-FFF2-40B4-BE49-F238E27FC236}">
                <a16:creationId xmlns:a16="http://schemas.microsoft.com/office/drawing/2014/main" id="{DE59E1CC-E7EA-37F4-BDB8-895F06129D72}"/>
              </a:ext>
            </a:extLst>
          </p:cNvPr>
          <p:cNvPicPr>
            <a:picLocks noGrp="1" noChangeAspect="1"/>
          </p:cNvPicPr>
          <p:nvPr>
            <p:ph idx="1"/>
          </p:nvPr>
        </p:nvPicPr>
        <p:blipFill>
          <a:blip r:embed="rId2"/>
          <a:stretch>
            <a:fillRect/>
          </a:stretch>
        </p:blipFill>
        <p:spPr>
          <a:xfrm>
            <a:off x="5788508" y="200239"/>
            <a:ext cx="5624967" cy="3020437"/>
          </a:xfrm>
        </p:spPr>
      </p:pic>
      <p:sp>
        <p:nvSpPr>
          <p:cNvPr id="3" name="TextBox 2">
            <a:extLst>
              <a:ext uri="{FF2B5EF4-FFF2-40B4-BE49-F238E27FC236}">
                <a16:creationId xmlns:a16="http://schemas.microsoft.com/office/drawing/2014/main" id="{7FE91E17-5D4C-3DB7-0FA3-3B56F5DF4E93}"/>
              </a:ext>
            </a:extLst>
          </p:cNvPr>
          <p:cNvSpPr txBox="1"/>
          <p:nvPr/>
        </p:nvSpPr>
        <p:spPr>
          <a:xfrm>
            <a:off x="516208" y="3077455"/>
            <a:ext cx="11249806" cy="3693319"/>
          </a:xfrm>
          <a:prstGeom prst="rect">
            <a:avLst/>
          </a:prstGeom>
          <a:noFill/>
        </p:spPr>
        <p:txBody>
          <a:bodyPr wrap="square">
            <a:spAutoFit/>
          </a:bodyPr>
          <a:lstStyle/>
          <a:p>
            <a:pPr marL="342900" indent="-342900">
              <a:buFont typeface="+mj-lt"/>
              <a:buAutoNum type="arabicPeriod"/>
            </a:pPr>
            <a:endParaRPr lang="en-US" dirty="0">
              <a:latin typeface="Segoe UI" panose="020B0502040204020203" pitchFamily="34" charset="0"/>
              <a:cs typeface="Segoe UI" panose="020B0502040204020203" pitchFamily="34" charset="0"/>
            </a:endParaRPr>
          </a:p>
          <a:p>
            <a:pPr marL="342900" indent="-342900">
              <a:buFont typeface="+mj-lt"/>
              <a:buAutoNum type="arabicPeriod"/>
            </a:pPr>
            <a:r>
              <a:rPr lang="en-US" dirty="0">
                <a:latin typeface="Segoe UI" panose="020B0502040204020203" pitchFamily="34" charset="0"/>
                <a:cs typeface="Segoe UI" panose="020B0502040204020203" pitchFamily="34" charset="0"/>
              </a:rPr>
              <a:t>Services are </a:t>
            </a:r>
            <a:r>
              <a:rPr lang="en-US" b="1" dirty="0">
                <a:latin typeface="Segoe UI" panose="020B0502040204020203" pitchFamily="34" charset="0"/>
                <a:cs typeface="Segoe UI" panose="020B0502040204020203" pitchFamily="34" charset="0"/>
              </a:rPr>
              <a:t>described for humans</a:t>
            </a:r>
            <a:r>
              <a:rPr lang="en-US" dirty="0">
                <a:latin typeface="Segoe UI" panose="020B0502040204020203" pitchFamily="34" charset="0"/>
                <a:cs typeface="Segoe UI" panose="020B0502040204020203" pitchFamily="34" charset="0"/>
              </a:rPr>
              <a:t>. The language for specs is English. Interactions take place via HTTP.</a:t>
            </a:r>
          </a:p>
          <a:p>
            <a:pPr marL="342900" indent="-342900">
              <a:buFont typeface="+mj-lt"/>
              <a:buAutoNum type="arabicPeriod"/>
            </a:pPr>
            <a:r>
              <a:rPr lang="en-US" dirty="0">
                <a:latin typeface="Segoe UI" panose="020B0502040204020203" pitchFamily="34" charset="0"/>
                <a:cs typeface="Segoe UI" panose="020B0502040204020203" pitchFamily="34" charset="0"/>
              </a:rPr>
              <a:t>The description of the service is comprehensive. Navigation is not guided, in most cases - developers of clients should know what they can call when. The correct way to interact is specified in the documentation that developers have to read and understand.</a:t>
            </a:r>
          </a:p>
          <a:p>
            <a:pPr marL="342900" indent="-342900">
              <a:buFont typeface="+mj-lt"/>
              <a:buAutoNum type="arabicPeriod"/>
            </a:pPr>
            <a:r>
              <a:rPr lang="en-US" dirty="0">
                <a:latin typeface="Segoe UI" panose="020B0502040204020203" pitchFamily="34" charset="0"/>
                <a:cs typeface="Segoe UI" panose="020B0502040204020203" pitchFamily="34" charset="0"/>
              </a:rPr>
              <a:t>Developers code the "agent", a software that has no "intelligence". Either the client is programmed or interacts with humans. The software has </a:t>
            </a:r>
            <a:r>
              <a:rPr lang="en-US" b="1" dirty="0">
                <a:latin typeface="Segoe UI" panose="020B0502040204020203" pitchFamily="34" charset="0"/>
                <a:cs typeface="Segoe UI" panose="020B0502040204020203" pitchFamily="34" charset="0"/>
              </a:rPr>
              <a:t>no autonomy</a:t>
            </a:r>
            <a:r>
              <a:rPr lang="en-US" dirty="0">
                <a:latin typeface="Segoe UI" panose="020B0502040204020203" pitchFamily="34" charset="0"/>
                <a:cs typeface="Segoe UI" panose="020B0502040204020203" pitchFamily="34" charset="0"/>
              </a:rPr>
              <a:t>. Humans know what they want (kind of) and the desired behavior needs to be captured by the dev team and coded.</a:t>
            </a:r>
          </a:p>
          <a:p>
            <a:pPr marL="342900" indent="-342900">
              <a:buFont typeface="+mj-lt"/>
              <a:buAutoNum type="arabicPeriod"/>
            </a:pPr>
            <a:r>
              <a:rPr lang="en-US" dirty="0">
                <a:latin typeface="Segoe UI" panose="020B0502040204020203" pitchFamily="34" charset="0"/>
                <a:cs typeface="Segoe UI" panose="020B0502040204020203" pitchFamily="34" charset="0"/>
              </a:rPr>
              <a:t>Upgrades are tricky, versioning is costly for providers and clients.</a:t>
            </a:r>
          </a:p>
          <a:p>
            <a:pPr marL="342900" indent="-342900">
              <a:buFont typeface="+mj-lt"/>
              <a:buAutoNum type="arabicPeriod"/>
            </a:pPr>
            <a:r>
              <a:rPr lang="en-US" dirty="0">
                <a:latin typeface="Segoe UI" panose="020B0502040204020203" pitchFamily="34" charset="0"/>
                <a:cs typeface="Segoe UI" panose="020B0502040204020203" pitchFamily="34" charset="0"/>
              </a:rPr>
              <a:t>Testing, logging and monitoring is often basic and meant to assess if code breaks, for the most part.</a:t>
            </a:r>
          </a:p>
          <a:p>
            <a:pPr marL="342900" indent="-342900">
              <a:buFont typeface="+mj-lt"/>
              <a:buAutoNum type="arabicPeriod"/>
            </a:pPr>
            <a:r>
              <a:rPr lang="en-US" dirty="0">
                <a:latin typeface="Segoe UI" panose="020B0502040204020203" pitchFamily="34" charset="0"/>
                <a:cs typeface="Segoe UI" panose="020B0502040204020203" pitchFamily="34" charset="0"/>
              </a:rPr>
              <a:t>Errors and attack coming from versioning, injections, and the general complexities of distributed systems that have many components and moving parts</a:t>
            </a:r>
          </a:p>
          <a:p>
            <a:pPr marL="342900" indent="-342900">
              <a:buFont typeface="+mj-lt"/>
              <a:buAutoNum type="arabicPeriod"/>
            </a:pPr>
            <a:r>
              <a:rPr lang="en-US" dirty="0">
                <a:latin typeface="Segoe UI" panose="020B0502040204020203" pitchFamily="34" charset="0"/>
                <a:cs typeface="Segoe UI" panose="020B0502040204020203" pitchFamily="34" charset="0"/>
              </a:rPr>
              <a:t>Errors and undesirable behaviors are usually easily “visible” /detectable, traces are logged and monitored</a:t>
            </a:r>
          </a:p>
        </p:txBody>
      </p:sp>
    </p:spTree>
    <p:extLst>
      <p:ext uri="{BB962C8B-B14F-4D97-AF65-F5344CB8AC3E}">
        <p14:creationId xmlns:p14="http://schemas.microsoft.com/office/powerpoint/2010/main" val="52299584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88CA041-6FEE-7B70-BC61-50FDD23B09C4}"/>
              </a:ext>
            </a:extLst>
          </p:cNvPr>
          <p:cNvSpPr>
            <a:spLocks noGrp="1"/>
          </p:cNvSpPr>
          <p:nvPr>
            <p:ph type="title"/>
          </p:nvPr>
        </p:nvSpPr>
        <p:spPr/>
        <p:txBody>
          <a:bodyPr/>
          <a:lstStyle/>
          <a:p>
            <a:endParaRPr lang="en-US"/>
          </a:p>
        </p:txBody>
      </p:sp>
      <p:pic>
        <p:nvPicPr>
          <p:cNvPr id="5" name="Content Placeholder 4" descr="A diagram of a browser&#10;&#10;AI-generated content may be incorrect.">
            <a:extLst>
              <a:ext uri="{FF2B5EF4-FFF2-40B4-BE49-F238E27FC236}">
                <a16:creationId xmlns:a16="http://schemas.microsoft.com/office/drawing/2014/main" id="{FCFD37A0-B3CC-DB1A-9AF1-CDE460F90D49}"/>
              </a:ext>
            </a:extLst>
          </p:cNvPr>
          <p:cNvPicPr>
            <a:picLocks noGrp="1" noChangeAspect="1"/>
          </p:cNvPicPr>
          <p:nvPr>
            <p:ph idx="1"/>
          </p:nvPr>
        </p:nvPicPr>
        <p:blipFill>
          <a:blip r:embed="rId2"/>
          <a:stretch>
            <a:fillRect/>
          </a:stretch>
        </p:blipFill>
        <p:spPr>
          <a:xfrm>
            <a:off x="2064882" y="1716088"/>
            <a:ext cx="7749499" cy="4592637"/>
          </a:xfrm>
        </p:spPr>
      </p:pic>
    </p:spTree>
    <p:extLst>
      <p:ext uri="{BB962C8B-B14F-4D97-AF65-F5344CB8AC3E}">
        <p14:creationId xmlns:p14="http://schemas.microsoft.com/office/powerpoint/2010/main" val="1061307097"/>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a:extLst>
              <a:ext uri="{FF2B5EF4-FFF2-40B4-BE49-F238E27FC236}">
                <a16:creationId xmlns:a16="http://schemas.microsoft.com/office/drawing/2014/main" id="{90336F47-88FC-6F2F-7983-FEA502191E01}"/>
              </a:ext>
            </a:extLst>
          </p:cNvPr>
          <p:cNvSpPr>
            <a:spLocks noGrp="1"/>
          </p:cNvSpPr>
          <p:nvPr>
            <p:ph idx="1"/>
          </p:nvPr>
        </p:nvSpPr>
        <p:spPr>
          <a:xfrm>
            <a:off x="125261" y="2967406"/>
            <a:ext cx="11288214" cy="3748975"/>
          </a:xfrm>
        </p:spPr>
        <p:txBody>
          <a:bodyPr>
            <a:normAutofit fontScale="92500" lnSpcReduction="20000"/>
          </a:bodyPr>
          <a:lstStyle/>
          <a:p>
            <a:pPr marL="0" indent="0">
              <a:spcBef>
                <a:spcPts val="0"/>
              </a:spcBef>
              <a:buNone/>
            </a:pPr>
            <a:endParaRPr lang="en-US" sz="1600" dirty="0">
              <a:latin typeface="Segoe UI" panose="020B0502040204020203" pitchFamily="34" charset="0"/>
              <a:cs typeface="Segoe UI" panose="020B0502040204020203" pitchFamily="34" charset="0"/>
            </a:endParaRP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Services are described for humans. The language for "services" and "tools" is HTML, rendered as text. Services accessed via HTTP. </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The description is </a:t>
            </a:r>
            <a:r>
              <a:rPr lang="en-US" sz="1600" b="1" dirty="0">
                <a:latin typeface="Segoe UI" panose="020B0502040204020203" pitchFamily="34" charset="0"/>
                <a:cs typeface="Segoe UI" panose="020B0502040204020203" pitchFamily="34" charset="0"/>
              </a:rPr>
              <a:t>comprehensive</a:t>
            </a:r>
            <a:r>
              <a:rPr lang="en-US" sz="1600" dirty="0">
                <a:latin typeface="Segoe UI" panose="020B0502040204020203" pitchFamily="34" charset="0"/>
                <a:cs typeface="Segoe UI" panose="020B0502040204020203" pitchFamily="34" charset="0"/>
              </a:rPr>
              <a:t>, in addition to navigation being </a:t>
            </a:r>
            <a:r>
              <a:rPr lang="en-US" sz="1600" b="1" dirty="0">
                <a:latin typeface="Segoe UI" panose="020B0502040204020203" pitchFamily="34" charset="0"/>
                <a:cs typeface="Segoe UI" panose="020B0502040204020203" pitchFamily="34" charset="0"/>
              </a:rPr>
              <a:t>guided</a:t>
            </a:r>
            <a:r>
              <a:rPr lang="en-US" sz="1600" dirty="0">
                <a:latin typeface="Segoe UI" panose="020B0502040204020203" pitchFamily="34" charset="0"/>
                <a:cs typeface="Segoe UI" panose="020B0502040204020203" pitchFamily="34" charset="0"/>
              </a:rPr>
              <a:t>. The web pages drive and guide the interaction through the provider's services. Pages describe the provider, the services, and how they fit.</a:t>
            </a:r>
          </a:p>
          <a:p>
            <a:pPr marL="457200" indent="-457200">
              <a:spcBef>
                <a:spcPts val="0"/>
              </a:spcBef>
              <a:buFont typeface="+mj-lt"/>
              <a:buAutoNum type="arabicPeriod"/>
            </a:pPr>
            <a:r>
              <a:rPr lang="en-US" sz="1600" b="1" dirty="0">
                <a:latin typeface="Segoe UI" panose="020B0502040204020203" pitchFamily="34" charset="0"/>
                <a:cs typeface="Segoe UI" panose="020B0502040204020203" pitchFamily="34" charset="0"/>
              </a:rPr>
              <a:t>"Agency" is mixed </a:t>
            </a:r>
            <a:r>
              <a:rPr lang="en-US" sz="1600" dirty="0">
                <a:latin typeface="Segoe UI" panose="020B0502040204020203" pitchFamily="34" charset="0"/>
                <a:cs typeface="Segoe UI" panose="020B0502040204020203" pitchFamily="34" charset="0"/>
              </a:rPr>
              <a:t>- and sits on a scale, depending on how much leash the agent is given. This model is still evolving and ranges from AI only providing a summary view of a page to AI creating plans and confirming them, to AI running off doing what they think makes sense.</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Upgrades are quite manageable: web pages can change, agents will adapt.</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Testing, logging and monitoring is still developing. No clear pattern emerged yet - except for "advanced" agents logging and learning from the past</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Errors may come from these additional sources: a. agents not understanding content, b. wrong degree of autonomy, c. attacks - still to be fully understood</a:t>
            </a:r>
          </a:p>
          <a:p>
            <a:pPr marL="457200" indent="-457200">
              <a:spcBef>
                <a:spcPts val="0"/>
              </a:spcBef>
              <a:buFont typeface="+mj-lt"/>
              <a:buAutoNum type="arabicPeriod"/>
            </a:pPr>
            <a:r>
              <a:rPr lang="en-US" sz="1600" dirty="0">
                <a:latin typeface="Segoe UI" panose="020B0502040204020203" pitchFamily="34" charset="0"/>
                <a:cs typeface="Segoe UI" panose="020B0502040204020203" pitchFamily="34" charset="0"/>
              </a:rPr>
              <a:t>It’s hard to say how manifest errors and undesirable behaviors are, but for now this approach has a mostly short leash so they are fairly visible</a:t>
            </a:r>
          </a:p>
        </p:txBody>
      </p:sp>
      <p:pic>
        <p:nvPicPr>
          <p:cNvPr id="4" name="Content Placeholder 4" descr="A diagram of a browser&#10;&#10;AI-generated content may be incorrect.">
            <a:extLst>
              <a:ext uri="{FF2B5EF4-FFF2-40B4-BE49-F238E27FC236}">
                <a16:creationId xmlns:a16="http://schemas.microsoft.com/office/drawing/2014/main" id="{FB5B32F2-B213-C163-C392-AAE4233D72BD}"/>
              </a:ext>
            </a:extLst>
          </p:cNvPr>
          <p:cNvPicPr>
            <a:picLocks noChangeAspect="1"/>
          </p:cNvPicPr>
          <p:nvPr/>
        </p:nvPicPr>
        <p:blipFill>
          <a:blip r:embed="rId2"/>
          <a:stretch>
            <a:fillRect/>
          </a:stretch>
        </p:blipFill>
        <p:spPr>
          <a:xfrm>
            <a:off x="7077204" y="10424"/>
            <a:ext cx="4989535" cy="2956982"/>
          </a:xfrm>
          <a:prstGeom prst="rect">
            <a:avLst/>
          </a:prstGeom>
        </p:spPr>
      </p:pic>
    </p:spTree>
    <p:extLst>
      <p:ext uri="{BB962C8B-B14F-4D97-AF65-F5344CB8AC3E}">
        <p14:creationId xmlns:p14="http://schemas.microsoft.com/office/powerpoint/2010/main" val="50068269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Content Placeholder 4" descr="A diagram of a company&#10;&#10;AI-generated content may be incorrect.">
            <a:extLst>
              <a:ext uri="{FF2B5EF4-FFF2-40B4-BE49-F238E27FC236}">
                <a16:creationId xmlns:a16="http://schemas.microsoft.com/office/drawing/2014/main" id="{0E5CBB6E-B809-2D34-5589-2B082122B473}"/>
              </a:ext>
            </a:extLst>
          </p:cNvPr>
          <p:cNvPicPr>
            <a:picLocks noGrp="1" noChangeAspect="1"/>
          </p:cNvPicPr>
          <p:nvPr>
            <p:ph idx="1"/>
          </p:nvPr>
        </p:nvPicPr>
        <p:blipFill>
          <a:blip r:embed="rId3"/>
          <a:stretch>
            <a:fillRect/>
          </a:stretch>
        </p:blipFill>
        <p:spPr>
          <a:xfrm>
            <a:off x="1296912" y="713983"/>
            <a:ext cx="9191607" cy="5206435"/>
          </a:xfrm>
        </p:spPr>
      </p:pic>
    </p:spTree>
    <p:extLst>
      <p:ext uri="{BB962C8B-B14F-4D97-AF65-F5344CB8AC3E}">
        <p14:creationId xmlns:p14="http://schemas.microsoft.com/office/powerpoint/2010/main" val="273324319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98C41A4-D9B5-AF41-7B2D-86186119B7E3}"/>
            </a:ext>
          </a:extLst>
        </p:cNvPr>
        <p:cNvGrpSpPr/>
        <p:nvPr/>
      </p:nvGrpSpPr>
      <p:grpSpPr>
        <a:xfrm>
          <a:off x="0" y="0"/>
          <a:ext cx="0" cy="0"/>
          <a:chOff x="0" y="0"/>
          <a:chExt cx="0" cy="0"/>
        </a:xfrm>
      </p:grpSpPr>
      <p:pic>
        <p:nvPicPr>
          <p:cNvPr id="5" name="Content Placeholder 4" descr="A diagram of a company&#10;&#10;AI-generated content may be incorrect.">
            <a:extLst>
              <a:ext uri="{FF2B5EF4-FFF2-40B4-BE49-F238E27FC236}">
                <a16:creationId xmlns:a16="http://schemas.microsoft.com/office/drawing/2014/main" id="{B24F4A1E-24C5-5841-3B51-684E1268D030}"/>
              </a:ext>
            </a:extLst>
          </p:cNvPr>
          <p:cNvPicPr>
            <a:picLocks noGrp="1" noChangeAspect="1"/>
          </p:cNvPicPr>
          <p:nvPr>
            <p:ph idx="1"/>
          </p:nvPr>
        </p:nvPicPr>
        <p:blipFill>
          <a:blip r:embed="rId3"/>
          <a:stretch>
            <a:fillRect/>
          </a:stretch>
        </p:blipFill>
        <p:spPr>
          <a:xfrm>
            <a:off x="6401166" y="377042"/>
            <a:ext cx="5388024" cy="3051958"/>
          </a:xfrm>
        </p:spPr>
      </p:pic>
      <p:sp>
        <p:nvSpPr>
          <p:cNvPr id="3" name="TextBox 2">
            <a:extLst>
              <a:ext uri="{FF2B5EF4-FFF2-40B4-BE49-F238E27FC236}">
                <a16:creationId xmlns:a16="http://schemas.microsoft.com/office/drawing/2014/main" id="{1AAAB936-9EB1-49A8-7F1B-AF4A97FBF8CF}"/>
              </a:ext>
            </a:extLst>
          </p:cNvPr>
          <p:cNvSpPr txBox="1"/>
          <p:nvPr/>
        </p:nvSpPr>
        <p:spPr>
          <a:xfrm>
            <a:off x="132203" y="2417313"/>
            <a:ext cx="8962975" cy="4185761"/>
          </a:xfrm>
          <a:prstGeom prst="rect">
            <a:avLst/>
          </a:prstGeom>
          <a:noFill/>
        </p:spPr>
        <p:txBody>
          <a:bodyPr wrap="square">
            <a:spAutoFit/>
          </a:bodyPr>
          <a:lstStyle/>
          <a:p>
            <a:pPr marL="342900" indent="-342900">
              <a:buFont typeface="+mj-lt"/>
              <a:buAutoNum type="arabicPeriod"/>
            </a:pPr>
            <a:endParaRPr lang="en-US" sz="1400" dirty="0">
              <a:latin typeface="Segoe UI" panose="020B0502040204020203" pitchFamily="34" charset="0"/>
              <a:cs typeface="Segoe UI" panose="020B0502040204020203" pitchFamily="34" charset="0"/>
            </a:endParaRPr>
          </a:p>
          <a:p>
            <a:pPr marL="342900" indent="-342900">
              <a:buFont typeface="+mj-lt"/>
              <a:buAutoNum type="arabicPeriod"/>
            </a:pPr>
            <a:r>
              <a:rPr lang="en-US" sz="1400" dirty="0">
                <a:latin typeface="Segoe UI" panose="020B0502040204020203" pitchFamily="34" charset="0"/>
                <a:cs typeface="Segoe UI" panose="020B0502040204020203" pitchFamily="34" charset="0"/>
              </a:rPr>
              <a:t>Services are described for agents - kind of, and, whatever that means. The language for "services" and "tools" is JSON, often taken from python specs. Services accessed via HTTP/JSON-RPC.</a:t>
            </a:r>
          </a:p>
          <a:p>
            <a:pPr marL="342900" indent="-342900">
              <a:buFont typeface="+mj-lt"/>
              <a:buAutoNum type="arabicPeriod"/>
            </a:pPr>
            <a:r>
              <a:rPr lang="en-US" sz="1400" dirty="0">
                <a:latin typeface="Segoe UI" panose="020B0502040204020203" pitchFamily="34" charset="0"/>
                <a:cs typeface="Segoe UI" panose="020B0502040204020203" pitchFamily="34" charset="0"/>
              </a:rPr>
              <a:t>The description is spotty, no best practice emerged. </a:t>
            </a:r>
            <a:r>
              <a:rPr lang="en-US" sz="1400" b="1" dirty="0">
                <a:latin typeface="Segoe UI" panose="020B0502040204020203" pitchFamily="34" charset="0"/>
                <a:cs typeface="Segoe UI" panose="020B0502040204020203" pitchFamily="34" charset="0"/>
              </a:rPr>
              <a:t>Navigation is not guided</a:t>
            </a:r>
            <a:r>
              <a:rPr lang="en-US" sz="1400" dirty="0">
                <a:latin typeface="Segoe UI" panose="020B0502040204020203" pitchFamily="34" charset="0"/>
                <a:cs typeface="Segoe UI" panose="020B0502040204020203" pitchFamily="34" charset="0"/>
              </a:rPr>
              <a:t>. In web pages I have the page structure and access to the whole web site to read. What is the equivalent here?</a:t>
            </a:r>
          </a:p>
          <a:p>
            <a:pPr marL="342900" indent="-342900">
              <a:buFont typeface="+mj-lt"/>
              <a:buAutoNum type="arabicPeriod"/>
            </a:pPr>
            <a:r>
              <a:rPr lang="en-US" sz="1400" b="1" dirty="0">
                <a:latin typeface="Segoe UI" panose="020B0502040204020203" pitchFamily="34" charset="0"/>
                <a:cs typeface="Segoe UI" panose="020B0502040204020203" pitchFamily="34" charset="0"/>
              </a:rPr>
              <a:t>"Agency" is mixed </a:t>
            </a:r>
            <a:r>
              <a:rPr lang="en-US" sz="1400" dirty="0">
                <a:latin typeface="Segoe UI" panose="020B0502040204020203" pitchFamily="34" charset="0"/>
                <a:cs typeface="Segoe UI" panose="020B0502040204020203" pitchFamily="34" charset="0"/>
              </a:rPr>
              <a:t>- and sits on a scale, depending on how much leash the agent is given. Notions of memory and persistence of user knowledge are also emerging.</a:t>
            </a:r>
          </a:p>
          <a:p>
            <a:pPr marL="342900" indent="-342900">
              <a:buFont typeface="+mj-lt"/>
              <a:buAutoNum type="arabicPeriod"/>
            </a:pPr>
            <a:r>
              <a:rPr lang="en-US" sz="1400" dirty="0">
                <a:latin typeface="Segoe UI" panose="020B0502040204020203" pitchFamily="34" charset="0"/>
                <a:cs typeface="Segoe UI" panose="020B0502040204020203" pitchFamily="34" charset="0"/>
              </a:rPr>
              <a:t>Changes / Upgrades are in principle manageable if agents are well developed and manage to combine training knowledge, prior execution knowledge, and updated service description. Service descriptions change and agents can adapt.</a:t>
            </a:r>
          </a:p>
          <a:p>
            <a:pPr marL="342900" indent="-342900">
              <a:buFont typeface="+mj-lt"/>
              <a:buAutoNum type="arabicPeriod"/>
            </a:pPr>
            <a:r>
              <a:rPr lang="en-US" sz="1400" dirty="0">
                <a:latin typeface="Segoe UI" panose="020B0502040204020203" pitchFamily="34" charset="0"/>
                <a:cs typeface="Segoe UI" panose="020B0502040204020203" pitchFamily="34" charset="0"/>
              </a:rPr>
              <a:t>Testing, logging and monitoring is still emerging - and the notion of traces and "actually useful process mining" are emerging. Approaches to automate agent definition analysis have also emerged.</a:t>
            </a:r>
          </a:p>
          <a:p>
            <a:pPr marL="342900" indent="-342900">
              <a:buFont typeface="+mj-lt"/>
              <a:buAutoNum type="arabicPeriod"/>
            </a:pPr>
            <a:r>
              <a:rPr lang="en-US" sz="1400" dirty="0">
                <a:latin typeface="Segoe UI" panose="020B0502040204020203" pitchFamily="34" charset="0"/>
                <a:cs typeface="Segoe UI" panose="020B0502040204020203" pitchFamily="34" charset="0"/>
              </a:rPr>
              <a:t>Errors may come from </a:t>
            </a:r>
            <a:r>
              <a:rPr lang="en-US" sz="1400" dirty="0" err="1">
                <a:latin typeface="Segoe UI" panose="020B0502040204020203" pitchFamily="34" charset="0"/>
                <a:cs typeface="Segoe UI" panose="020B0502040204020203" pitchFamily="34" charset="0"/>
              </a:rPr>
              <a:t>i</a:t>
            </a:r>
            <a:r>
              <a:rPr lang="en-US" sz="1400" dirty="0">
                <a:latin typeface="Segoe UI" panose="020B0502040204020203" pitchFamily="34" charset="0"/>
                <a:cs typeface="Segoe UI" panose="020B0502040204020203" pitchFamily="34" charset="0"/>
              </a:rPr>
              <a:t>. agents not understanding content (and service descriptions not providing sufficient context), ii. wrong degree or autonomy, iii. attacks - still to be fully understood, iv) misunderstanding on what/how much the agent knows by training vs what is described</a:t>
            </a:r>
          </a:p>
          <a:p>
            <a:pPr marL="342900" indent="-342900">
              <a:buFont typeface="+mj-lt"/>
              <a:buAutoNum type="arabicPeriod"/>
            </a:pPr>
            <a:r>
              <a:rPr lang="en-US" sz="1400" dirty="0">
                <a:latin typeface="Segoe UI" panose="020B0502040204020203" pitchFamily="34" charset="0"/>
                <a:cs typeface="Segoe UI" panose="020B0502040204020203" pitchFamily="34" charset="0"/>
              </a:rPr>
              <a:t>Agents at scale - the "software engineering" moment: what happens as millions of people with little </a:t>
            </a:r>
            <a:r>
              <a:rPr lang="en-US" sz="1400" dirty="0" err="1">
                <a:latin typeface="Segoe UI" panose="020B0502040204020203" pitchFamily="34" charset="0"/>
                <a:cs typeface="Segoe UI" panose="020B0502040204020203" pitchFamily="34" charset="0"/>
              </a:rPr>
              <a:t>sw</a:t>
            </a:r>
            <a:r>
              <a:rPr lang="en-US" sz="1400" dirty="0">
                <a:latin typeface="Segoe UI" panose="020B0502040204020203" pitchFamily="34" charset="0"/>
                <a:cs typeface="Segoe UI" panose="020B0502040204020203" pitchFamily="34" charset="0"/>
              </a:rPr>
              <a:t> </a:t>
            </a:r>
            <a:r>
              <a:rPr lang="en-US" sz="1400" dirty="0" err="1">
                <a:latin typeface="Segoe UI" panose="020B0502040204020203" pitchFamily="34" charset="0"/>
                <a:cs typeface="Segoe UI" panose="020B0502040204020203" pitchFamily="34" charset="0"/>
              </a:rPr>
              <a:t>eng</a:t>
            </a:r>
            <a:r>
              <a:rPr lang="en-US" sz="1400" dirty="0">
                <a:latin typeface="Segoe UI" panose="020B0502040204020203" pitchFamily="34" charset="0"/>
                <a:cs typeface="Segoe UI" panose="020B0502040204020203" pitchFamily="34" charset="0"/>
              </a:rPr>
              <a:t> experience develops complex multi entity systems. (see next)</a:t>
            </a:r>
          </a:p>
          <a:p>
            <a:pPr marL="342900" indent="-342900">
              <a:buFont typeface="+mj-lt"/>
              <a:buAutoNum type="arabicPeriod"/>
            </a:pPr>
            <a:r>
              <a:rPr lang="en-US" sz="1400" dirty="0">
                <a:latin typeface="Segoe UI" panose="020B0502040204020203" pitchFamily="34" charset="0"/>
                <a:cs typeface="Segoe UI" panose="020B0502040204020203" pitchFamily="34" charset="0"/>
              </a:rPr>
              <a:t>In many implementations, error are suppressed -&gt; see later again for the “software engineering” crisis. Legal framework somewhat unclear</a:t>
            </a:r>
          </a:p>
        </p:txBody>
      </p:sp>
    </p:spTree>
    <p:extLst>
      <p:ext uri="{BB962C8B-B14F-4D97-AF65-F5344CB8AC3E}">
        <p14:creationId xmlns:p14="http://schemas.microsoft.com/office/powerpoint/2010/main" val="41381996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8" name="Rectangle 27">
            <a:extLst>
              <a:ext uri="{FF2B5EF4-FFF2-40B4-BE49-F238E27FC236}">
                <a16:creationId xmlns:a16="http://schemas.microsoft.com/office/drawing/2014/main" id="{B797DE5A-DA89-0A80-C73D-8DCE1A3E2B3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15000"/>
                  </a:schemeClr>
                </a:solidFill>
                <a:prstDash val="solid"/>
                <a:miter lim="800000"/>
              </a14:hiddenLine>
            </a:ext>
          </a:ex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itle 3">
            <a:extLst>
              <a:ext uri="{FF2B5EF4-FFF2-40B4-BE49-F238E27FC236}">
                <a16:creationId xmlns:a16="http://schemas.microsoft.com/office/drawing/2014/main" id="{ED708FBB-6F24-AA52-310D-2F22DF154685}"/>
              </a:ext>
            </a:extLst>
          </p:cNvPr>
          <p:cNvSpPr>
            <a:spLocks noGrp="1"/>
          </p:cNvSpPr>
          <p:nvPr>
            <p:ph type="title"/>
          </p:nvPr>
        </p:nvSpPr>
        <p:spPr>
          <a:xfrm>
            <a:off x="670045" y="1174376"/>
            <a:ext cx="3509383" cy="2781752"/>
          </a:xfrm>
        </p:spPr>
        <p:txBody>
          <a:bodyPr vert="horz" lIns="91440" tIns="45720" rIns="91440" bIns="45720" rtlCol="0" anchor="b">
            <a:normAutofit/>
          </a:bodyPr>
          <a:lstStyle/>
          <a:p>
            <a:r>
              <a:rPr lang="en-US" sz="2500"/>
              <a:t>Design considerations for ai agents</a:t>
            </a:r>
          </a:p>
        </p:txBody>
      </p:sp>
      <p:sp>
        <p:nvSpPr>
          <p:cNvPr id="5" name="Text Placeholder 4">
            <a:extLst>
              <a:ext uri="{FF2B5EF4-FFF2-40B4-BE49-F238E27FC236}">
                <a16:creationId xmlns:a16="http://schemas.microsoft.com/office/drawing/2014/main" id="{52EC6CA3-7920-BDC3-5ABA-E73F7EB14EDC}"/>
              </a:ext>
            </a:extLst>
          </p:cNvPr>
          <p:cNvSpPr>
            <a:spLocks noGrp="1"/>
          </p:cNvSpPr>
          <p:nvPr>
            <p:ph type="body" idx="1"/>
          </p:nvPr>
        </p:nvSpPr>
        <p:spPr>
          <a:xfrm>
            <a:off x="670045" y="4062940"/>
            <a:ext cx="3509383" cy="2293793"/>
          </a:xfrm>
        </p:spPr>
        <p:txBody>
          <a:bodyPr vert="horz" lIns="91440" tIns="45720" rIns="91440" bIns="45720" rtlCol="0">
            <a:normAutofit/>
          </a:bodyPr>
          <a:lstStyle/>
          <a:p>
            <a:pPr>
              <a:lnSpc>
                <a:spcPct val="110000"/>
              </a:lnSpc>
            </a:pPr>
            <a:r>
              <a:rPr lang="en-US" sz="1400" i="1" dirty="0"/>
              <a:t>(as a testament to the maturity of the field, this is what the </a:t>
            </a:r>
            <a:r>
              <a:rPr lang="en-US" sz="1400" i="1" dirty="0" err="1"/>
              <a:t>powerpoint</a:t>
            </a:r>
            <a:r>
              <a:rPr lang="en-US" sz="1400" i="1" dirty="0"/>
              <a:t> designer came up with)</a:t>
            </a:r>
          </a:p>
          <a:p>
            <a:pPr>
              <a:lnSpc>
                <a:spcPct val="110000"/>
              </a:lnSpc>
            </a:pPr>
            <a:r>
              <a:rPr lang="en-US" sz="1400" dirty="0"/>
              <a:t>Please consider each of them from the point of view of the </a:t>
            </a:r>
            <a:r>
              <a:rPr lang="en-US" sz="1400" dirty="0" err="1"/>
              <a:t>vaiorus</a:t>
            </a:r>
            <a:r>
              <a:rPr lang="en-US" sz="1400" dirty="0"/>
              <a:t> parties involved: who should worry about that design consideration?</a:t>
            </a:r>
          </a:p>
        </p:txBody>
      </p:sp>
      <p:pic>
        <p:nvPicPr>
          <p:cNvPr id="7" name="Picture 6" descr="Pen placed on top of a signature line">
            <a:extLst>
              <a:ext uri="{FF2B5EF4-FFF2-40B4-BE49-F238E27FC236}">
                <a16:creationId xmlns:a16="http://schemas.microsoft.com/office/drawing/2014/main" id="{02C811B7-1794-AD6B-98FE-D325FF8BA5D0}"/>
              </a:ext>
            </a:extLst>
          </p:cNvPr>
          <p:cNvPicPr>
            <a:picLocks noChangeAspect="1"/>
          </p:cNvPicPr>
          <p:nvPr/>
        </p:nvPicPr>
        <p:blipFill>
          <a:blip r:embed="rId2"/>
          <a:srcRect r="28287" b="-2"/>
          <a:stretch>
            <a:fillRect/>
          </a:stretch>
        </p:blipFill>
        <p:spPr>
          <a:xfrm>
            <a:off x="4824248" y="1"/>
            <a:ext cx="7367752" cy="6858000"/>
          </a:xfrm>
          <a:prstGeom prst="rect">
            <a:avLst/>
          </a:prstGeom>
        </p:spPr>
      </p:pic>
    </p:spTree>
    <p:extLst>
      <p:ext uri="{BB962C8B-B14F-4D97-AF65-F5344CB8AC3E}">
        <p14:creationId xmlns:p14="http://schemas.microsoft.com/office/powerpoint/2010/main" val="50590839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FD5E443-685C-EA1E-E419-91A56D2C7CC7}"/>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AI agents – systems of LLM and tools - are complex distributed systems</a:t>
            </a:r>
          </a:p>
        </p:txBody>
      </p:sp>
      <p:sp>
        <p:nvSpPr>
          <p:cNvPr id="3" name="Content Placeholder 2">
            <a:extLst>
              <a:ext uri="{FF2B5EF4-FFF2-40B4-BE49-F238E27FC236}">
                <a16:creationId xmlns:a16="http://schemas.microsoft.com/office/drawing/2014/main" id="{EBE35A3B-F7BA-B0FD-26DA-612DDEF3ADF7}"/>
              </a:ext>
            </a:extLst>
          </p:cNvPr>
          <p:cNvSpPr>
            <a:spLocks noGrp="1"/>
          </p:cNvSpPr>
          <p:nvPr>
            <p:ph idx="1"/>
          </p:nvPr>
        </p:nvSpPr>
        <p:spPr>
          <a:xfrm>
            <a:off x="612647" y="2104222"/>
            <a:ext cx="4886279" cy="4205138"/>
          </a:xfrm>
        </p:spPr>
        <p:txBody>
          <a:bodyPr>
            <a:noAutofit/>
          </a:bodyPr>
          <a:lstStyle/>
          <a:p>
            <a:r>
              <a:rPr lang="en-US" dirty="0">
                <a:latin typeface="Segoe UI" panose="020B0502040204020203" pitchFamily="34" charset="0"/>
                <a:cs typeface="Segoe UI" panose="020B0502040204020203" pitchFamily="34" charset="0"/>
              </a:rPr>
              <a:t>They have all the complexities of distributed systems, minus one, plus many more</a:t>
            </a:r>
          </a:p>
          <a:p>
            <a:r>
              <a:rPr lang="en-US" dirty="0">
                <a:latin typeface="Segoe UI" panose="020B0502040204020203" pitchFamily="34" charset="0"/>
                <a:cs typeface="Segoe UI" panose="020B0502040204020203" pitchFamily="34" charset="0"/>
              </a:rPr>
              <a:t>Ease of development does not mean that their reliable operation is easier</a:t>
            </a:r>
          </a:p>
          <a:p>
            <a:endParaRPr lang="en-US" dirty="0">
              <a:latin typeface="Segoe UI" panose="020B0502040204020203" pitchFamily="34" charset="0"/>
              <a:cs typeface="Segoe UI" panose="020B0502040204020203" pitchFamily="34" charset="0"/>
            </a:endParaRPr>
          </a:p>
        </p:txBody>
      </p:sp>
      <p:pic>
        <p:nvPicPr>
          <p:cNvPr id="4" name="Content Placeholder 4" descr="A diagram of a company&#10;&#10;AI-generated content may be incorrect.">
            <a:extLst>
              <a:ext uri="{FF2B5EF4-FFF2-40B4-BE49-F238E27FC236}">
                <a16:creationId xmlns:a16="http://schemas.microsoft.com/office/drawing/2014/main" id="{118C421C-54A9-1D1A-441C-5C5030AB152A}"/>
              </a:ext>
            </a:extLst>
          </p:cNvPr>
          <p:cNvPicPr>
            <a:picLocks noChangeAspect="1"/>
          </p:cNvPicPr>
          <p:nvPr/>
        </p:nvPicPr>
        <p:blipFill>
          <a:blip r:embed="rId2"/>
          <a:stretch>
            <a:fillRect/>
          </a:stretch>
        </p:blipFill>
        <p:spPr>
          <a:xfrm>
            <a:off x="5331722" y="2988663"/>
            <a:ext cx="6609815" cy="3744021"/>
          </a:xfrm>
          <a:prstGeom prst="rect">
            <a:avLst/>
          </a:prstGeom>
        </p:spPr>
      </p:pic>
    </p:spTree>
    <p:extLst>
      <p:ext uri="{BB962C8B-B14F-4D97-AF65-F5344CB8AC3E}">
        <p14:creationId xmlns:p14="http://schemas.microsoft.com/office/powerpoint/2010/main" val="313855481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D261FA-9EC1-5CAB-34BF-4E05DFFEAA4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5DA2D7D-489F-3A70-C992-C94C00454218}"/>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AI agents – systems of LLM and tools - are complex distributed systems, and….</a:t>
            </a:r>
          </a:p>
        </p:txBody>
      </p:sp>
      <p:sp>
        <p:nvSpPr>
          <p:cNvPr id="3" name="Content Placeholder 2">
            <a:extLst>
              <a:ext uri="{FF2B5EF4-FFF2-40B4-BE49-F238E27FC236}">
                <a16:creationId xmlns:a16="http://schemas.microsoft.com/office/drawing/2014/main" id="{4DA26D97-7606-8A17-333E-7AADC2FE23CB}"/>
              </a:ext>
            </a:extLst>
          </p:cNvPr>
          <p:cNvSpPr>
            <a:spLocks noGrp="1"/>
          </p:cNvSpPr>
          <p:nvPr>
            <p:ph idx="1"/>
          </p:nvPr>
        </p:nvSpPr>
        <p:spPr>
          <a:xfrm>
            <a:off x="612647" y="2104372"/>
            <a:ext cx="10653579" cy="4204987"/>
          </a:xfrm>
        </p:spPr>
        <p:txBody>
          <a:bodyPr>
            <a:noAutofit/>
          </a:bodyPr>
          <a:lstStyle/>
          <a:p>
            <a:r>
              <a:rPr lang="en-US" dirty="0">
                <a:latin typeface="Segoe UI" panose="020B0502040204020203" pitchFamily="34" charset="0"/>
                <a:cs typeface="Segoe UI" panose="020B0502040204020203" pitchFamily="34" charset="0"/>
              </a:rPr>
              <a:t>…we currently have millions of new such systems developed daily – the overwhelming majority of which by people who have no idea what software is, or what engineering is.</a:t>
            </a:r>
          </a:p>
          <a:p>
            <a:r>
              <a:rPr lang="en-US" dirty="0">
                <a:latin typeface="Segoe UI" panose="020B0502040204020203" pitchFamily="34" charset="0"/>
                <a:cs typeface="Segoe UI" panose="020B0502040204020203" pitchFamily="34" charset="0"/>
              </a:rPr>
              <a:t>These people are using </a:t>
            </a:r>
            <a:r>
              <a:rPr lang="en-US" b="1" dirty="0">
                <a:latin typeface="Segoe UI" panose="020B0502040204020203" pitchFamily="34" charset="0"/>
                <a:cs typeface="Segoe UI" panose="020B0502040204020203" pitchFamily="34" charset="0"/>
              </a:rPr>
              <a:t>our</a:t>
            </a:r>
            <a:r>
              <a:rPr lang="en-US" dirty="0">
                <a:latin typeface="Segoe UI" panose="020B0502040204020203" pitchFamily="34" charset="0"/>
                <a:cs typeface="Segoe UI" panose="020B0502040204020203" pitchFamily="34" charset="0"/>
              </a:rPr>
              <a:t> tools to build systems.</a:t>
            </a:r>
          </a:p>
          <a:p>
            <a:r>
              <a:rPr lang="en-US" dirty="0">
                <a:latin typeface="Segoe UI" panose="020B0502040204020203" pitchFamily="34" charset="0"/>
                <a:cs typeface="Segoe UI" panose="020B0502040204020203" pitchFamily="34" charset="0"/>
              </a:rPr>
              <a:t>If we expose an MCP, either it is not used (not what we want) or it is used (also not what we want)</a:t>
            </a:r>
          </a:p>
          <a:p>
            <a:endParaRPr lang="en-US" sz="1800" dirty="0">
              <a:latin typeface="Segoe UI" panose="020B0502040204020203" pitchFamily="34" charset="0"/>
              <a:cs typeface="Segoe UI" panose="020B0502040204020203" pitchFamily="34" charset="0"/>
            </a:endParaRPr>
          </a:p>
          <a:p>
            <a:endParaRPr lang="en-US"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419772926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F2DAAB-DB25-9344-567A-DD58725C92E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BD174BA-BFF6-B491-4483-FFDBFA94574E}"/>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Memory, Intentions, Autonomy</a:t>
            </a:r>
          </a:p>
        </p:txBody>
      </p:sp>
      <p:sp>
        <p:nvSpPr>
          <p:cNvPr id="3" name="Content Placeholder 2">
            <a:extLst>
              <a:ext uri="{FF2B5EF4-FFF2-40B4-BE49-F238E27FC236}">
                <a16:creationId xmlns:a16="http://schemas.microsoft.com/office/drawing/2014/main" id="{B74701B9-51BD-A469-6DF0-5BA8F9464505}"/>
              </a:ext>
            </a:extLst>
          </p:cNvPr>
          <p:cNvSpPr>
            <a:spLocks noGrp="1"/>
          </p:cNvSpPr>
          <p:nvPr>
            <p:ph idx="1"/>
          </p:nvPr>
        </p:nvSpPr>
        <p:spPr>
          <a:xfrm>
            <a:off x="612648" y="1232640"/>
            <a:ext cx="8042838" cy="5443582"/>
          </a:xfrm>
        </p:spPr>
        <p:txBody>
          <a:bodyPr>
            <a:noAutofit/>
          </a:bodyPr>
          <a:lstStyle/>
          <a:p>
            <a:endParaRPr lang="en-US" sz="1600" b="1"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Short term memory: how to “design” it, and who contributes or suggests content? </a:t>
            </a:r>
          </a:p>
          <a:p>
            <a:r>
              <a:rPr lang="en-US" sz="1800" dirty="0">
                <a:latin typeface="Segoe UI" panose="020B0502040204020203" pitchFamily="34" charset="0"/>
                <a:cs typeface="Segoe UI" panose="020B0502040204020203" pitchFamily="34" charset="0"/>
              </a:rPr>
              <a:t>And long term / cross session memory? </a:t>
            </a:r>
          </a:p>
          <a:p>
            <a:r>
              <a:rPr lang="en-US" sz="1800" dirty="0">
                <a:latin typeface="Segoe UI" panose="020B0502040204020203" pitchFamily="34" charset="0"/>
                <a:cs typeface="Segoe UI" panose="020B0502040204020203" pitchFamily="34" charset="0"/>
              </a:rPr>
              <a:t>How do we elicit preferences and intentions and delimit their scope? </a:t>
            </a:r>
          </a:p>
          <a:p>
            <a:r>
              <a:rPr lang="en-US" sz="1800" dirty="0">
                <a:latin typeface="Segoe UI" panose="020B0502040204020203" pitchFamily="34" charset="0"/>
                <a:cs typeface="Segoe UI" panose="020B0502040204020203" pitchFamily="34" charset="0"/>
              </a:rPr>
              <a:t>How much should be inferred vs asked? </a:t>
            </a:r>
          </a:p>
          <a:p>
            <a:r>
              <a:rPr lang="en-US" sz="1800" dirty="0">
                <a:latin typeface="Segoe UI" panose="020B0502040204020203" pitchFamily="34" charset="0"/>
                <a:cs typeface="Segoe UI" panose="020B0502040204020203" pitchFamily="34" charset="0"/>
              </a:rPr>
              <a:t>Degree of </a:t>
            </a:r>
            <a:r>
              <a:rPr lang="en-US" sz="1800" b="1" dirty="0">
                <a:latin typeface="Segoe UI" panose="020B0502040204020203" pitchFamily="34" charset="0"/>
                <a:cs typeface="Segoe UI" panose="020B0502040204020203" pitchFamily="34" charset="0"/>
              </a:rPr>
              <a:t>autonomy is a dimension and intersects with memory</a:t>
            </a:r>
            <a:endParaRPr lang="en-US" sz="1800" dirty="0">
              <a:latin typeface="Segoe UI" panose="020B0502040204020203" pitchFamily="34" charset="0"/>
              <a:cs typeface="Segoe UI" panose="020B0502040204020203" pitchFamily="34" charset="0"/>
            </a:endParaRPr>
          </a:p>
          <a:p>
            <a:pPr lvl="1"/>
            <a:r>
              <a:rPr lang="en-US" dirty="0">
                <a:latin typeface="Segoe UI" panose="020B0502040204020203" pitchFamily="34" charset="0"/>
                <a:cs typeface="Segoe UI" panose="020B0502040204020203" pitchFamily="34" charset="0"/>
              </a:rPr>
              <a:t>Declarative goals? - and our level of comfort</a:t>
            </a:r>
          </a:p>
          <a:p>
            <a:pPr marL="228600" lvl="1" indent="0">
              <a:buNone/>
            </a:pPr>
            <a:endParaRPr lang="en-US" dirty="0">
              <a:latin typeface="Segoe UI" panose="020B0502040204020203" pitchFamily="34" charset="0"/>
              <a:cs typeface="Segoe UI" panose="020B0502040204020203" pitchFamily="34" charset="0"/>
            </a:endParaRPr>
          </a:p>
          <a:p>
            <a:pPr lvl="1">
              <a:buFont typeface="Symbol" pitchFamily="2" charset="2"/>
              <a:buChar char="Þ"/>
            </a:pPr>
            <a:r>
              <a:rPr lang="en-US" dirty="0">
                <a:latin typeface="Segoe UI" panose="020B0502040204020203" pitchFamily="34" charset="0"/>
                <a:cs typeface="Segoe UI" panose="020B0502040204020203" pitchFamily="34" charset="0"/>
              </a:rPr>
              <a:t>What’s the role of the MCP server? (For example, Render is wisely very explicit)</a:t>
            </a:r>
          </a:p>
          <a:p>
            <a:pPr lvl="1">
              <a:buFont typeface="Symbol" pitchFamily="2" charset="2"/>
              <a:buChar char="Þ"/>
            </a:pPr>
            <a:r>
              <a:rPr lang="en-US" dirty="0">
                <a:latin typeface="Segoe UI" panose="020B0502040204020203" pitchFamily="34" charset="0"/>
                <a:cs typeface="Segoe UI" panose="020B0502040204020203" pitchFamily="34" charset="0"/>
              </a:rPr>
              <a:t>How much should we expose and to who? How to ask? How to show? How often? </a:t>
            </a:r>
          </a:p>
        </p:txBody>
      </p:sp>
      <p:pic>
        <p:nvPicPr>
          <p:cNvPr id="5" name="Picture 4" descr="A person holding a remote control&#10;&#10;AI-generated content may be incorrect.">
            <a:extLst>
              <a:ext uri="{FF2B5EF4-FFF2-40B4-BE49-F238E27FC236}">
                <a16:creationId xmlns:a16="http://schemas.microsoft.com/office/drawing/2014/main" id="{9EA80755-C0EA-61EE-4436-E2BC480BDF4E}"/>
              </a:ext>
            </a:extLst>
          </p:cNvPr>
          <p:cNvPicPr>
            <a:picLocks noChangeAspect="1"/>
          </p:cNvPicPr>
          <p:nvPr/>
        </p:nvPicPr>
        <p:blipFill>
          <a:blip r:embed="rId2"/>
          <a:stretch>
            <a:fillRect/>
          </a:stretch>
        </p:blipFill>
        <p:spPr>
          <a:xfrm>
            <a:off x="9042400" y="1114769"/>
            <a:ext cx="3149600" cy="4711700"/>
          </a:xfrm>
          <a:prstGeom prst="rect">
            <a:avLst/>
          </a:prstGeom>
        </p:spPr>
      </p:pic>
    </p:spTree>
    <p:extLst>
      <p:ext uri="{BB962C8B-B14F-4D97-AF65-F5344CB8AC3E}">
        <p14:creationId xmlns:p14="http://schemas.microsoft.com/office/powerpoint/2010/main" val="141493446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5CFF7D-4FFA-F4FD-664D-F04B3AF0677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EF422CE-694D-85B2-89F4-A6C6703E335A}"/>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Security, safety, privacy</a:t>
            </a:r>
          </a:p>
        </p:txBody>
      </p:sp>
      <p:sp>
        <p:nvSpPr>
          <p:cNvPr id="3" name="Content Placeholder 2">
            <a:extLst>
              <a:ext uri="{FF2B5EF4-FFF2-40B4-BE49-F238E27FC236}">
                <a16:creationId xmlns:a16="http://schemas.microsoft.com/office/drawing/2014/main" id="{37D6A428-AE8A-79D8-AE7E-379DC86BBAB5}"/>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Here  I have nothing particularly clever to say that you don’t know already</a:t>
            </a:r>
          </a:p>
          <a:p>
            <a:r>
              <a:rPr lang="en-US" sz="1800" dirty="0">
                <a:latin typeface="Segoe UI" panose="020B0502040204020203" pitchFamily="34" charset="0"/>
                <a:cs typeface="Segoe UI" panose="020B0502040204020203" pitchFamily="34" charset="0"/>
              </a:rPr>
              <a:t>AI systems are by definition handling nuanced and non trivial cases</a:t>
            </a:r>
          </a:p>
          <a:p>
            <a:r>
              <a:rPr lang="en-US" sz="1800" dirty="0">
                <a:latin typeface="Segoe UI" panose="020B0502040204020203" pitchFamily="34" charset="0"/>
                <a:cs typeface="Segoe UI" panose="020B0502040204020203" pitchFamily="34" charset="0"/>
              </a:rPr>
              <a:t>They may make all sorts of wrong or “unfair” decisions</a:t>
            </a:r>
          </a:p>
          <a:p>
            <a:r>
              <a:rPr lang="en-US" sz="1800" dirty="0">
                <a:latin typeface="Segoe UI" panose="020B0502040204020203" pitchFamily="34" charset="0"/>
                <a:cs typeface="Segoe UI" panose="020B0502040204020203" pitchFamily="34" charset="0"/>
              </a:rPr>
              <a:t>They may be led to do the wrong thing, and this can happen from so many sources once our client is connected to a bunch of servers - to which we probably lost track of</a:t>
            </a:r>
          </a:p>
          <a:p>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The issue arises both for providers and consumers of both intelligent and dumb services, and the responsibility is shared. We need to ask ourself the questions, no matter our role.</a:t>
            </a:r>
          </a:p>
          <a:p>
            <a:r>
              <a:rPr lang="en-US" sz="1800" dirty="0">
                <a:latin typeface="Segoe UI" panose="020B0502040204020203" pitchFamily="34" charset="0"/>
                <a:cs typeface="Segoe UI" panose="020B0502040204020203" pitchFamily="34" charset="0"/>
              </a:rPr>
              <a:t>Logs of AI interactions: can admins see what people share? What they… think?</a:t>
            </a:r>
          </a:p>
          <a:p>
            <a:pPr marL="0" indent="0">
              <a:buNone/>
            </a:pPr>
            <a:endParaRPr lang="en-US" sz="1800" dirty="0">
              <a:latin typeface="Segoe UI" panose="020B0502040204020203" pitchFamily="34" charset="0"/>
              <a:cs typeface="Segoe UI" panose="020B0502040204020203" pitchFamily="34" charset="0"/>
            </a:endParaRPr>
          </a:p>
          <a:p>
            <a:endParaRPr lang="en-US"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91133184"/>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D7B71C8-AF67-BB15-47AE-4161F96D686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07B42C15-FEE1-969F-1B8E-C35CE0A3E2AF}"/>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Guided interactions</a:t>
            </a:r>
          </a:p>
        </p:txBody>
      </p:sp>
      <p:sp>
        <p:nvSpPr>
          <p:cNvPr id="3" name="Content Placeholder 2">
            <a:extLst>
              <a:ext uri="{FF2B5EF4-FFF2-40B4-BE49-F238E27FC236}">
                <a16:creationId xmlns:a16="http://schemas.microsoft.com/office/drawing/2014/main" id="{BAE26BFD-8CD7-0A09-EE72-9E466949B458}"/>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how can service providers give an integrated overview of what they offer (rather than just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 by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a:t>
            </a:r>
          </a:p>
          <a:p>
            <a:r>
              <a:rPr lang="en-US" sz="1800" dirty="0">
                <a:latin typeface="Segoe UI" panose="020B0502040204020203" pitchFamily="34" charset="0"/>
                <a:cs typeface="Segoe UI" panose="020B0502040204020203" pitchFamily="34" charset="0"/>
              </a:rPr>
              <a:t>How can interaction and “next steps” be guided, or should they?</a:t>
            </a:r>
          </a:p>
          <a:p>
            <a:r>
              <a:rPr lang="en-US" sz="1800" dirty="0">
                <a:latin typeface="Segoe UI" panose="020B0502040204020203" pitchFamily="34" charset="0"/>
                <a:cs typeface="Segoe UI" panose="020B0502040204020203" pitchFamily="34" charset="0"/>
              </a:rPr>
              <a:t>On the web, both humans and developers do have context.</a:t>
            </a:r>
          </a:p>
          <a:p>
            <a:pPr lvl="1"/>
            <a:r>
              <a:rPr lang="en-US" dirty="0">
                <a:latin typeface="Segoe UI" panose="020B0502040204020203" pitchFamily="34" charset="0"/>
                <a:cs typeface="Segoe UI" panose="020B0502040204020203" pitchFamily="34" charset="0"/>
              </a:rPr>
              <a:t>Humans or agent browsing web sites have context. what about agents with </a:t>
            </a:r>
            <a:r>
              <a:rPr lang="en-US" dirty="0" err="1">
                <a:latin typeface="Segoe UI" panose="020B0502040204020203" pitchFamily="34" charset="0"/>
                <a:cs typeface="Segoe UI" panose="020B0502040204020203" pitchFamily="34" charset="0"/>
              </a:rPr>
              <a:t>mcp</a:t>
            </a:r>
            <a:r>
              <a:rPr lang="en-US" dirty="0">
                <a:latin typeface="Segoe UI" panose="020B0502040204020203" pitchFamily="34" charset="0"/>
                <a:cs typeface="Segoe UI" panose="020B0502040204020203" pitchFamily="34" charset="0"/>
              </a:rPr>
              <a:t>-style descriptions?</a:t>
            </a:r>
          </a:p>
          <a:p>
            <a:pPr lvl="1"/>
            <a:r>
              <a:rPr lang="en-US" dirty="0">
                <a:latin typeface="Segoe UI" panose="020B0502040204020203" pitchFamily="34" charset="0"/>
                <a:cs typeface="Segoe UI" panose="020B0502040204020203" pitchFamily="34" charset="0"/>
              </a:rPr>
              <a:t>how to be intentional on what we expose?</a:t>
            </a:r>
          </a:p>
          <a:p>
            <a:endParaRPr lang="en-US" sz="18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Question for us: how much guidance to give? How open vs prescriptive should our description and answers be? How careful on what we expose?</a:t>
            </a:r>
          </a:p>
          <a:p>
            <a:r>
              <a:rPr lang="en-US" sz="1800" dirty="0">
                <a:latin typeface="Segoe UI" panose="020B0502040204020203" pitchFamily="34" charset="0"/>
                <a:cs typeface="Segoe UI" panose="020B0502040204020203" pitchFamily="34" charset="0"/>
              </a:rPr>
              <a:t>How can we foresee “bad usage” of our “</a:t>
            </a:r>
            <a:r>
              <a:rPr lang="en-US" sz="1800" dirty="0" err="1">
                <a:latin typeface="Segoe UI" panose="020B0502040204020203" pitchFamily="34" charset="0"/>
                <a:cs typeface="Segoe UI" panose="020B0502040204020203" pitchFamily="34" charset="0"/>
              </a:rPr>
              <a:t>api</a:t>
            </a:r>
            <a:r>
              <a:rPr lang="en-US" sz="1800" dirty="0">
                <a:latin typeface="Segoe UI" panose="020B0502040204020203" pitchFamily="34" charset="0"/>
                <a:cs typeface="Segoe UI" panose="020B0502040204020203" pitchFamily="34" charset="0"/>
              </a:rPr>
              <a:t>”? How to prevent it?</a:t>
            </a:r>
          </a:p>
        </p:txBody>
      </p:sp>
    </p:spTree>
    <p:extLst>
      <p:ext uri="{BB962C8B-B14F-4D97-AF65-F5344CB8AC3E}">
        <p14:creationId xmlns:p14="http://schemas.microsoft.com/office/powerpoint/2010/main" val="176723963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847143B-65C0-5BA1-3C6A-E6F54E18B7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56FEFC8-B27B-F991-485B-AC1034F29855}"/>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Quality, Logs, Traces, Business assertions /1</a:t>
            </a:r>
          </a:p>
        </p:txBody>
      </p:sp>
      <p:sp>
        <p:nvSpPr>
          <p:cNvPr id="3" name="Content Placeholder 2">
            <a:extLst>
              <a:ext uri="{FF2B5EF4-FFF2-40B4-BE49-F238E27FC236}">
                <a16:creationId xmlns:a16="http://schemas.microsoft.com/office/drawing/2014/main" id="{D57F3696-F63C-C8AE-6833-3D71CC8CF60C}"/>
              </a:ext>
            </a:extLst>
          </p:cNvPr>
          <p:cNvSpPr>
            <a:spLocks noGrp="1"/>
          </p:cNvSpPr>
          <p:nvPr>
            <p:ph idx="1"/>
          </p:nvPr>
        </p:nvSpPr>
        <p:spPr/>
        <p:txBody>
          <a:bodyPr>
            <a:noAutofit/>
          </a:bodyPr>
          <a:lstStyle/>
          <a:p>
            <a:r>
              <a:rPr lang="en-US" sz="1800" dirty="0">
                <a:latin typeface="Segoe UI" panose="020B0502040204020203" pitchFamily="34" charset="0"/>
                <a:cs typeface="Segoe UI" panose="020B0502040204020203" pitchFamily="34" charset="0"/>
              </a:rPr>
              <a:t>As both provider and clients we want to know</a:t>
            </a:r>
          </a:p>
          <a:p>
            <a:pPr lvl="1"/>
            <a:r>
              <a:rPr lang="en-US" sz="1600" dirty="0">
                <a:latin typeface="Segoe UI" panose="020B0502040204020203" pitchFamily="34" charset="0"/>
                <a:cs typeface="Segoe UI" panose="020B0502040204020203" pitchFamily="34" charset="0"/>
              </a:rPr>
              <a:t>How are services being used? Which are the common patterns? Where do clients drop off?</a:t>
            </a:r>
          </a:p>
          <a:p>
            <a:pPr lvl="1"/>
            <a:r>
              <a:rPr lang="en-US" sz="1600" dirty="0">
                <a:latin typeface="Segoe UI" panose="020B0502040204020203" pitchFamily="34" charset="0"/>
                <a:cs typeface="Segoe UI" panose="020B0502040204020203" pitchFamily="34" charset="0"/>
                <a:sym typeface="Wingdings" pitchFamily="2" charset="2"/>
              </a:rPr>
              <a:t> very similar to how we analyze users on the web</a:t>
            </a:r>
          </a:p>
          <a:p>
            <a:r>
              <a:rPr lang="en-US" sz="1800" dirty="0">
                <a:latin typeface="Segoe UI" panose="020B0502040204020203" pitchFamily="34" charset="0"/>
                <a:cs typeface="Segoe UI" panose="020B0502040204020203" pitchFamily="34" charset="0"/>
                <a:sym typeface="Wingdings" pitchFamily="2" charset="2"/>
              </a:rPr>
              <a:t>In addition, and this is new, we know have millions of “new software engineers” with wildly differing practices on how to manage exceptions</a:t>
            </a:r>
          </a:p>
          <a:p>
            <a:pPr lvl="1"/>
            <a:r>
              <a:rPr lang="en-US" sz="1600" dirty="0">
                <a:latin typeface="Segoe UI" panose="020B0502040204020203" pitchFamily="34" charset="0"/>
                <a:cs typeface="Segoe UI" panose="020B0502040204020203" pitchFamily="34" charset="0"/>
                <a:sym typeface="Wingdings" pitchFamily="2" charset="2"/>
              </a:rPr>
              <a:t>Our job is to be robust to incompetent users</a:t>
            </a:r>
            <a:endParaRPr lang="en-US" sz="1600" dirty="0">
              <a:latin typeface="Segoe UI" panose="020B0502040204020203" pitchFamily="34" charset="0"/>
              <a:cs typeface="Segoe UI" panose="020B0502040204020203" pitchFamily="34" charset="0"/>
            </a:endParaRPr>
          </a:p>
          <a:p>
            <a:r>
              <a:rPr lang="en-US" sz="1800" dirty="0">
                <a:latin typeface="Segoe UI" panose="020B0502040204020203" pitchFamily="34" charset="0"/>
                <a:cs typeface="Segoe UI" panose="020B0502040204020203" pitchFamily="34" charset="0"/>
              </a:rPr>
              <a:t>Key elements to this are </a:t>
            </a:r>
            <a:r>
              <a:rPr lang="en-US" sz="1800" b="1" dirty="0">
                <a:latin typeface="Segoe UI" panose="020B0502040204020203" pitchFamily="34" charset="0"/>
                <a:cs typeface="Segoe UI" panose="020B0502040204020203" pitchFamily="34" charset="0"/>
              </a:rPr>
              <a:t>telemetry for traces </a:t>
            </a:r>
            <a:r>
              <a:rPr lang="en-US" sz="1800" dirty="0">
                <a:latin typeface="Segoe UI" panose="020B0502040204020203" pitchFamily="34" charset="0"/>
                <a:cs typeface="Segoe UI" panose="020B0502040204020203" pitchFamily="34" charset="0"/>
              </a:rPr>
              <a:t>and the notion of </a:t>
            </a:r>
            <a:r>
              <a:rPr lang="en-US" sz="1800" b="1" dirty="0">
                <a:latin typeface="Segoe UI" panose="020B0502040204020203" pitchFamily="34" charset="0"/>
                <a:cs typeface="Segoe UI" panose="020B0502040204020203" pitchFamily="34" charset="0"/>
              </a:rPr>
              <a:t>business assertion. </a:t>
            </a:r>
            <a:r>
              <a:rPr lang="en-US" sz="1800" dirty="0">
                <a:latin typeface="Segoe UI" panose="020B0502040204020203" pitchFamily="34" charset="0"/>
                <a:cs typeface="Segoe UI" panose="020B0502040204020203" pitchFamily="34" charset="0"/>
              </a:rPr>
              <a:t>They try to fight the problem of </a:t>
            </a:r>
            <a:r>
              <a:rPr lang="en-US" sz="1800" b="1" dirty="0">
                <a:solidFill>
                  <a:srgbClr val="7030A0"/>
                </a:solidFill>
                <a:latin typeface="Segoe UI" panose="020B0502040204020203" pitchFamily="34" charset="0"/>
                <a:cs typeface="Segoe UI" panose="020B0502040204020203" pitchFamily="34" charset="0"/>
              </a:rPr>
              <a:t>silent failures</a:t>
            </a:r>
          </a:p>
          <a:p>
            <a:pPr lvl="1"/>
            <a:r>
              <a:rPr lang="en-US" dirty="0">
                <a:latin typeface="Segoe UI" panose="020B0502040204020203" pitchFamily="34" charset="0"/>
                <a:cs typeface="Segoe UI" panose="020B0502040204020203" pitchFamily="34" charset="0"/>
              </a:rPr>
              <a:t>what are we really monitoring for? How to do it at scale?</a:t>
            </a:r>
          </a:p>
          <a:p>
            <a:pPr lvl="1"/>
            <a:r>
              <a:rPr lang="en-US" dirty="0">
                <a:latin typeface="Segoe UI" panose="020B0502040204020203" pitchFamily="34" charset="0"/>
                <a:cs typeface="Segoe UI" panose="020B0502040204020203" pitchFamily="34" charset="0"/>
              </a:rPr>
              <a:t>Often – there are properties of an interaction that we expect to be true </a:t>
            </a:r>
            <a:r>
              <a:rPr lang="en-US" b="1" dirty="0">
                <a:latin typeface="Segoe UI" panose="020B0502040204020203" pitchFamily="34" charset="0"/>
                <a:cs typeface="Segoe UI" panose="020B0502040204020203" pitchFamily="34" charset="0"/>
              </a:rPr>
              <a:t>individually</a:t>
            </a:r>
            <a:r>
              <a:rPr lang="en-US" dirty="0">
                <a:latin typeface="Segoe UI" panose="020B0502040204020203" pitchFamily="34" charset="0"/>
                <a:cs typeface="Segoe UI" panose="020B0502040204020203" pitchFamily="34" charset="0"/>
              </a:rPr>
              <a:t> and properties that should be true </a:t>
            </a:r>
            <a:r>
              <a:rPr lang="en-US" b="1" dirty="0">
                <a:latin typeface="Segoe UI" panose="020B0502040204020203" pitchFamily="34" charset="0"/>
                <a:cs typeface="Segoe UI" panose="020B0502040204020203" pitchFamily="34" charset="0"/>
              </a:rPr>
              <a:t>statistically</a:t>
            </a:r>
          </a:p>
          <a:p>
            <a:endParaRPr lang="en-US"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231052980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1DADE3C-DEAD-D0B5-A5AE-37569A16DB11}"/>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1C940D6-9597-D4A2-F130-2C581BDEFB13}"/>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Quality, Logs, Traces, Business assertions /2</a:t>
            </a:r>
          </a:p>
        </p:txBody>
      </p:sp>
      <p:sp>
        <p:nvSpPr>
          <p:cNvPr id="3" name="Content Placeholder 2">
            <a:extLst>
              <a:ext uri="{FF2B5EF4-FFF2-40B4-BE49-F238E27FC236}">
                <a16:creationId xmlns:a16="http://schemas.microsoft.com/office/drawing/2014/main" id="{0CF607E7-10FC-C622-65C1-54C789914F91}"/>
              </a:ext>
            </a:extLst>
          </p:cNvPr>
          <p:cNvSpPr>
            <a:spLocks noGrp="1"/>
          </p:cNvSpPr>
          <p:nvPr>
            <p:ph idx="1"/>
          </p:nvPr>
        </p:nvSpPr>
        <p:spPr/>
        <p:txBody>
          <a:bodyPr>
            <a:noAutofit/>
          </a:bodyPr>
          <a:lstStyle/>
          <a:p>
            <a:r>
              <a:rPr lang="en-US" dirty="0">
                <a:latin typeface="Segoe UI" panose="020B0502040204020203" pitchFamily="34" charset="0"/>
                <a:cs typeface="Segoe UI" panose="020B0502040204020203" pitchFamily="34" charset="0"/>
              </a:rPr>
              <a:t>Log “consent” when possible (and what/ who consents to what)</a:t>
            </a:r>
          </a:p>
          <a:p>
            <a:r>
              <a:rPr lang="en-US" dirty="0">
                <a:latin typeface="Segoe UI" panose="020B0502040204020203" pitchFamily="34" charset="0"/>
                <a:cs typeface="Segoe UI" panose="020B0502040204020203" pitchFamily="34" charset="0"/>
              </a:rPr>
              <a:t>Automated error analysis and improvement. This now possible. In fact </a:t>
            </a:r>
            <a:r>
              <a:rPr lang="en-US" b="1" dirty="0">
                <a:latin typeface="Segoe UI" panose="020B0502040204020203" pitchFamily="34" charset="0"/>
                <a:cs typeface="Segoe UI" panose="020B0502040204020203" pitchFamily="34" charset="0"/>
              </a:rPr>
              <a:t>we are in a golden era: this is EASY today</a:t>
            </a:r>
            <a:r>
              <a:rPr lang="en-US" dirty="0">
                <a:latin typeface="Segoe UI" panose="020B0502040204020203" pitchFamily="34" charset="0"/>
                <a:cs typeface="Segoe UI" panose="020B0502040204020203" pitchFamily="34" charset="0"/>
              </a:rPr>
              <a:t>.</a:t>
            </a:r>
          </a:p>
          <a:p>
            <a:pPr lvl="1"/>
            <a:r>
              <a:rPr lang="en-US" dirty="0">
                <a:latin typeface="Segoe UI" panose="020B0502040204020203" pitchFamily="34" charset="0"/>
                <a:cs typeface="Segoe UI" panose="020B0502040204020203" pitchFamily="34" charset="0"/>
              </a:rPr>
              <a:t>The easiest consulting money you will ever make, revenue of around 50 K / day easy</a:t>
            </a:r>
          </a:p>
          <a:p>
            <a:pPr lvl="1"/>
            <a:r>
              <a:rPr lang="en-US" dirty="0">
                <a:latin typeface="Segoe UI" panose="020B0502040204020203" pitchFamily="34" charset="0"/>
                <a:cs typeface="Segoe UI" panose="020B0502040204020203" pitchFamily="34" charset="0"/>
              </a:rPr>
              <a:t>Services today are so bad that even models by [omitted on advice from legal] will detect them</a:t>
            </a:r>
          </a:p>
          <a:p>
            <a:pPr marL="228600" lvl="1" indent="0">
              <a:buNone/>
            </a:pPr>
            <a:r>
              <a:rPr lang="en-US" dirty="0">
                <a:latin typeface="Segoe UI" panose="020B0502040204020203" pitchFamily="34" charset="0"/>
                <a:cs typeface="Segoe UI" panose="020B0502040204020203" pitchFamily="34" charset="0"/>
              </a:rPr>
              <a:t>In summary we need to think and implement abstractions and practices to manage complex, semi-autonomous system and describing good vs bad behaviors.</a:t>
            </a:r>
          </a:p>
          <a:p>
            <a:r>
              <a:rPr lang="en-US" sz="1800" dirty="0">
                <a:latin typeface="Segoe UI" panose="020B0502040204020203" pitchFamily="34" charset="0"/>
                <a:cs typeface="Segoe UI" panose="020B0502040204020203" pitchFamily="34" charset="0"/>
              </a:rPr>
              <a:t>Self improvement is also kind of easy– needs to be on short leash</a:t>
            </a:r>
          </a:p>
        </p:txBody>
      </p:sp>
    </p:spTree>
    <p:extLst>
      <p:ext uri="{BB962C8B-B14F-4D97-AF65-F5344CB8AC3E}">
        <p14:creationId xmlns:p14="http://schemas.microsoft.com/office/powerpoint/2010/main" val="24704041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28F646D-33C7-2D1D-9BF2-36A94BFA66C6}"/>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5DFD939F-D72F-593D-CD2B-1AD38BD08094}"/>
              </a:ext>
            </a:extLst>
          </p:cNvPr>
          <p:cNvSpPr>
            <a:spLocks noGrp="1"/>
          </p:cNvSpPr>
          <p:nvPr>
            <p:ph type="title"/>
          </p:nvPr>
        </p:nvSpPr>
        <p:spPr/>
        <p:txBody>
          <a:bodyPr/>
          <a:lstStyle/>
          <a:p>
            <a:r>
              <a:rPr lang="en-US" dirty="0">
                <a:latin typeface="Segoe UI" panose="020B0502040204020203" pitchFamily="34" charset="0"/>
                <a:cs typeface="Segoe UI" panose="020B0502040204020203" pitchFamily="34" charset="0"/>
              </a:rPr>
              <a:t>Capturing opportunities</a:t>
            </a:r>
          </a:p>
        </p:txBody>
      </p:sp>
      <p:sp>
        <p:nvSpPr>
          <p:cNvPr id="3" name="Content Placeholder 2">
            <a:extLst>
              <a:ext uri="{FF2B5EF4-FFF2-40B4-BE49-F238E27FC236}">
                <a16:creationId xmlns:a16="http://schemas.microsoft.com/office/drawing/2014/main" id="{189A3C79-5297-A70E-BF27-2B4A3E2AC98D}"/>
              </a:ext>
            </a:extLst>
          </p:cNvPr>
          <p:cNvSpPr>
            <a:spLocks noGrp="1"/>
          </p:cNvSpPr>
          <p:nvPr>
            <p:ph idx="1"/>
          </p:nvPr>
        </p:nvSpPr>
        <p:spPr/>
        <p:txBody>
          <a:bodyPr>
            <a:noAutofit/>
          </a:bodyPr>
          <a:lstStyle/>
          <a:p>
            <a:r>
              <a:rPr lang="en-US" dirty="0">
                <a:latin typeface="Segoe UI" panose="020B0502040204020203" pitchFamily="34" charset="0"/>
                <a:cs typeface="Segoe UI" panose="020B0502040204020203" pitchFamily="34" charset="0"/>
              </a:rPr>
              <a:t>Ability to </a:t>
            </a:r>
          </a:p>
          <a:p>
            <a:pPr marL="571500" lvl="1" indent="-342900">
              <a:buFont typeface="+mj-lt"/>
              <a:buAutoNum type="arabicPeriod"/>
            </a:pPr>
            <a:r>
              <a:rPr lang="en-US" dirty="0">
                <a:latin typeface="Segoe UI" panose="020B0502040204020203" pitchFamily="34" charset="0"/>
                <a:cs typeface="Segoe UI" panose="020B0502040204020203" pitchFamily="34" charset="0"/>
              </a:rPr>
              <a:t>read docs at scale, understand complex systems </a:t>
            </a:r>
          </a:p>
          <a:p>
            <a:pPr marL="571500" lvl="1" indent="-342900">
              <a:buFont typeface="+mj-lt"/>
              <a:buAutoNum type="arabicPeriod"/>
            </a:pPr>
            <a:r>
              <a:rPr lang="en-US" dirty="0">
                <a:latin typeface="Segoe UI" panose="020B0502040204020203" pitchFamily="34" charset="0"/>
                <a:cs typeface="Segoe UI" panose="020B0502040204020203" pitchFamily="34" charset="0"/>
              </a:rPr>
              <a:t>answer direct questions about "how to do x”</a:t>
            </a:r>
          </a:p>
          <a:p>
            <a:pPr marL="571500" lvl="1" indent="-342900">
              <a:buFont typeface="+mj-lt"/>
              <a:buAutoNum type="arabicPeriod"/>
            </a:pPr>
            <a:r>
              <a:rPr lang="en-US" dirty="0">
                <a:latin typeface="Segoe UI" panose="020B0502040204020203" pitchFamily="34" charset="0"/>
                <a:cs typeface="Segoe UI" panose="020B0502040204020203" pitchFamily="34" charset="0"/>
              </a:rPr>
              <a:t>interact conversationally and create custom UI</a:t>
            </a:r>
          </a:p>
          <a:p>
            <a:r>
              <a:rPr lang="en-US" sz="1800" dirty="0">
                <a:latin typeface="Segoe UI" panose="020B0502040204020203" pitchFamily="34" charset="0"/>
                <a:cs typeface="Segoe UI" panose="020B0502040204020203" pitchFamily="34" charset="0"/>
              </a:rPr>
              <a:t>Responsibilities</a:t>
            </a:r>
          </a:p>
          <a:p>
            <a:pPr lvl="1"/>
            <a:r>
              <a:rPr lang="en-US" dirty="0">
                <a:latin typeface="Segoe UI" panose="020B0502040204020203" pitchFamily="34" charset="0"/>
                <a:cs typeface="Segoe UI" panose="020B0502040204020203" pitchFamily="34" charset="0"/>
              </a:rPr>
              <a:t>in the web we have terms and conditions - how does it work here?</a:t>
            </a:r>
          </a:p>
          <a:p>
            <a:pPr lvl="1"/>
            <a:r>
              <a:rPr lang="en-US" dirty="0">
                <a:latin typeface="Segoe UI" panose="020B0502040204020203" pitchFamily="34" charset="0"/>
                <a:cs typeface="Segoe UI" panose="020B0502040204020203" pitchFamily="34" charset="0"/>
              </a:rPr>
              <a:t>who is responsible for actions? does it depend on how clear the service descriptions are?</a:t>
            </a:r>
          </a:p>
          <a:p>
            <a:endParaRPr lang="en-US" sz="1800" dirty="0">
              <a:latin typeface="Segoe UI" panose="020B0502040204020203" pitchFamily="34" charset="0"/>
              <a:cs typeface="Segoe UI" panose="020B0502040204020203" pitchFamily="34" charset="0"/>
            </a:endParaRPr>
          </a:p>
        </p:txBody>
      </p:sp>
    </p:spTree>
    <p:extLst>
      <p:ext uri="{BB962C8B-B14F-4D97-AF65-F5344CB8AC3E}">
        <p14:creationId xmlns:p14="http://schemas.microsoft.com/office/powerpoint/2010/main" val="3267899515"/>
      </p:ext>
    </p:extLst>
  </p:cSld>
  <p:clrMapOvr>
    <a:masterClrMapping/>
  </p:clrMapOvr>
</p:sld>
</file>

<file path=ppt/theme/theme1.xml><?xml version="1.0" encoding="utf-8"?>
<a:theme xmlns:a="http://schemas.openxmlformats.org/drawingml/2006/main" name="VanillaVTI">
  <a:themeElements>
    <a:clrScheme name="Vanilla">
      <a:dk1>
        <a:sysClr val="windowText" lastClr="000000"/>
      </a:dk1>
      <a:lt1>
        <a:sysClr val="window" lastClr="FFFFFF"/>
      </a:lt1>
      <a:dk2>
        <a:srgbClr val="2C3932"/>
      </a:dk2>
      <a:lt2>
        <a:srgbClr val="FDF6EA"/>
      </a:lt2>
      <a:accent1>
        <a:srgbClr val="169C9A"/>
      </a:accent1>
      <a:accent2>
        <a:srgbClr val="FA9A42"/>
      </a:accent2>
      <a:accent3>
        <a:srgbClr val="E15C3D"/>
      </a:accent3>
      <a:accent4>
        <a:srgbClr val="E78A67"/>
      </a:accent4>
      <a:accent5>
        <a:srgbClr val="A74B40"/>
      </a:accent5>
      <a:accent6>
        <a:srgbClr val="3D9072"/>
      </a:accent6>
      <a:hlink>
        <a:srgbClr val="169C9A"/>
      </a:hlink>
      <a:folHlink>
        <a:srgbClr val="E15C3D"/>
      </a:folHlink>
    </a:clrScheme>
    <a:fontScheme name="Neue Haas">
      <a:majorFont>
        <a:latin typeface="Neue Haas Grotesk Text Pro"/>
        <a:ea typeface=""/>
        <a:cs typeface=""/>
      </a:majorFont>
      <a:minorFont>
        <a:latin typeface="Neue Haas Grotesk Text Pro"/>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VanillaVTI" id="{54D376C6-1C9B-4C6B-8F3C-483BB307BB05}" vid="{7690D8A9-C071-45EF-BA7A-F7FA9779B11D}"/>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3238</TotalTime>
  <Words>1767</Words>
  <Application>Microsoft Macintosh PowerPoint</Application>
  <PresentationFormat>Widescreen</PresentationFormat>
  <Paragraphs>97</Paragraphs>
  <Slides>18</Slides>
  <Notes>2</Notes>
  <HiddenSlides>0</HiddenSlides>
  <MMClips>0</MMClips>
  <ScaleCrop>false</ScaleCrop>
  <HeadingPairs>
    <vt:vector size="6" baseType="variant">
      <vt:variant>
        <vt:lpstr>Fonts Used</vt:lpstr>
      </vt:variant>
      <vt:variant>
        <vt:i4>5</vt:i4>
      </vt:variant>
      <vt:variant>
        <vt:lpstr>Theme</vt:lpstr>
      </vt:variant>
      <vt:variant>
        <vt:i4>1</vt:i4>
      </vt:variant>
      <vt:variant>
        <vt:lpstr>Slide Titles</vt:lpstr>
      </vt:variant>
      <vt:variant>
        <vt:i4>18</vt:i4>
      </vt:variant>
    </vt:vector>
  </HeadingPairs>
  <TitlesOfParts>
    <vt:vector size="24" baseType="lpstr">
      <vt:lpstr>Aptos</vt:lpstr>
      <vt:lpstr>Arial</vt:lpstr>
      <vt:lpstr>Neue Haas Grotesk Text Pro</vt:lpstr>
      <vt:lpstr>Segoe UI</vt:lpstr>
      <vt:lpstr>Symbol</vt:lpstr>
      <vt:lpstr>VanillaVTI</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Design considerations for ai agents</vt:lpstr>
      <vt:lpstr>AI agents – systems of LLM and tools - are complex distributed systems</vt:lpstr>
      <vt:lpstr>AI agents – systems of LLM and tools - are complex distributed systems, and….</vt:lpstr>
      <vt:lpstr>Memory, Intentions, Autonomy</vt:lpstr>
      <vt:lpstr>Security, safety, privacy</vt:lpstr>
      <vt:lpstr>Guided interactions</vt:lpstr>
      <vt:lpstr>Quality, Logs, Traces, Business assertions /1</vt:lpstr>
      <vt:lpstr>Quality, Logs, Traces, Business assertions /2</vt:lpstr>
      <vt:lpstr>Capturing opportunities</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Casati, Fabio</dc:creator>
  <cp:lastModifiedBy>Casati, Fabio</cp:lastModifiedBy>
  <cp:revision>12</cp:revision>
  <dcterms:created xsi:type="dcterms:W3CDTF">2026-01-21T12:40:19Z</dcterms:created>
  <dcterms:modified xsi:type="dcterms:W3CDTF">2026-01-23T18:39:01Z</dcterms:modified>
</cp:coreProperties>
</file>