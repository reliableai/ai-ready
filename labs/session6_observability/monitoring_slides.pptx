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360" r:id="rId2"/>
    <p:sldId id="361" r:id="rId3"/>
    <p:sldId id="362" r:id="rId4"/>
    <p:sldId id="363" r:id="rId5"/>
    <p:sldId id="364" r:id="rId6"/>
    <p:sldId id="365" r:id="rId7"/>
    <p:sldId id="366" r:id="rId8"/>
    <p:sldId id="367" r:id="rId9"/>
    <p:sldId id="368" r:id="rId10"/>
    <p:sldId id="369" r:id="rId11"/>
    <p:sldId id="370" r:id="rId12"/>
    <p:sldId id="371" r:id="rId13"/>
    <p:sldId id="411" r:id="rId14"/>
    <p:sldId id="372" r:id="rId15"/>
    <p:sldId id="373" r:id="rId16"/>
    <p:sldId id="374" r:id="rId17"/>
    <p:sldId id="375" r:id="rId18"/>
    <p:sldId id="376" r:id="rId19"/>
    <p:sldId id="409" r:id="rId20"/>
    <p:sldId id="325" r:id="rId21"/>
    <p:sldId id="378" r:id="rId22"/>
    <p:sldId id="379" r:id="rId23"/>
    <p:sldId id="380" r:id="rId24"/>
    <p:sldId id="410" r:id="rId25"/>
    <p:sldId id="382" r:id="rId26"/>
    <p:sldId id="383" r:id="rId27"/>
    <p:sldId id="384" r:id="rId28"/>
    <p:sldId id="385" r:id="rId29"/>
    <p:sldId id="386" r:id="rId30"/>
    <p:sldId id="387" r:id="rId31"/>
    <p:sldId id="388" r:id="rId32"/>
    <p:sldId id="389" r:id="rId33"/>
    <p:sldId id="390" r:id="rId34"/>
    <p:sldId id="391" r:id="rId35"/>
    <p:sldId id="392" r:id="rId36"/>
    <p:sldId id="393" r:id="rId37"/>
    <p:sldId id="394" r:id="rId38"/>
    <p:sldId id="395" r:id="rId39"/>
    <p:sldId id="396" r:id="rId40"/>
    <p:sldId id="397" r:id="rId41"/>
    <p:sldId id="398" r:id="rId42"/>
    <p:sldId id="399" r:id="rId43"/>
    <p:sldId id="400" r:id="rId44"/>
    <p:sldId id="401" r:id="rId45"/>
    <p:sldId id="402" r:id="rId46"/>
    <p:sldId id="403" r:id="rId47"/>
    <p:sldId id="404" r:id="rId48"/>
    <p:sldId id="405" r:id="rId49"/>
    <p:sldId id="406" r:id="rId50"/>
    <p:sldId id="407" r:id="rId51"/>
    <p:sldId id="408" r:id="rId5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D6FF"/>
    <a:srgbClr val="009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77260"/>
  </p:normalViewPr>
  <p:slideViewPr>
    <p:cSldViewPr snapToGrid="0" snapToObjects="1">
      <p:cViewPr>
        <p:scale>
          <a:sx n="105" d="100"/>
          <a:sy n="105" d="100"/>
        </p:scale>
        <p:origin x="880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C018B5-4193-BE43-83B1-DFAE074D9470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5B7286-BB7E-B64D-807C-E1398CCED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63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 a clear recovery path, so the except clause catches them by name (not a bare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except:which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would swallow everything). Inside, it: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Logs a warning with the error details so you have a record of what failed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Returns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schedule_retry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— hands the URL to a retry mechanism rather than crashing the caller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raise_for_status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 to let 4xx/5xx propagate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the try/except,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resp.raise_for_status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 checks the HTTP status code. If the server returned 4xx (client error, e.g. 404, 401) or 5xx (server error, e.g. 500, 503), it raises an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HTTPError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Crucially,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call is outside the except block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so that exception is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caught here — it bubbles up to the caller.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B7286-BB7E-B64D-807C-E1398CCEDA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06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200"/>
              </a:spcBef>
            </a:pPr>
            <a:r>
              <a:rPr lang="en-US" sz="1200" b="1" i="0" dirty="0">
                <a:solidFill>
                  <a:srgbClr val="F4A261"/>
                </a:solidFill>
                <a:latin typeface="Calibri"/>
              </a:rPr>
              <a:t>What students see:</a:t>
            </a:r>
          </a:p>
          <a:p>
            <a:pPr algn="l">
              <a:spcBef>
                <a:spcPts val="200"/>
              </a:spcBef>
            </a:pPr>
            <a:r>
              <a:rPr lang="en-US" sz="1200" b="0" i="0" dirty="0">
                <a:solidFill>
                  <a:srgbClr val="FFFFFF"/>
                </a:solidFill>
                <a:latin typeface="Calibri"/>
              </a:rPr>
              <a:t>JSON rows in </a:t>
            </a:r>
            <a:r>
              <a:rPr lang="en-US" sz="1200" b="0" i="0" dirty="0" err="1">
                <a:solidFill>
                  <a:srgbClr val="FFFFFF"/>
                </a:solidFill>
                <a:latin typeface="Calibri"/>
              </a:rPr>
              <a:t>app.log</a:t>
            </a:r>
            <a:r>
              <a:rPr lang="en-US" sz="1200" b="0" i="0" dirty="0">
                <a:solidFill>
                  <a:srgbClr val="FFFFFF"/>
                </a:solidFill>
                <a:latin typeface="Calibri"/>
              </a:rPr>
              <a:t>, level filtering (INFO vs DEBUG), and a deliberate crash at the end. Teaching beat: in dev, crashes are fine; silent failures are not.</a:t>
            </a:r>
          </a:p>
          <a:p>
            <a:pPr algn="l">
              <a:spcBef>
                <a:spcPts val="800"/>
              </a:spcBef>
            </a:pPr>
            <a:r>
              <a:rPr lang="en-US" sz="1200" b="1" i="0" dirty="0">
                <a:solidFill>
                  <a:srgbClr val="F4A261"/>
                </a:solidFill>
                <a:latin typeface="Calibri"/>
              </a:rPr>
              <a:t>Returns to the deck by</a:t>
            </a:r>
          </a:p>
          <a:p>
            <a:pPr algn="l">
              <a:spcBef>
                <a:spcPts val="200"/>
              </a:spcBef>
            </a:pPr>
            <a:r>
              <a:rPr lang="en-US" sz="1200" b="0" i="1" dirty="0">
                <a:solidFill>
                  <a:srgbClr val="FFFFFF"/>
                </a:solidFill>
                <a:latin typeface="Calibri"/>
              </a:rPr>
              <a:t>motivating the next step: "one log file is already useful — now what changes when we watch it automatically?"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B7286-BB7E-B64D-807C-E1398CCEDA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259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888888"/>
                </a:solidFill>
                <a:latin typeface="Calibri"/>
              </a:rPr>
              <a:t>→ pause for IC-2 (3 min): Read the RED dashboard — what fields must each event carry?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are two complementary monitoring frameworks for knowing whether a system is healthy. They answer the same question from different angles: RED looks at what users experience, USE looks at what the machines are doing.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 — Rate, Errors, Duration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Applied per service / per endpoint. For each request-driven component (HTTP service, RPC handler, queue consumer), you track three numbers: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requests per second. How much work is coming in? Sudden drops often signal upstream failures; sudden spikes signal incidents, bot traffic, or retry storms.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failed requests per second, usually as a ratio of rate. 5xx responses, exceptions, failed RPCs. This is your most direct "is it broken" signal.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request latency, as a distribution (p50, p95, p99 — never just the average). Tail latency is where users feel pain; averages hide it.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Coined by Tom Wilkes (Grafana Labs). The point: for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request/response service, these three are the minimum viable dashboard. If p99 latency spikes and error rate climbs while RPS stays flat, you know the service is degrading under normal load.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— Utilization, Saturation, Errors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Applied per resource. For each physical or logical resource (CPU, memory, disk, network link, thread pool, connection pool), you track: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percentage of time the resource is busy. CPU at 80%, disk at 60%.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Saturation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how much extra work is queued up waiting for the resource. Run queue length, TCP backlog, thread pool queue depth. Utilization can look fine at 70% while saturation reveals the resource is actually overwhelmed with queued work.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resource-level error events. Disk I/O errors, NIC drops, ECC corrections, OOM kills.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Coined by Brendan Gregg (performance engineer, ex-Netflix). The point: when RED tells you the service is slow, USE tells you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which resource is the bottleneck.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both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They're complementary, not alternatives: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REDUSESubjectServicesResourcesPerspectiveUser-facingMachine-facingAnswers"Is the service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broken?""What's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bottleneck?"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GranularityPer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endpointPer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resource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typical incident flow: RED dashboards alert that p99 on the checkout service doubled and error rate is climbing → you pivot to USE dashboards for that service's hosts → see CPU saturation at 12 (on an 8-core box) → scale out or find the hot code path.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captures symptoms, the other captures causes. Running both means you don't need to guess which layer is failing.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i="1" dirty="0">
              <a:solidFill>
                <a:srgbClr val="888888"/>
              </a:solidFill>
              <a:latin typeface="Calibri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B7286-BB7E-B64D-807C-E1398CCEDA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46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888888"/>
                </a:solidFill>
                <a:latin typeface="Calibri"/>
              </a:rPr>
              <a:t>Preview: this concern expands in Section 03, where the log may contain the user's entire prompt.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B7286-BB7E-B64D-807C-E1398CCEDAE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207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FFFFFF"/>
                </a:solidFill>
                <a:latin typeface="Cambria"/>
              </a:rPr>
              <a:t>Classical ML monitoring is mostly standard service monitoring plus a quality metric. The open-ended complications arrive with LLMs.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QPS (Queries Per Second): throughput metric — how many requests a system handles per second. Same concept as RPS (Requests Per Second); "QPS" is more common at Google and in database/search contexts, "RPS" elsewhere. Corresponds to the "Rate" in the RED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B7286-BB7E-B64D-807C-E1398CCEDAE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332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888888"/>
                </a:solidFill>
                <a:latin typeface="Calibri"/>
              </a:rPr>
              <a:t>→ pause for IC-4 (3 min): Which assertion broke? — single-request assert vs. nightly-eval assert.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B7286-BB7E-B64D-807C-E1398CCEDAE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866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dirty="0">
                <a:solidFill>
                  <a:srgbClr val="F4A261"/>
                </a:solidFill>
                <a:latin typeface="Calibri"/>
              </a:rPr>
              <a:t>Returns to the deck by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dirty="0">
                <a:solidFill>
                  <a:srgbClr val="FFFFFF"/>
                </a:solidFill>
                <a:latin typeface="Calibri"/>
              </a:rPr>
              <a:t>staging Section 03: "same dashboard shape, now swap the quality metric for a rubric score over an LLM's answer."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888888"/>
                </a:solidFill>
                <a:latin typeface="Calibri"/>
              </a:rPr>
              <a:t>Budget: ~15 minutes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B7286-BB7E-B64D-807C-E1398CCEDAE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901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888888"/>
                </a:solidFill>
                <a:latin typeface="Calibri"/>
              </a:rPr>
              <a:t>Data structure: one JSON row per call — rich, flat, </a:t>
            </a:r>
            <a:r>
              <a:rPr lang="en-US" sz="1200" i="1" dirty="0" err="1">
                <a:solidFill>
                  <a:srgbClr val="888888"/>
                </a:solidFill>
                <a:latin typeface="Calibri"/>
              </a:rPr>
              <a:t>queryable</a:t>
            </a:r>
            <a:r>
              <a:rPr lang="en-US" sz="1200" i="1" dirty="0">
                <a:solidFill>
                  <a:srgbClr val="888888"/>
                </a:solidFill>
                <a:latin typeface="Calibri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B7286-BB7E-B64D-807C-E1398CCEDAE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40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0"/>
            <a:ext cx="81381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L10 · Monitoring, Observability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34640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i="1" dirty="0">
                <a:solidFill>
                  <a:srgbClr val="F4A261"/>
                </a:solidFill>
                <a:latin typeface="Cambria"/>
              </a:rPr>
              <a:t>Power is Nothing Without Control</a:t>
            </a:r>
          </a:p>
        </p:txBody>
      </p:sp>
    </p:spTree>
    <p:extLst>
      <p:ext uri="{BB962C8B-B14F-4D97-AF65-F5344CB8AC3E}">
        <p14:creationId xmlns:p14="http://schemas.microsoft.com/office/powerpoint/2010/main" val="3155904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76D6FF"/>
                </a:solidFill>
                <a:latin typeface="Century Gothic"/>
              </a:rPr>
              <a:t>Why we </a:t>
            </a:r>
            <a:r>
              <a:rPr lang="en-US" sz="2800" b="1" dirty="0">
                <a:solidFill>
                  <a:srgbClr val="76D6FF"/>
                </a:solidFill>
                <a:latin typeface="Century Gothic"/>
              </a:rPr>
              <a:t>observe a system</a:t>
            </a:r>
            <a:endParaRPr sz="2400" b="1" dirty="0">
              <a:solidFill>
                <a:srgbClr val="F4A261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28982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•  </a:t>
            </a:r>
            <a:r>
              <a:rPr sz="2000" b="1" i="0" dirty="0">
                <a:solidFill>
                  <a:srgbClr val="F4A261"/>
                </a:solidFill>
                <a:latin typeface="Calibri"/>
              </a:rPr>
              <a:t>Find and fix bugs.</a:t>
            </a:r>
          </a:p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•  </a:t>
            </a:r>
            <a:r>
              <a:rPr sz="2000" b="1" i="0" dirty="0">
                <a:solidFill>
                  <a:srgbClr val="F4A261"/>
                </a:solidFill>
                <a:latin typeface="Calibri"/>
              </a:rPr>
              <a:t>Understand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— we don't fully understand the system's behavior (true for any big system; doubly true for </a:t>
            </a:r>
            <a:r>
              <a:rPr lang="en-US" sz="2000" b="0" i="0" dirty="0">
                <a:solidFill>
                  <a:srgbClr val="FFFFFF"/>
                </a:solidFill>
                <a:latin typeface="Calibri"/>
              </a:rPr>
              <a:t>AI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).</a:t>
            </a:r>
          </a:p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•  </a:t>
            </a:r>
            <a:r>
              <a:rPr sz="2000" b="1" i="0" dirty="0">
                <a:solidFill>
                  <a:srgbClr val="F4A261"/>
                </a:solidFill>
                <a:latin typeface="Calibri"/>
              </a:rPr>
              <a:t>Control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— we want to set guardrails against specific failure modes.</a:t>
            </a:r>
          </a:p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•  </a:t>
            </a:r>
            <a:r>
              <a:rPr sz="2000" b="1" i="0" dirty="0">
                <a:solidFill>
                  <a:srgbClr val="F4A261"/>
                </a:solidFill>
                <a:latin typeface="Calibri"/>
              </a:rPr>
              <a:t>Improve</a:t>
            </a:r>
            <a:r>
              <a:rPr lang="en-US" sz="2000" b="1" i="0" dirty="0">
                <a:solidFill>
                  <a:srgbClr val="F4A261"/>
                </a:solidFill>
                <a:latin typeface="Calibri"/>
              </a:rPr>
              <a:t>ment loops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— observe, learn, improve. Monitoring is the data source for next week's fix.</a:t>
            </a:r>
          </a:p>
          <a:p>
            <a:pPr algn="l">
              <a:spcBef>
                <a:spcPts val="200"/>
              </a:spcBef>
            </a:pPr>
            <a:endParaRPr lang="en-US" sz="20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Both humans and AI monitor AI: operators read dashboards, and agents check other agents' outputs.</a:t>
            </a:r>
          </a:p>
        </p:txBody>
      </p:sp>
    </p:spTree>
    <p:extLst>
      <p:ext uri="{BB962C8B-B14F-4D97-AF65-F5344CB8AC3E}">
        <p14:creationId xmlns:p14="http://schemas.microsoft.com/office/powerpoint/2010/main" val="2549391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76D6FF"/>
                </a:solidFill>
                <a:latin typeface="Century Gothic"/>
              </a:rPr>
              <a:t>Roadmap: the matrix</a:t>
            </a:r>
            <a:r>
              <a:rPr lang="en-US" sz="2800" b="1" dirty="0">
                <a:solidFill>
                  <a:srgbClr val="76D6FF"/>
                </a:solidFill>
                <a:latin typeface="Century Gothic"/>
              </a:rPr>
              <a:t> we want to fill</a:t>
            </a:r>
            <a:endParaRPr sz="2400" b="1" dirty="0">
              <a:solidFill>
                <a:srgbClr val="F4A261"/>
              </a:solidFill>
              <a:latin typeface="Calibri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51560"/>
          <a:ext cx="81381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0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0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endParaRPr sz="1400" dirty="0"/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bg1"/>
                          </a:solidFill>
                          <a:latin typeface="Calibri"/>
                        </a:rPr>
                        <a:t>What we monitor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bg1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bg1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F4A261"/>
                          </a:solidFill>
                          <a:latin typeface="Calibri"/>
                        </a:rPr>
                        <a:t>Traditional SW / SaaS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i="1" dirty="0">
                        <a:solidFill>
                          <a:srgbClr val="888888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i="1">
                        <a:solidFill>
                          <a:srgbClr val="888888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i="1">
                        <a:solidFill>
                          <a:srgbClr val="888888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4A261"/>
                          </a:solidFill>
                          <a:latin typeface="Calibri"/>
                        </a:rPr>
                        <a:t>Classical ML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i="1">
                        <a:solidFill>
                          <a:srgbClr val="888888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i="1">
                        <a:solidFill>
                          <a:srgbClr val="888888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i="1">
                        <a:solidFill>
                          <a:srgbClr val="888888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4A261"/>
                          </a:solidFill>
                          <a:latin typeface="Calibri"/>
                        </a:rPr>
                        <a:t>Single LLM call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i="1">
                        <a:solidFill>
                          <a:srgbClr val="888888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i="1">
                        <a:solidFill>
                          <a:srgbClr val="888888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i="1">
                        <a:solidFill>
                          <a:srgbClr val="888888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4A261"/>
                          </a:solidFill>
                          <a:latin typeface="Calibri"/>
                        </a:rPr>
                        <a:t>LLM + context / tool / memory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i="1">
                        <a:solidFill>
                          <a:srgbClr val="888888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i="1">
                        <a:solidFill>
                          <a:srgbClr val="888888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i="1">
                        <a:solidFill>
                          <a:srgbClr val="888888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4A261"/>
                          </a:solidFill>
                          <a:latin typeface="Calibri"/>
                        </a:rPr>
                        <a:t>Systems of agents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i="1">
                        <a:solidFill>
                          <a:srgbClr val="888888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i="1">
                        <a:solidFill>
                          <a:srgbClr val="888888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i="1" dirty="0">
                        <a:solidFill>
                          <a:srgbClr val="888888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4421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0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76D6FF"/>
                </a:solidFill>
                <a:latin typeface="Century Gothic"/>
              </a:rPr>
              <a:t>SECTION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286000"/>
            <a:ext cx="813816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Calibri"/>
              </a:rPr>
              <a:t>Non-AI Software</a:t>
            </a:r>
            <a:endParaRPr sz="3200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6956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76D6FF"/>
                </a:solidFill>
                <a:latin typeface="Century Gothic"/>
              </a:rPr>
              <a:t>Assertions: Avoid Silent Failures Like the Plague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312" y="4059148"/>
            <a:ext cx="8138160" cy="764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lang="en-US" sz="2400" dirty="0">
                <a:solidFill>
                  <a:srgbClr val="FFFFFF"/>
                </a:solidFill>
                <a:latin typeface="Calibri"/>
              </a:rPr>
              <a:t>T</a:t>
            </a:r>
            <a:r>
              <a:rPr sz="2400" b="0" i="0" dirty="0">
                <a:solidFill>
                  <a:srgbClr val="FFFFFF"/>
                </a:solidFill>
                <a:latin typeface="Calibri"/>
              </a:rPr>
              <a:t>hey act as great documentation, too.</a:t>
            </a:r>
            <a:endParaRPr lang="en-US" sz="24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lang="en-US" sz="2400" dirty="0">
                <a:solidFill>
                  <a:srgbClr val="FFFFFF"/>
                </a:solidFill>
                <a:latin typeface="Calibri"/>
              </a:rPr>
              <a:t>Caution: optional at runtime, can be skipped</a:t>
            </a:r>
            <a:endParaRPr sz="24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CodePanel">
            <a:extLst>
              <a:ext uri="{FF2B5EF4-FFF2-40B4-BE49-F238E27FC236}">
                <a16:creationId xmlns:a16="http://schemas.microsoft.com/office/drawing/2014/main" id="{7757B069-BE12-0F4F-90A9-8A9216A320BF}"/>
              </a:ext>
            </a:extLst>
          </p:cNvPr>
          <p:cNvSpPr/>
          <p:nvPr/>
        </p:nvSpPr>
        <p:spPr>
          <a:xfrm>
            <a:off x="337312" y="1757157"/>
            <a:ext cx="8140700" cy="1587500"/>
          </a:xfrm>
          <a:prstGeom prst="rect">
            <a:avLst/>
          </a:prstGeom>
          <a:solidFill>
            <a:srgbClr val="1A1F2E"/>
          </a:solidFill>
          <a:ln w="12700" cap="flat" cmpd="sng" algn="ctr">
            <a:solidFill>
              <a:srgbClr val="F4A26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CodeExample">
            <a:extLst>
              <a:ext uri="{FF2B5EF4-FFF2-40B4-BE49-F238E27FC236}">
                <a16:creationId xmlns:a16="http://schemas.microsoft.com/office/drawing/2014/main" id="{69F6C000-75A1-554B-93E7-F818303C9828}"/>
              </a:ext>
            </a:extLst>
          </p:cNvPr>
          <p:cNvSpPr txBox="1"/>
          <p:nvPr/>
        </p:nvSpPr>
        <p:spPr>
          <a:xfrm>
            <a:off x="464312" y="1858757"/>
            <a:ext cx="7886700" cy="13843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400" dirty="0">
                <a:solidFill>
                  <a:srgbClr val="8A94A6"/>
                </a:solidFill>
                <a:latin typeface="Consolas"/>
              </a:rPr>
              <a:t># after merging two sorted lists</a:t>
            </a:r>
          </a:p>
          <a:p>
            <a:pPr algn="l">
              <a:spcBef>
                <a:spcPts val="0"/>
              </a:spcBef>
            </a:pPr>
            <a:r>
              <a:rPr lang="en-US" sz="1400" dirty="0">
                <a:solidFill>
                  <a:srgbClr val="FFFFFF"/>
                </a:solidFill>
                <a:latin typeface="Consolas"/>
              </a:rPr>
              <a:t>merged = merge(a, b)</a:t>
            </a:r>
          </a:p>
          <a:p>
            <a:pPr algn="l">
              <a:spcBef>
                <a:spcPts val="0"/>
              </a:spcBef>
            </a:pPr>
            <a:r>
              <a:rPr lang="en-US" sz="1400" b="1" dirty="0">
                <a:solidFill>
                  <a:srgbClr val="F4A261"/>
                </a:solidFill>
                <a:latin typeface="Consolas"/>
              </a:rPr>
              <a:t>assert</a:t>
            </a:r>
            <a:r>
              <a:rPr lang="en-US" sz="1400" dirty="0">
                <a:solidFill>
                  <a:srgbClr val="FFFFFF"/>
                </a:solidFill>
                <a:latin typeface="Consolas"/>
              </a:rPr>
              <a:t> len(merged) == len(a) + len(b), </a:t>
            </a:r>
            <a:r>
              <a:rPr lang="en-US" sz="1400" dirty="0">
                <a:solidFill>
                  <a:srgbClr val="80FFF0"/>
                </a:solidFill>
                <a:latin typeface="Consolas"/>
              </a:rPr>
              <a:t>"lost items during merge"</a:t>
            </a:r>
          </a:p>
          <a:p>
            <a:pPr algn="l">
              <a:spcBef>
                <a:spcPts val="0"/>
              </a:spcBef>
            </a:pPr>
            <a:r>
              <a:rPr lang="en-US" sz="1400" b="1" dirty="0">
                <a:solidFill>
                  <a:srgbClr val="F4A261"/>
                </a:solidFill>
                <a:latin typeface="Consolas"/>
              </a:rPr>
              <a:t>assert</a:t>
            </a:r>
            <a:r>
              <a:rPr lang="en-US" sz="1400" dirty="0">
                <a:solidFill>
                  <a:srgbClr val="FFFFFF"/>
                </a:solidFill>
                <a:latin typeface="Consolas"/>
              </a:rPr>
              <a:t> all(merged[i] &lt;= merged[i+1] </a:t>
            </a:r>
            <a:r>
              <a:rPr lang="en-US" sz="1400" b="1" dirty="0">
                <a:solidFill>
                  <a:srgbClr val="F4A261"/>
                </a:solidFill>
                <a:latin typeface="Consolas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/>
              </a:rPr>
              <a:t> i </a:t>
            </a:r>
            <a:r>
              <a:rPr lang="en-US" sz="1400" b="1" dirty="0">
                <a:solidFill>
                  <a:srgbClr val="F4A261"/>
                </a:solidFill>
                <a:latin typeface="Consolas"/>
              </a:rPr>
              <a:t>in</a:t>
            </a:r>
            <a:r>
              <a:rPr lang="en-US" sz="1400" dirty="0">
                <a:solidFill>
                  <a:srgbClr val="FFFFFF"/>
                </a:solidFill>
                <a:latin typeface="Consolas"/>
              </a:rPr>
              <a:t> range(len(merged)-1)), </a:t>
            </a:r>
            <a:r>
              <a:rPr lang="en-US" sz="1400" dirty="0">
                <a:solidFill>
                  <a:srgbClr val="80FFF0"/>
                </a:solidFill>
                <a:latin typeface="Consolas"/>
              </a:rPr>
              <a:t>"merge broke ordering"</a:t>
            </a:r>
          </a:p>
        </p:txBody>
      </p:sp>
    </p:spTree>
    <p:extLst>
      <p:ext uri="{BB962C8B-B14F-4D97-AF65-F5344CB8AC3E}">
        <p14:creationId xmlns:p14="http://schemas.microsoft.com/office/powerpoint/2010/main" val="3293242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19912"/>
            <a:ext cx="8138160" cy="3847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400" b="0" i="0" dirty="0">
                <a:solidFill>
                  <a:srgbClr val="FFFFFF"/>
                </a:solidFill>
                <a:latin typeface="Calibri"/>
              </a:rPr>
              <a:t>"this happened, here, with these values, at this time."</a:t>
            </a:r>
          </a:p>
          <a:p>
            <a:pPr algn="l">
              <a:spcBef>
                <a:spcPts val="200"/>
              </a:spcBef>
            </a:pPr>
            <a:endParaRPr lang="en-US" sz="24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2400" b="0" i="0" dirty="0">
                <a:solidFill>
                  <a:srgbClr val="FFFFFF"/>
                </a:solidFill>
                <a:latin typeface="Calibri"/>
              </a:rPr>
              <a:t>•  </a:t>
            </a:r>
            <a:r>
              <a:rPr sz="2400" b="1" i="0" dirty="0">
                <a:solidFill>
                  <a:srgbClr val="F4A261"/>
                </a:solidFill>
                <a:latin typeface="Calibri"/>
              </a:rPr>
              <a:t>To find and diagnose unexpected behaviors</a:t>
            </a:r>
            <a:r>
              <a:rPr sz="2400" b="0" i="0" dirty="0">
                <a:solidFill>
                  <a:srgbClr val="FFFFFF"/>
                </a:solidFill>
                <a:latin typeface="Calibri"/>
              </a:rPr>
              <a:t> — log the state to identify when and why a bug hits.</a:t>
            </a:r>
            <a:endParaRPr lang="en-US" sz="24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endParaRPr sz="24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2400" b="0" i="0" dirty="0">
                <a:solidFill>
                  <a:srgbClr val="FFFFFF"/>
                </a:solidFill>
                <a:latin typeface="Calibri"/>
              </a:rPr>
              <a:t>•  </a:t>
            </a:r>
            <a:r>
              <a:rPr sz="2400" b="1" i="0" dirty="0">
                <a:solidFill>
                  <a:srgbClr val="F4A261"/>
                </a:solidFill>
                <a:latin typeface="Calibri"/>
              </a:rPr>
              <a:t>To have a trail of what happened</a:t>
            </a:r>
            <a:r>
              <a:rPr sz="2400" b="0" i="0" dirty="0">
                <a:solidFill>
                  <a:srgbClr val="FFFFFF"/>
                </a:solidFill>
                <a:latin typeface="Calibri"/>
              </a:rPr>
              <a:t> — peace of mind, and the ability to reconstruct behaviors and facts later.</a:t>
            </a:r>
          </a:p>
          <a:p>
            <a:pPr algn="l">
              <a:spcBef>
                <a:spcPts val="200"/>
              </a:spcBef>
            </a:pPr>
            <a:endParaRPr lang="en-US" sz="24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2400" b="0" i="0" dirty="0">
                <a:solidFill>
                  <a:srgbClr val="FFFFFF"/>
                </a:solidFill>
                <a:latin typeface="Calibri"/>
              </a:rPr>
              <a:t>Uses that grow from those two: audit trails, session replay, billing, compliance, product analytics.</a:t>
            </a:r>
          </a:p>
        </p:txBody>
      </p:sp>
    </p:spTree>
    <p:extLst>
      <p:ext uri="{BB962C8B-B14F-4D97-AF65-F5344CB8AC3E}">
        <p14:creationId xmlns:p14="http://schemas.microsoft.com/office/powerpoint/2010/main" val="3255524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Logging primitives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177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logging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— a side channel that records "something happened." Doesn't change control flow. Verbosity controlled by level.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DEBUG / INFO / WARNING / ERROR / CRITICAL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— verbosity knob and alerting hook.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959100"/>
            <a:ext cx="8138160" cy="180340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3100" y="3060700"/>
            <a:ext cx="7810500" cy="17235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400" b="1" dirty="0">
                <a:solidFill>
                  <a:srgbClr val="F4A261"/>
                </a:solidFill>
                <a:latin typeface="Consolas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/>
              </a:rPr>
              <a:t> logging</a:t>
            </a:r>
          </a:p>
          <a:p>
            <a:pPr algn="l">
              <a:spcBef>
                <a:spcPts val="0"/>
              </a:spcBef>
            </a:pPr>
            <a:r>
              <a:rPr lang="en-US" sz="1400" dirty="0">
                <a:solidFill>
                  <a:srgbClr val="FFFFFF"/>
                </a:solidFill>
                <a:latin typeface="Consolas"/>
              </a:rPr>
              <a:t>log = logging.getLogger(__name__)</a:t>
            </a:r>
          </a:p>
          <a:p>
            <a:pPr algn="l">
              <a:spcBef>
                <a:spcPts val="0"/>
              </a:spcBef>
            </a:pPr>
            <a:r>
              <a:rPr lang="en-US" sz="1400" dirty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lang="en-US" sz="1400" b="1" dirty="0">
                <a:solidFill>
                  <a:srgbClr val="F4A261"/>
                </a:solidFill>
                <a:latin typeface="Consolas"/>
              </a:rPr>
              <a:t>def</a:t>
            </a:r>
            <a:r>
              <a:rPr lang="en-US" sz="1400" dirty="0">
                <a:solidFill>
                  <a:srgbClr val="FFFFFF"/>
                </a:solidFill>
                <a:latin typeface="Consolas"/>
              </a:rPr>
              <a:t> divide(a, b):</a:t>
            </a:r>
          </a:p>
          <a:p>
            <a:pPr algn="l">
              <a:spcBef>
                <a:spcPts val="0"/>
              </a:spcBef>
            </a:pPr>
            <a:r>
              <a:rPr lang="en-US" sz="1400" dirty="0">
                <a:solidFill>
                  <a:srgbClr val="FFFFFF"/>
                </a:solidFill>
                <a:latin typeface="Consolas"/>
              </a:rPr>
              <a:t>    </a:t>
            </a:r>
            <a:r>
              <a:rPr lang="en-US" sz="1400" b="1" dirty="0">
                <a:solidFill>
                  <a:srgbClr val="F4A261"/>
                </a:solidFill>
                <a:latin typeface="Consolas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/>
              </a:rPr>
              <a:t> b == 0:</a:t>
            </a:r>
          </a:p>
          <a:p>
            <a:pPr algn="l">
              <a:spcBef>
                <a:spcPts val="0"/>
              </a:spcBef>
            </a:pPr>
            <a:r>
              <a:rPr lang="en-US" sz="1400" dirty="0">
                <a:solidFill>
                  <a:srgbClr val="FFFFFF"/>
                </a:solidFill>
                <a:latin typeface="Consolas"/>
              </a:rPr>
              <a:t>        log.warning(</a:t>
            </a:r>
            <a:r>
              <a:rPr lang="en-US" sz="1400" dirty="0">
                <a:solidFill>
                  <a:srgbClr val="80FFF0"/>
                </a:solidFill>
                <a:latin typeface="Consolas"/>
              </a:rPr>
              <a:t>"division by zero"</a:t>
            </a:r>
            <a:r>
              <a:rPr lang="en-US" sz="1400" dirty="0">
                <a:solidFill>
                  <a:srgbClr val="FFFFFF"/>
                </a:solidFill>
                <a:latin typeface="Consolas"/>
              </a:rPr>
              <a:t>, extra={</a:t>
            </a:r>
            <a:r>
              <a:rPr lang="en-US" sz="1400" dirty="0">
                <a:solidFill>
                  <a:srgbClr val="80FFF0"/>
                </a:solidFill>
                <a:latin typeface="Consolas"/>
              </a:rPr>
              <a:t>"a"</a:t>
            </a:r>
            <a:r>
              <a:rPr lang="en-US" sz="1400" dirty="0">
                <a:solidFill>
                  <a:srgbClr val="FFFFFF"/>
                </a:solidFill>
                <a:latin typeface="Consolas"/>
              </a:rPr>
              <a:t>: a})</a:t>
            </a:r>
          </a:p>
          <a:p>
            <a:pPr algn="l">
              <a:spcBef>
                <a:spcPts val="0"/>
              </a:spcBef>
            </a:pPr>
            <a:r>
              <a:rPr lang="en-US" sz="14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lang="en-US" sz="1400" b="1" dirty="0">
                <a:solidFill>
                  <a:srgbClr val="F4A261"/>
                </a:solidFill>
                <a:latin typeface="Consolas"/>
              </a:rPr>
              <a:t>raise</a:t>
            </a:r>
            <a:r>
              <a:rPr lang="en-US" sz="1400" dirty="0">
                <a:solidFill>
                  <a:srgbClr val="FFFFFF"/>
                </a:solidFill>
                <a:latin typeface="Consolas"/>
              </a:rPr>
              <a:t> ZeroDivisionError(</a:t>
            </a:r>
            <a:r>
              <a:rPr lang="en-US" sz="1400" dirty="0">
                <a:solidFill>
                  <a:srgbClr val="80FFF0"/>
                </a:solidFill>
                <a:latin typeface="Consolas"/>
              </a:rPr>
              <a:t>f"a={a}, b={b}"</a:t>
            </a:r>
            <a:r>
              <a:rPr lang="en-US" sz="1400" dirty="0">
                <a:solidFill>
                  <a:srgbClr val="FFFFFF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</a:pPr>
            <a:r>
              <a:rPr lang="en-US" sz="1400" dirty="0">
                <a:solidFill>
                  <a:srgbClr val="FFFFFF"/>
                </a:solidFill>
                <a:latin typeface="Consolas"/>
              </a:rPr>
              <a:t>    </a:t>
            </a:r>
            <a:r>
              <a:rPr lang="en-US" sz="1400" b="1" dirty="0">
                <a:solidFill>
                  <a:srgbClr val="F4A261"/>
                </a:solidFill>
                <a:latin typeface="Consolas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/>
              </a:rPr>
              <a:t> a / b</a:t>
            </a:r>
          </a:p>
        </p:txBody>
      </p:sp>
    </p:spTree>
    <p:extLst>
      <p:ext uri="{BB962C8B-B14F-4D97-AF65-F5344CB8AC3E}">
        <p14:creationId xmlns:p14="http://schemas.microsoft.com/office/powerpoint/2010/main" val="975924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Exceptions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300" y="756920"/>
            <a:ext cx="8138160" cy="1107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lang="en-US" sz="2400" b="0" i="0" dirty="0">
                <a:solidFill>
                  <a:srgbClr val="FFFFFF"/>
                </a:solidFill>
                <a:latin typeface="Calibri"/>
              </a:rPr>
              <a:t>E</a:t>
            </a:r>
            <a:r>
              <a:rPr sz="2400" b="0" i="0" dirty="0">
                <a:solidFill>
                  <a:srgbClr val="FFFFFF"/>
                </a:solidFill>
                <a:latin typeface="Calibri"/>
              </a:rPr>
              <a:t>xpected-but-exceptional flow: bad input, network error, missing file. Use when there is a recovery path or a well-defined way to signal failure up the stack.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496" y="4096512"/>
            <a:ext cx="8065008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i="1" dirty="0">
                <a:solidFill>
                  <a:srgbClr val="FFFFFF"/>
                </a:solidFill>
                <a:latin typeface="Cambria"/>
              </a:rPr>
              <a:t>Exception handling tends to suppress failures: use them with caution.</a:t>
            </a:r>
          </a:p>
        </p:txBody>
      </p:sp>
      <p:sp>
        <p:nvSpPr>
          <p:cNvPr id="5" name="CodePanel">
            <a:extLst>
              <a:ext uri="{FF2B5EF4-FFF2-40B4-BE49-F238E27FC236}">
                <a16:creationId xmlns:a16="http://schemas.microsoft.com/office/drawing/2014/main" id="{BC9A37A3-79BA-8A45-B043-70AAE2C91949}"/>
              </a:ext>
            </a:extLst>
          </p:cNvPr>
          <p:cNvSpPr/>
          <p:nvPr/>
        </p:nvSpPr>
        <p:spPr>
          <a:xfrm>
            <a:off x="508000" y="2095500"/>
            <a:ext cx="8140700" cy="1841500"/>
          </a:xfrm>
          <a:prstGeom prst="rect">
            <a:avLst/>
          </a:prstGeom>
          <a:solidFill>
            <a:srgbClr val="1A1F2E"/>
          </a:solidFill>
          <a:ln w="12700" cap="flat" cmpd="sng" algn="ctr">
            <a:solidFill>
              <a:srgbClr val="F4A26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CodeExample">
            <a:extLst>
              <a:ext uri="{FF2B5EF4-FFF2-40B4-BE49-F238E27FC236}">
                <a16:creationId xmlns:a16="http://schemas.microsoft.com/office/drawing/2014/main" id="{65B6AB3C-0234-5F41-A157-FF1F460DAFEB}"/>
              </a:ext>
            </a:extLst>
          </p:cNvPr>
          <p:cNvSpPr txBox="1"/>
          <p:nvPr/>
        </p:nvSpPr>
        <p:spPr>
          <a:xfrm>
            <a:off x="635000" y="2197100"/>
            <a:ext cx="7886700" cy="16383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400" b="1" dirty="0">
                <a:solidFill>
                  <a:srgbClr val="F4A261"/>
                </a:solidFill>
                <a:latin typeface="Consolas"/>
              </a:rPr>
              <a:t>try</a:t>
            </a:r>
            <a:r>
              <a:rPr lang="en-US" sz="1400" dirty="0">
                <a:solidFill>
                  <a:srgbClr val="FFFFFF"/>
                </a:solidFill>
                <a:latin typeface="Consolas"/>
              </a:rPr>
              <a:t>:</a:t>
            </a:r>
          </a:p>
          <a:p>
            <a:pPr algn="l">
              <a:spcBef>
                <a:spcPts val="0"/>
              </a:spcBef>
            </a:pPr>
            <a:r>
              <a:rPr lang="en-US" sz="1400" dirty="0">
                <a:solidFill>
                  <a:srgbClr val="FFFFFF"/>
                </a:solidFill>
                <a:latin typeface="Consolas"/>
              </a:rPr>
              <a:t>    resp = http.get(url, timeout=5)</a:t>
            </a:r>
          </a:p>
          <a:p>
            <a:pPr algn="l">
              <a:spcBef>
                <a:spcPts val="0"/>
              </a:spcBef>
            </a:pPr>
            <a:r>
              <a:rPr lang="en-US" sz="1400" b="1" dirty="0">
                <a:solidFill>
                  <a:srgbClr val="F4A261"/>
                </a:solidFill>
                <a:latin typeface="Consolas"/>
              </a:rPr>
              <a:t>except</a:t>
            </a:r>
            <a:r>
              <a:rPr lang="en-US" sz="1400" dirty="0">
                <a:solidFill>
                  <a:srgbClr val="FFFFFF"/>
                </a:solidFill>
                <a:latin typeface="Consolas"/>
              </a:rPr>
              <a:t> (Timeout, ConnectionError) </a:t>
            </a:r>
            <a:r>
              <a:rPr lang="en-US" sz="1400" b="1" dirty="0">
                <a:solidFill>
                  <a:srgbClr val="F4A261"/>
                </a:solidFill>
                <a:latin typeface="Consolas"/>
              </a:rPr>
              <a:t>as</a:t>
            </a:r>
            <a:r>
              <a:rPr lang="en-US" sz="1400" dirty="0">
                <a:solidFill>
                  <a:srgbClr val="FFFFFF"/>
                </a:solidFill>
                <a:latin typeface="Consolas"/>
              </a:rPr>
              <a:t> e:</a:t>
            </a:r>
          </a:p>
          <a:p>
            <a:pPr algn="l">
              <a:spcBef>
                <a:spcPts val="0"/>
              </a:spcBef>
            </a:pPr>
            <a:r>
              <a:rPr lang="en-US" sz="1400" dirty="0">
                <a:solidFill>
                  <a:srgbClr val="8A94A6"/>
                </a:solidFill>
                <a:latin typeface="Consolas"/>
              </a:rPr>
              <a:t>    # expected failure — log, back off, retry</a:t>
            </a:r>
          </a:p>
          <a:p>
            <a:pPr algn="l">
              <a:spcBef>
                <a:spcPts val="0"/>
              </a:spcBef>
            </a:pPr>
            <a:r>
              <a:rPr lang="en-US" sz="1400" dirty="0">
                <a:solidFill>
                  <a:srgbClr val="FFFFFF"/>
                </a:solidFill>
                <a:latin typeface="Consolas"/>
              </a:rPr>
              <a:t>    log.warning(</a:t>
            </a:r>
            <a:r>
              <a:rPr lang="en-US" sz="1400" dirty="0">
                <a:solidFill>
                  <a:srgbClr val="80FFF0"/>
                </a:solidFill>
                <a:latin typeface="Consolas"/>
              </a:rPr>
              <a:t>"fetch failed: %s"</a:t>
            </a:r>
            <a:r>
              <a:rPr lang="en-US" sz="1400" dirty="0">
                <a:solidFill>
                  <a:srgbClr val="FFFFFF"/>
                </a:solidFill>
                <a:latin typeface="Consolas"/>
              </a:rPr>
              <a:t>, e)</a:t>
            </a:r>
          </a:p>
          <a:p>
            <a:pPr algn="l">
              <a:spcBef>
                <a:spcPts val="0"/>
              </a:spcBef>
            </a:pPr>
            <a:r>
              <a:rPr lang="en-US" sz="1400" b="1" dirty="0">
                <a:solidFill>
                  <a:srgbClr val="F4A261"/>
                </a:solidFill>
                <a:latin typeface="Consolas"/>
              </a:rPr>
              <a:t>    return</a:t>
            </a:r>
            <a:r>
              <a:rPr lang="en-US" sz="1400" dirty="0">
                <a:solidFill>
                  <a:srgbClr val="FFFFFF"/>
                </a:solidFill>
                <a:latin typeface="Consolas"/>
              </a:rPr>
              <a:t> schedule_retry(url)</a:t>
            </a:r>
          </a:p>
          <a:p>
            <a:pPr algn="l">
              <a:spcBef>
                <a:spcPts val="0"/>
              </a:spcBef>
            </a:pPr>
            <a:r>
              <a:rPr lang="en-US" sz="1400" dirty="0">
                <a:solidFill>
                  <a:srgbClr val="FFFFFF"/>
                </a:solidFill>
                <a:latin typeface="Consolas"/>
              </a:rPr>
              <a:t>resp.raise_for_status()  </a:t>
            </a:r>
            <a:r>
              <a:rPr lang="en-US" sz="1400" dirty="0">
                <a:solidFill>
                  <a:srgbClr val="8A94A6"/>
                </a:solidFill>
                <a:latin typeface="Consolas"/>
              </a:rPr>
              <a:t># let 4xx/5xx propagate</a:t>
            </a:r>
          </a:p>
        </p:txBody>
      </p:sp>
    </p:spTree>
    <p:extLst>
      <p:ext uri="{BB962C8B-B14F-4D97-AF65-F5344CB8AC3E}">
        <p14:creationId xmlns:p14="http://schemas.microsoft.com/office/powerpoint/2010/main" val="2793884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76D6FF"/>
                </a:solidFill>
                <a:latin typeface="Century Gothic"/>
              </a:rPr>
              <a:t>INTERLUDE · DEMO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Basic logging primitives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7576" y="1978152"/>
            <a:ext cx="813816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>
                <a:solidFill>
                  <a:schemeClr val="bg1"/>
                </a:solidFill>
                <a:latin typeface="Consolas"/>
              </a:rPr>
              <a:t>labs/09_monitoring/demos/1_basic_logging/ · python demo.py</a:t>
            </a:r>
          </a:p>
        </p:txBody>
      </p:sp>
    </p:spTree>
    <p:extLst>
      <p:ext uri="{BB962C8B-B14F-4D97-AF65-F5344CB8AC3E}">
        <p14:creationId xmlns:p14="http://schemas.microsoft.com/office/powerpoint/2010/main" val="3735786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From logging to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20140"/>
            <a:ext cx="8138160" cy="1923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•  </a:t>
            </a:r>
            <a:r>
              <a:rPr sz="2000" b="1" i="0" dirty="0">
                <a:solidFill>
                  <a:srgbClr val="F4A261"/>
                </a:solidFill>
                <a:latin typeface="Calibri"/>
              </a:rPr>
              <a:t>Monitoring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= automated, continuous inspection of logged data against expectations. Moves us from reading logs by hand to dashboards and alerts.</a:t>
            </a:r>
          </a:p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•  </a:t>
            </a:r>
            <a:r>
              <a:rPr sz="2000" b="1" i="0" dirty="0">
                <a:solidFill>
                  <a:srgbClr val="F4A261"/>
                </a:solidFill>
                <a:latin typeface="Calibri"/>
              </a:rPr>
              <a:t>RED: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Rate, Errors, Duration — every request-driven service.</a:t>
            </a:r>
          </a:p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•  </a:t>
            </a:r>
            <a:r>
              <a:rPr sz="2000" b="1" i="0" dirty="0">
                <a:solidFill>
                  <a:srgbClr val="F4A261"/>
                </a:solidFill>
                <a:latin typeface="Calibri"/>
              </a:rPr>
              <a:t>USE: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Utilization, Saturation, Errors — the resource-side view.</a:t>
            </a:r>
          </a:p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•  </a:t>
            </a:r>
            <a:r>
              <a:rPr sz="2000" b="1" i="0" dirty="0">
                <a:solidFill>
                  <a:srgbClr val="F4A261"/>
                </a:solidFill>
                <a:latin typeface="Calibri"/>
              </a:rPr>
              <a:t>SLOs, error budgets, MTTR, alerting culture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— the operational vocabulary built on top.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496" y="3762152"/>
            <a:ext cx="806500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i="1" dirty="0">
                <a:solidFill>
                  <a:srgbClr val="FFFFFF"/>
                </a:solidFill>
                <a:latin typeface="Cambria"/>
              </a:rPr>
              <a:t>Every dashboard is an aggregation of log events plus an expectation about their values.</a:t>
            </a:r>
          </a:p>
        </p:txBody>
      </p:sp>
    </p:spTree>
    <p:extLst>
      <p:ext uri="{BB962C8B-B14F-4D97-AF65-F5344CB8AC3E}">
        <p14:creationId xmlns:p14="http://schemas.microsoft.com/office/powerpoint/2010/main" val="637553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Traces: causal structure over events (and process mining)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44168"/>
            <a:ext cx="8138160" cy="2564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•  Events that </a:t>
            </a:r>
            <a:r>
              <a:rPr lang="en-US" sz="2000" b="0" i="0" dirty="0">
                <a:solidFill>
                  <a:srgbClr val="FFFFFF"/>
                </a:solidFill>
                <a:latin typeface="Calibri"/>
              </a:rPr>
              <a:t>"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belong together</a:t>
            </a:r>
            <a:r>
              <a:rPr lang="en-US" sz="2000" b="0" i="0" dirty="0">
                <a:solidFill>
                  <a:srgbClr val="FFFFFF"/>
                </a:solidFill>
                <a:latin typeface="Calibri"/>
              </a:rPr>
              <a:t>"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(a session, a request, a business workflow) with a shared identifier form a </a:t>
            </a:r>
            <a:r>
              <a:rPr sz="2000" b="1" i="0" dirty="0">
                <a:solidFill>
                  <a:srgbClr val="F4A261"/>
                </a:solidFill>
                <a:latin typeface="Calibri"/>
              </a:rPr>
              <a:t>trace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.</a:t>
            </a:r>
            <a:endParaRPr lang="en-US" sz="20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endParaRPr sz="20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•  In enterprise SaaS, that's the input format for </a:t>
            </a:r>
            <a:r>
              <a:rPr sz="2000" b="1" i="0" dirty="0">
                <a:solidFill>
                  <a:srgbClr val="F4A261"/>
                </a:solidFill>
                <a:latin typeface="Calibri"/>
              </a:rPr>
              <a:t>process mining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— given a log with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case_id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· activity · timestamp · actor, recover the process.</a:t>
            </a:r>
            <a:endParaRPr lang="en-US" sz="20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endParaRPr sz="20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•  "Trace" is first a business concept (a workflow you can replay), later an engineering one (a request you can debug). LLM-era traces (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OTel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) inherit both.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11980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i="1" dirty="0">
                <a:solidFill>
                  <a:srgbClr val="888888"/>
                </a:solidFill>
                <a:latin typeface="Calibri"/>
              </a:rPr>
              <a:t>→ pause for IC-3 (3 min): The untraceable request — why per-service RED isn't enough.</a:t>
            </a:r>
          </a:p>
        </p:txBody>
      </p:sp>
    </p:spTree>
    <p:extLst>
      <p:ext uri="{BB962C8B-B14F-4D97-AF65-F5344CB8AC3E}">
        <p14:creationId xmlns:p14="http://schemas.microsoft.com/office/powerpoint/2010/main" val="1075309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Centralized logging + metrics at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25904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One log file per box doesn't scale. </a:t>
            </a:r>
            <a:endParaRPr lang="en-US" sz="20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endParaRPr lang="en-US" sz="20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SaaS-scale services ship logs to a system that collects, aggregates, indexes, queries.</a:t>
            </a:r>
            <a:endParaRPr lang="en-US" sz="20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endParaRPr sz="20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endParaRPr lang="en-US" sz="20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Metrics emerge naturally from centralization — counts, rates, histograms over the same events. Dashboards = metrics + expectations.</a:t>
            </a:r>
          </a:p>
        </p:txBody>
      </p:sp>
    </p:spTree>
    <p:extLst>
      <p:ext uri="{BB962C8B-B14F-4D97-AF65-F5344CB8AC3E}">
        <p14:creationId xmlns:p14="http://schemas.microsoft.com/office/powerpoint/2010/main" val="2357237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16581B-A74F-EE62-B673-FB058CFC5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89F809-B613-622F-02D4-4294284011E3}"/>
              </a:ext>
            </a:extLst>
          </p:cNvPr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Centralized logging + metrics at scale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E14B1D-4E39-DC6A-CAD8-0ED1D777734D}"/>
              </a:ext>
            </a:extLst>
          </p:cNvPr>
          <p:cNvSpPr txBox="1"/>
          <p:nvPr/>
        </p:nvSpPr>
        <p:spPr>
          <a:xfrm>
            <a:off x="502920" y="1051560"/>
            <a:ext cx="8138160" cy="22570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One log file per box doesn't scale. </a:t>
            </a:r>
            <a:endParaRPr lang="en-US" sz="20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SaaS-scale services ship logs to a system that collects, aggregates, indexes, queries.</a:t>
            </a:r>
            <a:endParaRPr lang="en-US" sz="20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endParaRPr sz="20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endParaRPr lang="en-US" sz="20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Metrics emerge naturally from centralization — counts, rates, histograms over the same events. Dashboards = metrics + expectations.</a:t>
            </a:r>
          </a:p>
        </p:txBody>
      </p:sp>
      <p:pic>
        <p:nvPicPr>
          <p:cNvPr id="1026" name="Picture 2" descr="Dashboards Beta v0.8: Examples Hub | Splunk">
            <a:extLst>
              <a:ext uri="{FF2B5EF4-FFF2-40B4-BE49-F238E27FC236}">
                <a16:creationId xmlns:a16="http://schemas.microsoft.com/office/drawing/2014/main" id="{E5E8568C-26EE-D2DF-8454-50B882000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0990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76D6FF"/>
                </a:solidFill>
                <a:latin typeface="Century Gothic"/>
              </a:rPr>
              <a:t>INTERLUDE · DEMO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Central log dashboard (Splunk-like)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888888"/>
                </a:solidFill>
                <a:latin typeface="Consolas"/>
              </a:rPr>
              <a:t>labs/09_monitoring/demos/2_central_log_dashboard/ · dashboard.html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8138160" cy="26161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000" b="1" i="0" dirty="0">
                <a:solidFill>
                  <a:srgbClr val="F4A261"/>
                </a:solidFill>
                <a:latin typeface="Calibri"/>
              </a:rPr>
              <a:t>What students see:</a:t>
            </a:r>
          </a:p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Three RED panels over a 10k-row synthetic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logs.ndjson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, a 15-minute /checkout incident visible on the error-rate panel, and a search that drills from summary back to raw rows. All measure "is it up, fast, not erroring" — none measure "is the output correct." That quality axis isn't even askable yet.</a:t>
            </a:r>
          </a:p>
          <a:p>
            <a:pPr algn="l">
              <a:spcBef>
                <a:spcPts val="800"/>
              </a:spcBef>
            </a:pPr>
            <a:r>
              <a:rPr sz="2000" b="1" i="0" dirty="0">
                <a:solidFill>
                  <a:srgbClr val="F4A261"/>
                </a:solidFill>
                <a:latin typeface="Calibri"/>
              </a:rPr>
              <a:t>Returns to the deck by</a:t>
            </a:r>
          </a:p>
          <a:p>
            <a:pPr algn="l">
              <a:spcBef>
                <a:spcPts val="200"/>
              </a:spcBef>
            </a:pPr>
            <a:r>
              <a:rPr sz="2000" b="0" i="1" dirty="0">
                <a:solidFill>
                  <a:srgbClr val="FFFFFF"/>
                </a:solidFill>
                <a:latin typeface="Calibri"/>
              </a:rPr>
              <a:t>motivating the next slide: "now that everyone can query everything, what you put into the log matters."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>
                <a:solidFill>
                  <a:srgbClr val="888888"/>
                </a:solidFill>
                <a:latin typeface="Calibri"/>
              </a:rPr>
              <a:t>Budget: ~8 minutes</a:t>
            </a:r>
          </a:p>
        </p:txBody>
      </p:sp>
    </p:spTree>
    <p:extLst>
      <p:ext uri="{BB962C8B-B14F-4D97-AF65-F5344CB8AC3E}">
        <p14:creationId xmlns:p14="http://schemas.microsoft.com/office/powerpoint/2010/main" val="1836162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Privacy: why it shows up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29238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The moment logs are centralized and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queryable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, what you put into them matters as much as the log itself:</a:t>
            </a:r>
            <a:endParaRPr lang="en-US" sz="20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endParaRPr sz="20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•  Centralized access — everyone on the team can query everything.</a:t>
            </a:r>
          </a:p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•  Regulation — GDPR, CCPA, right-to-erasure, data-residency.</a:t>
            </a:r>
          </a:p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•  Auditability cuts both ways: a detailed log is a liability as well as an asset.</a:t>
            </a:r>
          </a:p>
          <a:p>
            <a:pPr algn="l">
              <a:spcBef>
                <a:spcPts val="200"/>
              </a:spcBef>
            </a:pPr>
            <a:endParaRPr lang="en-US" sz="20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Classic failures: raw emails/tokens in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log.info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payloads; "we'll redact later" pipelines that never get built; verbose prod loggers inherited from dev.</a:t>
            </a:r>
          </a:p>
        </p:txBody>
      </p:sp>
    </p:spTree>
    <p:extLst>
      <p:ext uri="{BB962C8B-B14F-4D97-AF65-F5344CB8AC3E}">
        <p14:creationId xmlns:p14="http://schemas.microsoft.com/office/powerpoint/2010/main" val="459106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Privacy: patterns that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1590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•  </a:t>
            </a:r>
            <a:r>
              <a:rPr lang="en-US" sz="2000" b="1" i="0">
                <a:solidFill>
                  <a:srgbClr val="F4A261"/>
                </a:solidFill>
                <a:latin typeface="Calibri"/>
              </a:rPr>
              <a:t>Redact sensitive info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— log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user_hash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, not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user_email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•  </a:t>
            </a:r>
            <a:r>
              <a:rPr sz="2000" b="1" i="0" dirty="0">
                <a:solidFill>
                  <a:srgbClr val="F4A261"/>
                </a:solidFill>
                <a:latin typeface="Calibri"/>
              </a:rPr>
              <a:t>Redact at the event boundary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, not downstream. A scrubber in the log formatter so raw data never hits disk.</a:t>
            </a:r>
          </a:p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•  </a:t>
            </a:r>
            <a:r>
              <a:rPr sz="2000" b="1" i="0" dirty="0">
                <a:solidFill>
                  <a:srgbClr val="F4A261"/>
                </a:solidFill>
                <a:latin typeface="Calibri"/>
              </a:rPr>
              <a:t>Retention + deletion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— decide upfront how long logs live and how you handle deletion.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91940"/>
            <a:ext cx="806500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i="1" dirty="0">
                <a:solidFill>
                  <a:srgbClr val="FFFFFF"/>
                </a:solidFill>
                <a:latin typeface="Cambria"/>
              </a:rPr>
              <a:t>Every one of these patterns is itself an assertion about the log pipeline: "no raw PII ever crosses this boundary."</a:t>
            </a:r>
          </a:p>
        </p:txBody>
      </p:sp>
    </p:spTree>
    <p:extLst>
      <p:ext uri="{BB962C8B-B14F-4D97-AF65-F5344CB8AC3E}">
        <p14:creationId xmlns:p14="http://schemas.microsoft.com/office/powerpoint/2010/main" val="2294908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Roadmap: row 1 filled 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51560"/>
          <a:ext cx="81381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88888"/>
                          </a:solidFill>
                          <a:latin typeface="Calibri"/>
                        </a:rPr>
                        <a:t>What we monitor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88888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88888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A261"/>
                          </a:solidFill>
                          <a:latin typeface="Calibri"/>
                        </a:rPr>
                        <a:t>Traditional SW / SaaS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control flow, exceptions, latency, error rate, resource use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assert + exceptions + structured logs + centralized aggregation + RED/USE + SLOs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know when broken, restore fast, debug post-hoc, hit SLAs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A261"/>
                          </a:solidFill>
                          <a:latin typeface="Calibri"/>
                        </a:rPr>
                        <a:t>Classical ML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i="1">
                          <a:solidFill>
                            <a:srgbClr val="88888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i="1">
                          <a:solidFill>
                            <a:srgbClr val="88888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i="1">
                          <a:solidFill>
                            <a:srgbClr val="88888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A261"/>
                          </a:solidFill>
                          <a:latin typeface="Calibri"/>
                        </a:rPr>
                        <a:t>Single LLM call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i="1">
                          <a:solidFill>
                            <a:srgbClr val="88888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i="1">
                          <a:solidFill>
                            <a:srgbClr val="88888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i="1">
                          <a:solidFill>
                            <a:srgbClr val="88888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A261"/>
                          </a:solidFill>
                          <a:latin typeface="Calibri"/>
                        </a:rPr>
                        <a:t>LLM + context / tool / memory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i="1">
                          <a:solidFill>
                            <a:srgbClr val="88888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i="1">
                          <a:solidFill>
                            <a:srgbClr val="88888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i="1">
                          <a:solidFill>
                            <a:srgbClr val="88888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A261"/>
                          </a:solidFill>
                          <a:latin typeface="Calibri"/>
                        </a:rPr>
                        <a:t>Systems of agents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i="1">
                          <a:solidFill>
                            <a:srgbClr val="88888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i="1">
                          <a:solidFill>
                            <a:srgbClr val="88888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i="1">
                          <a:solidFill>
                            <a:srgbClr val="88888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896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0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76D6FF"/>
                </a:solidFill>
                <a:latin typeface="Century Gothic"/>
              </a:rPr>
              <a:t>SECTION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286000"/>
            <a:ext cx="81381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>
                <a:solidFill>
                  <a:srgbClr val="FFFFFF"/>
                </a:solidFill>
                <a:latin typeface="Calibri"/>
              </a:rPr>
              <a:t>Classical ML</a:t>
            </a:r>
          </a:p>
        </p:txBody>
      </p:sp>
    </p:spTree>
    <p:extLst>
      <p:ext uri="{BB962C8B-B14F-4D97-AF65-F5344CB8AC3E}">
        <p14:creationId xmlns:p14="http://schemas.microsoft.com/office/powerpoint/2010/main" val="4065126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What we monitor in classical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32008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lang="en-US" b="0" i="0" dirty="0">
                <a:solidFill>
                  <a:srgbClr val="FFFFFF"/>
                </a:solidFill>
                <a:latin typeface="Century Gothic" panose="020B0502020202020204" pitchFamily="34" charset="0"/>
              </a:rPr>
              <a:t>Example of properties we want to observe</a:t>
            </a:r>
            <a:r>
              <a:rPr b="0" i="0" dirty="0">
                <a:solidFill>
                  <a:srgbClr val="FFFFFF"/>
                </a:solidFill>
                <a:latin typeface="Century Gothic" panose="020B0502020202020204" pitchFamily="34" charset="0"/>
              </a:rPr>
              <a:t>:</a:t>
            </a:r>
            <a:endParaRPr lang="en-US" b="0" i="0" dirty="0">
              <a:solidFill>
                <a:srgbClr val="FFFFFF"/>
              </a:solidFill>
              <a:latin typeface="Century Gothic" panose="020B0502020202020204" pitchFamily="34" charset="0"/>
            </a:endParaRPr>
          </a:p>
          <a:p>
            <a:pPr algn="l">
              <a:spcBef>
                <a:spcPts val="200"/>
              </a:spcBef>
            </a:pPr>
            <a:endParaRPr b="0" i="0" dirty="0">
              <a:solidFill>
                <a:srgbClr val="FFFFFF"/>
              </a:solidFill>
              <a:latin typeface="Century Gothic" panose="020B0502020202020204" pitchFamily="34" charset="0"/>
            </a:endParaRPr>
          </a:p>
          <a:p>
            <a:pPr algn="l">
              <a:spcBef>
                <a:spcPts val="200"/>
              </a:spcBef>
            </a:pPr>
            <a:r>
              <a:rPr b="0" i="0" dirty="0">
                <a:solidFill>
                  <a:srgbClr val="FFFFFF"/>
                </a:solidFill>
                <a:latin typeface="Century Gothic" panose="020B0502020202020204" pitchFamily="34" charset="0"/>
              </a:rPr>
              <a:t>•  </a:t>
            </a:r>
            <a:r>
              <a:rPr b="1" i="0" dirty="0">
                <a:solidFill>
                  <a:srgbClr val="F4A261"/>
                </a:solidFill>
                <a:latin typeface="Century Gothic" panose="020B0502020202020204" pitchFamily="34" charset="0"/>
              </a:rPr>
              <a:t>Training-job health</a:t>
            </a:r>
            <a:r>
              <a:rPr b="0" i="0" dirty="0">
                <a:solidFill>
                  <a:srgbClr val="FFFFFF"/>
                </a:solidFill>
                <a:latin typeface="Century Gothic" panose="020B0502020202020204" pitchFamily="34" charset="0"/>
              </a:rPr>
              <a:t> — did the scheduled job run? did it produce a model artifact? any resource issues?</a:t>
            </a:r>
          </a:p>
          <a:p>
            <a:pPr algn="l">
              <a:spcBef>
                <a:spcPts val="200"/>
              </a:spcBef>
            </a:pPr>
            <a:r>
              <a:rPr b="0" i="0" dirty="0">
                <a:solidFill>
                  <a:srgbClr val="FFFFFF"/>
                </a:solidFill>
                <a:latin typeface="Century Gothic" panose="020B0502020202020204" pitchFamily="34" charset="0"/>
              </a:rPr>
              <a:t>•  </a:t>
            </a:r>
            <a:r>
              <a:rPr b="1" i="0" dirty="0">
                <a:solidFill>
                  <a:srgbClr val="F4A261"/>
                </a:solidFill>
                <a:latin typeface="Century Gothic" panose="020B0502020202020204" pitchFamily="34" charset="0"/>
              </a:rPr>
              <a:t>Serving latency &amp; throughput</a:t>
            </a:r>
            <a:r>
              <a:rPr b="0" i="0" dirty="0">
                <a:solidFill>
                  <a:srgbClr val="FFFFFF"/>
                </a:solidFill>
                <a:latin typeface="Century Gothic" panose="020B0502020202020204" pitchFamily="34" charset="0"/>
              </a:rPr>
              <a:t> — p50/p95 per endpoint; QPS; error rates. Same story as any other service.</a:t>
            </a:r>
          </a:p>
          <a:p>
            <a:pPr algn="l">
              <a:spcBef>
                <a:spcPts val="200"/>
              </a:spcBef>
            </a:pPr>
            <a:r>
              <a:rPr b="0" i="0" dirty="0">
                <a:solidFill>
                  <a:srgbClr val="FFFFFF"/>
                </a:solidFill>
                <a:latin typeface="Century Gothic" panose="020B0502020202020204" pitchFamily="34" charset="0"/>
              </a:rPr>
              <a:t>•  </a:t>
            </a:r>
            <a:r>
              <a:rPr b="1" i="0" dirty="0">
                <a:solidFill>
                  <a:srgbClr val="F4A261"/>
                </a:solidFill>
                <a:latin typeface="Century Gothic" panose="020B0502020202020204" pitchFamily="34" charset="0"/>
              </a:rPr>
              <a:t>Quality</a:t>
            </a:r>
            <a:r>
              <a:rPr b="0" i="0" dirty="0">
                <a:solidFill>
                  <a:srgbClr val="FFFFFF"/>
                </a:solidFill>
                <a:latin typeface="Century Gothic" panose="020B0502020202020204" pitchFamily="34" charset="0"/>
              </a:rPr>
              <a:t> — accuracy / F1 / recall-at-k / whatever metric the model was trained for, on held-out and (when labels arrive) production traffic.</a:t>
            </a:r>
          </a:p>
          <a:p>
            <a:pPr algn="l">
              <a:spcBef>
                <a:spcPts val="200"/>
              </a:spcBef>
            </a:pPr>
            <a:endParaRPr lang="en-US" b="0" i="0" dirty="0">
              <a:solidFill>
                <a:srgbClr val="FFFFFF"/>
              </a:solidFill>
              <a:latin typeface="Century Gothic" panose="020B0502020202020204" pitchFamily="34" charset="0"/>
            </a:endParaRPr>
          </a:p>
          <a:p>
            <a:pPr algn="l">
              <a:spcBef>
                <a:spcPts val="200"/>
              </a:spcBef>
            </a:pPr>
            <a:r>
              <a:rPr lang="en-US" dirty="0">
                <a:solidFill>
                  <a:srgbClr val="FFFFFF"/>
                </a:solidFill>
                <a:latin typeface="Century Gothic" panose="020B0502020202020204" pitchFamily="34" charset="0"/>
              </a:rPr>
              <a:t> - D</a:t>
            </a:r>
            <a:r>
              <a:rPr b="0" i="0" dirty="0">
                <a:solidFill>
                  <a:srgbClr val="FFFFFF"/>
                </a:solidFill>
                <a:latin typeface="Century Gothic" panose="020B0502020202020204" pitchFamily="34" charset="0"/>
              </a:rPr>
              <a:t>rift tests (K-S, PSI, chi²) are a subset of quality monitoring — useful when labels are delayed or absent.</a:t>
            </a:r>
          </a:p>
        </p:txBody>
      </p:sp>
    </p:spTree>
    <p:extLst>
      <p:ext uri="{BB962C8B-B14F-4D97-AF65-F5344CB8AC3E}">
        <p14:creationId xmlns:p14="http://schemas.microsoft.com/office/powerpoint/2010/main" val="2275528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76D6FF"/>
                </a:solidFill>
                <a:latin typeface="Century Gothic" panose="020B0502020202020204" pitchFamily="34" charset="0"/>
              </a:rPr>
              <a:t>Statistical </a:t>
            </a:r>
            <a:r>
              <a:rPr sz="2800" b="1" dirty="0">
                <a:solidFill>
                  <a:srgbClr val="76D6FF"/>
                </a:solidFill>
                <a:latin typeface="Century Gothic" panose="020B0502020202020204" pitchFamily="34" charset="0"/>
              </a:rPr>
              <a:t>assertion</a:t>
            </a:r>
            <a:r>
              <a:rPr lang="en-US" sz="2800" b="1" dirty="0">
                <a:solidFill>
                  <a:srgbClr val="76D6FF"/>
                </a:solidFill>
                <a:latin typeface="Century Gothic" panose="020B0502020202020204" pitchFamily="34" charset="0"/>
              </a:rPr>
              <a:t>s</a:t>
            </a:r>
            <a:endParaRPr sz="2800" b="1" dirty="0">
              <a:solidFill>
                <a:srgbClr val="76D6FF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lang="en-US" sz="2400" b="0" i="0" dirty="0">
                <a:solidFill>
                  <a:srgbClr val="FFFFFF"/>
                </a:solidFill>
                <a:latin typeface="Calibri"/>
              </a:rPr>
              <a:t>Properties you want to be true statistically</a:t>
            </a:r>
            <a:endParaRPr sz="24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7512" y="2130814"/>
            <a:ext cx="7808976" cy="8463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dirty="0">
                <a:solidFill>
                  <a:srgbClr val="FFFFFF"/>
                </a:solidFill>
                <a:latin typeface="Consolas"/>
              </a:rPr>
              <a:t>from </a:t>
            </a:r>
            <a:r>
              <a:rPr sz="1100" dirty="0" err="1">
                <a:solidFill>
                  <a:srgbClr val="FFFFFF"/>
                </a:solidFill>
                <a:latin typeface="Consolas"/>
              </a:rPr>
              <a:t>sklearn.metrics</a:t>
            </a:r>
            <a:r>
              <a:rPr sz="1100" dirty="0">
                <a:solidFill>
                  <a:srgbClr val="FFFFFF"/>
                </a:solidFill>
                <a:latin typeface="Consolas"/>
              </a:rPr>
              <a:t> import </a:t>
            </a:r>
            <a:r>
              <a:rPr sz="1100" dirty="0" err="1">
                <a:solidFill>
                  <a:srgbClr val="FFFFFF"/>
                </a:solidFill>
                <a:latin typeface="Consolas"/>
              </a:rPr>
              <a:t>accuracy_score</a:t>
            </a:r>
            <a:endParaRPr sz="1100" dirty="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1100" dirty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100" dirty="0">
                <a:solidFill>
                  <a:srgbClr val="FFFFFF"/>
                </a:solidFill>
                <a:latin typeface="Consolas"/>
              </a:rPr>
              <a:t>preds = </a:t>
            </a:r>
            <a:r>
              <a:rPr sz="1100" dirty="0" err="1">
                <a:solidFill>
                  <a:srgbClr val="FFFFFF"/>
                </a:solidFill>
                <a:latin typeface="Consolas"/>
              </a:rPr>
              <a:t>model.predict</a:t>
            </a:r>
            <a:r>
              <a:rPr sz="11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100" dirty="0" err="1">
                <a:solidFill>
                  <a:srgbClr val="FFFFFF"/>
                </a:solidFill>
                <a:latin typeface="Consolas"/>
              </a:rPr>
              <a:t>X_holdout</a:t>
            </a:r>
            <a:r>
              <a:rPr sz="1100" dirty="0">
                <a:solidFill>
                  <a:srgbClr val="FFFFFF"/>
                </a:solidFill>
                <a:latin typeface="Consolas"/>
              </a:rPr>
              <a:t>)</a:t>
            </a:r>
          </a:p>
          <a:p>
            <a:pPr algn="l"/>
            <a:r>
              <a:rPr sz="1100" dirty="0">
                <a:solidFill>
                  <a:srgbClr val="FFFFFF"/>
                </a:solidFill>
                <a:latin typeface="Consolas"/>
              </a:rPr>
              <a:t>acc = </a:t>
            </a:r>
            <a:r>
              <a:rPr sz="1100" dirty="0" err="1">
                <a:solidFill>
                  <a:srgbClr val="FFFFFF"/>
                </a:solidFill>
                <a:latin typeface="Consolas"/>
              </a:rPr>
              <a:t>accuracy_score</a:t>
            </a:r>
            <a:r>
              <a:rPr sz="11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100" dirty="0" err="1">
                <a:solidFill>
                  <a:srgbClr val="FFFFFF"/>
                </a:solidFill>
                <a:latin typeface="Consolas"/>
              </a:rPr>
              <a:t>y_holdout</a:t>
            </a:r>
            <a:r>
              <a:rPr sz="1100" dirty="0">
                <a:solidFill>
                  <a:srgbClr val="FFFFFF"/>
                </a:solidFill>
                <a:latin typeface="Consolas"/>
              </a:rPr>
              <a:t>, preds)</a:t>
            </a:r>
          </a:p>
          <a:p>
            <a:pPr algn="l"/>
            <a:r>
              <a:rPr sz="1100" dirty="0" err="1">
                <a:solidFill>
                  <a:srgbClr val="FFFFFF"/>
                </a:solidFill>
                <a:latin typeface="Consolas"/>
              </a:rPr>
              <a:t>log.info</a:t>
            </a:r>
            <a:r>
              <a:rPr sz="1100" dirty="0">
                <a:solidFill>
                  <a:srgbClr val="FFFFFF"/>
                </a:solidFill>
                <a:latin typeface="Consolas"/>
              </a:rPr>
              <a:t>("holdout eval", extra={"accuracy": acc, "n": </a:t>
            </a:r>
            <a:r>
              <a:rPr sz="1100" dirty="0" err="1">
                <a:solidFill>
                  <a:srgbClr val="FFFFFF"/>
                </a:solidFill>
                <a:latin typeface="Consolas"/>
              </a:rPr>
              <a:t>len</a:t>
            </a:r>
            <a:r>
              <a:rPr sz="1100" dirty="0">
                <a:solidFill>
                  <a:srgbClr val="FFFFFF"/>
                </a:solidFill>
                <a:latin typeface="Consolas"/>
              </a:rPr>
              <a:t>(preds)})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EB5269-A424-1280-3D71-56C7E754326B}"/>
              </a:ext>
            </a:extLst>
          </p:cNvPr>
          <p:cNvSpPr txBox="1"/>
          <p:nvPr/>
        </p:nvSpPr>
        <p:spPr>
          <a:xfrm>
            <a:off x="502920" y="3907274"/>
            <a:ext cx="8138160" cy="764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lang="en-US" sz="2400" b="0" i="0" dirty="0">
                <a:solidFill>
                  <a:srgbClr val="FFFFFF"/>
                </a:solidFill>
                <a:latin typeface="Calibri"/>
              </a:rPr>
              <a:t>They don’t break code – but you want to be notified of them.</a:t>
            </a:r>
          </a:p>
          <a:p>
            <a:pPr algn="l">
              <a:spcBef>
                <a:spcPts val="200"/>
              </a:spcBef>
            </a:pPr>
            <a:r>
              <a:rPr lang="en-US" sz="2400" dirty="0">
                <a:solidFill>
                  <a:srgbClr val="FFFFFF"/>
                </a:solidFill>
                <a:latin typeface="Calibri"/>
              </a:rPr>
              <a:t>They may reveal silent failures</a:t>
            </a:r>
            <a:endParaRPr sz="2400" b="0" i="0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76689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76D6FF"/>
                </a:solidFill>
                <a:latin typeface="Century Gothic"/>
              </a:rPr>
              <a:t>INTERLUDE · DEMO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dirty="0">
                <a:solidFill>
                  <a:srgbClr val="FFFFFF"/>
                </a:solidFill>
                <a:latin typeface="Calibri"/>
              </a:rPr>
              <a:t>Classical-ML monitoring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dirty="0">
                <a:solidFill>
                  <a:srgbClr val="888888"/>
                </a:solidFill>
                <a:latin typeface="Consolas"/>
              </a:rPr>
              <a:t>labs/09_monitoring/demos/3_classical_ml_dashboard/ · </a:t>
            </a:r>
            <a:r>
              <a:rPr sz="1100" dirty="0" err="1">
                <a:solidFill>
                  <a:srgbClr val="888888"/>
                </a:solidFill>
                <a:latin typeface="Consolas"/>
              </a:rPr>
              <a:t>dashboard.html</a:t>
            </a:r>
            <a:endParaRPr sz="1100" dirty="0">
              <a:solidFill>
                <a:srgbClr val="888888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8138160" cy="18723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400" b="1" i="0" dirty="0">
                <a:solidFill>
                  <a:srgbClr val="F4A261"/>
                </a:solidFill>
                <a:latin typeface="Calibri"/>
              </a:rPr>
              <a:t>What students see:</a:t>
            </a:r>
          </a:p>
          <a:p>
            <a:pPr algn="l">
              <a:spcBef>
                <a:spcPts val="200"/>
              </a:spcBef>
            </a:pPr>
            <a:r>
              <a:rPr sz="2400" b="0" i="0" dirty="0">
                <a:solidFill>
                  <a:srgbClr val="FFFFFF"/>
                </a:solidFill>
                <a:latin typeface="Calibri"/>
              </a:rPr>
              <a:t>The training-job board (HUNG / CRASHED / RUNAWAY / HEALTHY tiles), the error-log drawer for a hung and a crashed job, and the quality-over-time chart with an injected drift window. Instructor toggles the quality assertion between loose and tight live.</a:t>
            </a:r>
          </a:p>
        </p:txBody>
      </p:sp>
    </p:spTree>
    <p:extLst>
      <p:ext uri="{BB962C8B-B14F-4D97-AF65-F5344CB8AC3E}">
        <p14:creationId xmlns:p14="http://schemas.microsoft.com/office/powerpoint/2010/main" val="32815221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Roadmap: row 2 filled 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444154"/>
              </p:ext>
            </p:extLst>
          </p:nvPr>
        </p:nvGraphicFramePr>
        <p:xfrm>
          <a:off x="502920" y="1051560"/>
          <a:ext cx="81381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chemeClr val="bg1"/>
                          </a:solidFill>
                          <a:latin typeface="Calibri"/>
                        </a:rPr>
                        <a:t>What we monitor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chemeClr val="bg1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A261"/>
                          </a:solidFill>
                          <a:latin typeface="Calibri"/>
                        </a:rPr>
                        <a:t>Traditional SW / SaaS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control flow, exceptions, latency, error rate, resource use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assert + exceptions + structured logs + RED/USE + SLOs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know when broken, restore fast, debug post-hoc, hit SLAs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A261"/>
                          </a:solidFill>
                          <a:latin typeface="Calibri"/>
                        </a:rPr>
                        <a:t>Classical ML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training-job health, serving latency, quality metrics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job-status checks, service metrics, held-out eval, drift tests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same as any service — plus "is the model still good?"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A261"/>
                          </a:solidFill>
                          <a:latin typeface="Calibri"/>
                        </a:rPr>
                        <a:t>Single LLM call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i="1">
                          <a:solidFill>
                            <a:srgbClr val="88888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i="1">
                          <a:solidFill>
                            <a:srgbClr val="88888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i="1">
                          <a:solidFill>
                            <a:srgbClr val="88888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A261"/>
                          </a:solidFill>
                          <a:latin typeface="Calibri"/>
                        </a:rPr>
                        <a:t>LLM + context / tool / memory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i="1">
                          <a:solidFill>
                            <a:srgbClr val="88888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i="1">
                          <a:solidFill>
                            <a:srgbClr val="88888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i="1">
                          <a:solidFill>
                            <a:srgbClr val="88888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A261"/>
                          </a:solidFill>
                          <a:latin typeface="Calibri"/>
                        </a:rPr>
                        <a:t>Systems of agents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i="1">
                          <a:solidFill>
                            <a:srgbClr val="88888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i="1">
                          <a:solidFill>
                            <a:srgbClr val="88888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i="1" dirty="0">
                          <a:solidFill>
                            <a:srgbClr val="88888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29307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0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76D6FF"/>
                </a:solidFill>
                <a:latin typeface="Century Gothic"/>
              </a:rPr>
              <a:t>SECTION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286000"/>
            <a:ext cx="81381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>
                <a:solidFill>
                  <a:srgbClr val="FFFFFF"/>
                </a:solidFill>
                <a:latin typeface="Calibri"/>
              </a:rPr>
              <a:t>LLM systems, escalating</a:t>
            </a:r>
          </a:p>
        </p:txBody>
      </p:sp>
    </p:spTree>
    <p:extLst>
      <p:ext uri="{BB962C8B-B14F-4D97-AF65-F5344CB8AC3E}">
        <p14:creationId xmlns:p14="http://schemas.microsoft.com/office/powerpoint/2010/main" val="14484807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76D6FF"/>
                </a:solidFill>
                <a:latin typeface="Century Gothic"/>
              </a:rPr>
              <a:t>Stage A · A single LLM call — anatomy &amp; what to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9036"/>
            <a:ext cx="8446008" cy="17389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b="0" i="0" dirty="0">
                <a:solidFill>
                  <a:srgbClr val="FFFFFF"/>
                </a:solidFill>
                <a:latin typeface="Calibri"/>
              </a:rPr>
              <a:t>A single LLM call: a prompt, optional output schema, a completion, usage stats, a latency.</a:t>
            </a:r>
          </a:p>
          <a:p>
            <a:pPr algn="l">
              <a:spcBef>
                <a:spcPts val="200"/>
              </a:spcBef>
            </a:pPr>
            <a:r>
              <a:rPr b="0" i="0" dirty="0">
                <a:solidFill>
                  <a:srgbClr val="FFFFFF"/>
                </a:solidFill>
                <a:latin typeface="Calibri"/>
              </a:rPr>
              <a:t>•  </a:t>
            </a:r>
            <a:r>
              <a:rPr b="1" i="0" dirty="0">
                <a:solidFill>
                  <a:srgbClr val="76D6FF"/>
                </a:solidFill>
                <a:latin typeface="Calibri"/>
              </a:rPr>
              <a:t>Metadata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: request id, model, prompt version, temperature, tokens, latency, cost, outcome.</a:t>
            </a:r>
          </a:p>
          <a:p>
            <a:pPr algn="l">
              <a:spcBef>
                <a:spcPts val="200"/>
              </a:spcBef>
            </a:pPr>
            <a:r>
              <a:rPr b="0" i="0" dirty="0">
                <a:solidFill>
                  <a:srgbClr val="FFFFFF"/>
                </a:solidFill>
                <a:latin typeface="Calibri"/>
              </a:rPr>
              <a:t>•  </a:t>
            </a:r>
            <a:r>
              <a:rPr b="1" i="0" dirty="0">
                <a:solidFill>
                  <a:srgbClr val="76D6FF"/>
                </a:solidFill>
                <a:latin typeface="Calibri"/>
              </a:rPr>
              <a:t>The actual </a:t>
            </a:r>
            <a:r>
              <a:rPr sz="1600" b="1" i="0" dirty="0">
                <a:solidFill>
                  <a:srgbClr val="76D6FF"/>
                </a:solidFill>
                <a:latin typeface="Calibri"/>
              </a:rPr>
              <a:t>prompt</a:t>
            </a:r>
            <a:r>
              <a:rPr b="1" i="0" dirty="0">
                <a:solidFill>
                  <a:srgbClr val="76D6FF"/>
                </a:solidFill>
                <a:latin typeface="Calibri"/>
              </a:rPr>
              <a:t> and completion</a:t>
            </a:r>
            <a:r>
              <a:rPr b="0" i="0" dirty="0">
                <a:solidFill>
                  <a:srgbClr val="76D6FF"/>
                </a:solidFill>
                <a:latin typeface="Calibri"/>
              </a:rPr>
              <a:t> 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— non-negotiable for debugging, subject to the privacy caveats.</a:t>
            </a:r>
          </a:p>
          <a:p>
            <a:pPr algn="l">
              <a:spcBef>
                <a:spcPts val="200"/>
              </a:spcBef>
            </a:pPr>
            <a:r>
              <a:rPr b="0" i="0" dirty="0">
                <a:solidFill>
                  <a:srgbClr val="FFFFFF"/>
                </a:solidFill>
                <a:latin typeface="Calibri"/>
              </a:rPr>
              <a:t>• 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Pydantic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 model or JSON schema; parse after the call; re-ask once on validation failure.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084761"/>
            <a:ext cx="8138160" cy="137160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3259836"/>
            <a:ext cx="7808976" cy="1292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F4A261"/>
                </a:solidFill>
                <a:latin typeface="Consolas"/>
              </a:rPr>
              <a:t>class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 Decision(</a:t>
            </a:r>
            <a:r>
              <a:rPr sz="1400" b="1" dirty="0">
                <a:solidFill>
                  <a:srgbClr val="F4A261"/>
                </a:solidFill>
                <a:latin typeface="Consolas"/>
              </a:rPr>
              <a:t>BaseModel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):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    action: </a:t>
            </a:r>
            <a:r>
              <a:rPr sz="1400" b="1" dirty="0">
                <a:solidFill>
                  <a:srgbClr val="F4A261"/>
                </a:solidFill>
                <a:latin typeface="Consolas"/>
              </a:rPr>
              <a:t>Literal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[</a:t>
            </a:r>
            <a:r>
              <a:rPr sz="1400" dirty="0">
                <a:solidFill>
                  <a:srgbClr val="80FFF0"/>
                </a:solidFill>
                <a:latin typeface="Consolas"/>
              </a:rPr>
              <a:t>"buy"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, </a:t>
            </a:r>
            <a:r>
              <a:rPr sz="1400" dirty="0">
                <a:solidFill>
                  <a:srgbClr val="80FFF0"/>
                </a:solidFill>
                <a:latin typeface="Consolas"/>
              </a:rPr>
              <a:t>"sell"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, </a:t>
            </a:r>
            <a:r>
              <a:rPr sz="1400" dirty="0">
                <a:solidFill>
                  <a:srgbClr val="80FFF0"/>
                </a:solidFill>
                <a:latin typeface="Consolas"/>
              </a:rPr>
              <a:t>"hold"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]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    confidence: </a:t>
            </a:r>
            <a:r>
              <a:rPr sz="1400" b="1" dirty="0">
                <a:solidFill>
                  <a:srgbClr val="F4A261"/>
                </a:solidFill>
                <a:latin typeface="Consolas"/>
              </a:rPr>
              <a:t>float</a:t>
            </a:r>
          </a:p>
          <a:p>
            <a:pPr algn="l"/>
            <a:endParaRPr sz="1400" dirty="0">
              <a:latin typeface="Consolas"/>
            </a:endParaRP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out = llm.structured(prompt, schema=Decision)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log.info(</a:t>
            </a:r>
            <a:r>
              <a:rPr sz="1400" dirty="0">
                <a:solidFill>
                  <a:srgbClr val="80FFF0"/>
                </a:solidFill>
                <a:latin typeface="Consolas"/>
              </a:rPr>
              <a:t>"llm.call"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, extra={</a:t>
            </a:r>
            <a:r>
              <a:rPr sz="1400" dirty="0">
                <a:solidFill>
                  <a:srgbClr val="80FFF0"/>
                </a:solidFill>
                <a:latin typeface="Consolas"/>
              </a:rPr>
              <a:t>"request_id"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: rid, ...})</a:t>
            </a:r>
          </a:p>
        </p:txBody>
      </p:sp>
    </p:spTree>
    <p:extLst>
      <p:ext uri="{BB962C8B-B14F-4D97-AF65-F5344CB8AC3E}">
        <p14:creationId xmlns:p14="http://schemas.microsoft.com/office/powerpoint/2010/main" val="8552076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Stage A · Monitoring over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2564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One call is data. The stream of calls is where monitoring lives.</a:t>
            </a:r>
          </a:p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•  </a:t>
            </a:r>
            <a:r>
              <a:rPr sz="2000" b="1" i="0" dirty="0">
                <a:solidFill>
                  <a:srgbClr val="F4A261"/>
                </a:solidFill>
                <a:latin typeface="Calibri"/>
              </a:rPr>
              <a:t>Latency distributions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— p50 / p95 / p99 per model, per prompt version. Alert on drift.</a:t>
            </a:r>
          </a:p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•  </a:t>
            </a:r>
            <a:r>
              <a:rPr sz="2000" b="1" i="0" dirty="0">
                <a:solidFill>
                  <a:srgbClr val="F4A261"/>
                </a:solidFill>
                <a:latin typeface="Calibri"/>
              </a:rPr>
              <a:t>Failure rate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— schema-validation fails, API errors, timeouts. Alert when timeout rate crosses threshold.</a:t>
            </a:r>
          </a:p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•  </a:t>
            </a:r>
            <a:r>
              <a:rPr sz="2000" b="1" i="0" dirty="0">
                <a:solidFill>
                  <a:srgbClr val="F4A261"/>
                </a:solidFill>
                <a:latin typeface="Calibri"/>
              </a:rPr>
              <a:t>Correctness sampling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— sample a small % of production traffic and run LLM-as-judge (L7) offline.</a:t>
            </a:r>
          </a:p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•  </a:t>
            </a:r>
            <a:r>
              <a:rPr sz="2000" b="1" i="0" dirty="0">
                <a:solidFill>
                  <a:srgbClr val="F4A261"/>
                </a:solidFill>
                <a:latin typeface="Calibri"/>
              </a:rPr>
              <a:t>Cost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is first-class — spend per day, per model, per prompt version.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320540"/>
            <a:ext cx="806500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i="1">
                <a:solidFill>
                  <a:srgbClr val="FFFFFF"/>
                </a:solidFill>
                <a:latin typeface="Cambria"/>
              </a:rPr>
              <a:t>Same RED picture from earlier, with a quality axis added.</a:t>
            </a:r>
          </a:p>
        </p:txBody>
      </p:sp>
    </p:spTree>
    <p:extLst>
      <p:ext uri="{BB962C8B-B14F-4D97-AF65-F5344CB8AC3E}">
        <p14:creationId xmlns:p14="http://schemas.microsoft.com/office/powerpoint/2010/main" val="1267665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Stage A · Content safety (separate from structural validation)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6471"/>
            <a:ext cx="8138160" cy="25391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000" b="0" i="0" dirty="0" err="1">
                <a:solidFill>
                  <a:srgbClr val="FFFFFF"/>
                </a:solidFill>
                <a:latin typeface="Calibri"/>
              </a:rPr>
              <a:t>Pydantic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-valid ≠ safe. A well-formed answer can still be toxic, leak PII, or violate policy. Runs after structural validation.</a:t>
            </a:r>
          </a:p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•  </a:t>
            </a:r>
            <a:r>
              <a:rPr b="1" i="0" dirty="0">
                <a:solidFill>
                  <a:srgbClr val="F4A261"/>
                </a:solidFill>
                <a:latin typeface="Calibri"/>
              </a:rPr>
              <a:t>Toxicity</a:t>
            </a:r>
            <a:r>
              <a:rPr sz="2000" b="1" i="0" dirty="0">
                <a:solidFill>
                  <a:srgbClr val="F4A261"/>
                </a:solidFill>
                <a:latin typeface="Calibri"/>
              </a:rPr>
              <a:t> / policy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— rule-based filters, classifier models, or LLM judge. Pre-response.</a:t>
            </a:r>
          </a:p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•  </a:t>
            </a:r>
            <a:r>
              <a:rPr sz="2000" b="1" i="0" dirty="0">
                <a:solidFill>
                  <a:srgbClr val="F4A261"/>
                </a:solidFill>
                <a:latin typeface="Calibri"/>
              </a:rPr>
              <a:t>PII in the answer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— the model may emit PII even when the prompt was clean. Redact, block, or let through + flag.</a:t>
            </a:r>
          </a:p>
          <a:p>
            <a:pPr algn="l">
              <a:spcBef>
                <a:spcPts val="200"/>
              </a:spcBef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Important distinction: detecting PII in an answer is different from logging it. Two separate knobs, usually two separate configs.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11980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i="1">
                <a:solidFill>
                  <a:srgbClr val="888888"/>
                </a:solidFill>
                <a:latin typeface="Calibri"/>
              </a:rPr>
              <a:t>→ pause for IC-5 (3 min): PII sorting — separate "in the answer" from "in the log" on a three-case table.</a:t>
            </a:r>
          </a:p>
        </p:txBody>
      </p:sp>
    </p:spTree>
    <p:extLst>
      <p:ext uri="{BB962C8B-B14F-4D97-AF65-F5344CB8AC3E}">
        <p14:creationId xmlns:p14="http://schemas.microsoft.com/office/powerpoint/2010/main" val="5091348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Stage A · Guardrail design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3771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Fail-closed vs. fail-open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— per check, not global. Schema → fail-closed. Toxicity → fail-closed. Latency budget → often fail-open.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Retry-with-repair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— one bounded retry: "your last answer didn't parse — here's the error, try again."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Fallback chains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— cheap model → strong model → human.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Circuit breakers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— trip when a check's reject-rate spikes; stop hitting the guarded path temporarily.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Every trip should produce a structured log entry and a metric — otherwise the guardrail is invisible to monitoring.</a:t>
            </a:r>
          </a:p>
        </p:txBody>
      </p:sp>
    </p:spTree>
    <p:extLst>
      <p:ext uri="{BB962C8B-B14F-4D97-AF65-F5344CB8AC3E}">
        <p14:creationId xmlns:p14="http://schemas.microsoft.com/office/powerpoint/2010/main" val="28431809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76D6FF"/>
                </a:solidFill>
                <a:latin typeface="Century Gothic"/>
              </a:rPr>
              <a:t>INTERLUDE · DEMO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LLM-call log viewer and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888888"/>
                </a:solidFill>
                <a:latin typeface="Consolas"/>
              </a:rPr>
              <a:t>labs/09_monitoring/demos/4_llm_calls/ · log_viewer.html, dashboard.html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81381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400" b="1" i="0">
                <a:solidFill>
                  <a:srgbClr val="F4A261"/>
                </a:solidFill>
                <a:latin typeface="Calibri"/>
              </a:rPr>
              <a:t>What students see: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Step 1: the raw log viewer over llm_calls.ndjson — filter by prompt version, expand a row. Teaching beat: building a viewer like this is essentially free today; what Splunk sells is scale. Step 2: the aggregation dashboard — latency, failure rate, cost, safety trips, guardrails.</a:t>
            </a:r>
          </a:p>
          <a:p>
            <a:pPr algn="l">
              <a:spcBef>
                <a:spcPts val="800"/>
              </a:spcBef>
            </a:pPr>
            <a:r>
              <a:rPr sz="2400" b="1" i="0">
                <a:solidFill>
                  <a:srgbClr val="F4A261"/>
                </a:solidFill>
                <a:latin typeface="Calibri"/>
              </a:rPr>
              <a:t>Returns to the deck by</a:t>
            </a:r>
          </a:p>
          <a:p>
            <a:pPr algn="l">
              <a:spcBef>
                <a:spcPts val="200"/>
              </a:spcBef>
            </a:pPr>
            <a:r>
              <a:rPr sz="2400" b="0" i="1">
                <a:solidFill>
                  <a:srgbClr val="FFFFFF"/>
                </a:solidFill>
                <a:latin typeface="Calibri"/>
              </a:rPr>
              <a:t>motivating Stage B: "flat rows are fine for one call — about to stop being enough."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>
                <a:solidFill>
                  <a:srgbClr val="888888"/>
                </a:solidFill>
                <a:latin typeface="Calibri"/>
              </a:rPr>
              <a:t>Budget: ~15 minutes</a:t>
            </a:r>
          </a:p>
        </p:txBody>
      </p:sp>
    </p:spTree>
    <p:extLst>
      <p:ext uri="{BB962C8B-B14F-4D97-AF65-F5344CB8AC3E}">
        <p14:creationId xmlns:p14="http://schemas.microsoft.com/office/powerpoint/2010/main" val="11692433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Stage B · Add context and tool calls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3771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Context / memory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— system prompts, retrieved chunks (RAG), conversation history.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Tool calls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— the model requests information or actions (search, code execution, APIs).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The call becomes a loop: reason → optional tool → read result → reason → answer. Still one logical request/response.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Now we track: memory state, reasoning (when exposed), tool-calling decisions, tool logs, session-level state (session_id, step count, cumulative cost).</a:t>
            </a:r>
          </a:p>
        </p:txBody>
      </p:sp>
    </p:spTree>
    <p:extLst>
      <p:ext uri="{BB962C8B-B14F-4D97-AF65-F5344CB8AC3E}">
        <p14:creationId xmlns:p14="http://schemas.microsoft.com/office/powerpoint/2010/main" val="37885257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Tracing a multi-step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15041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Flat rows can't show which step led to which. We need a trace: events with a shared request id and parent/child relationships.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601468"/>
            <a:ext cx="8138160" cy="137160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2711196"/>
            <a:ext cx="7808976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  <a:latin typeface="Consolas"/>
              </a:rPr>
              <a:t>research.task       [rid=7a2, 4.2s]</a:t>
            </a:r>
          </a:p>
          <a:p>
            <a:pPr algn="l"/>
            <a:r>
              <a:rPr sz="1100">
                <a:solidFill>
                  <a:srgbClr val="FFFFFF"/>
                </a:solidFill>
                <a:latin typeface="Consolas"/>
              </a:rPr>
              <a:t>├── llm.call plan   [142ms]</a:t>
            </a:r>
          </a:p>
          <a:p>
            <a:pPr algn="l"/>
            <a:r>
              <a:rPr sz="1100">
                <a:solidFill>
                  <a:srgbClr val="FFFFFF"/>
                </a:solidFill>
                <a:latin typeface="Consolas"/>
              </a:rPr>
              <a:t>├── retrieval.agent [3.1s]</a:t>
            </a:r>
          </a:p>
          <a:p>
            <a:pPr algn="l"/>
            <a:r>
              <a:rPr sz="1100">
                <a:solidFill>
                  <a:srgbClr val="FFFFFF"/>
                </a:solidFill>
                <a:latin typeface="Consolas"/>
              </a:rPr>
              <a:t>│   ├── llm.call    [310ms]</a:t>
            </a:r>
          </a:p>
          <a:p>
            <a:pPr algn="l"/>
            <a:r>
              <a:rPr sz="1100">
                <a:solidFill>
                  <a:srgbClr val="FFFFFF"/>
                </a:solidFill>
                <a:latin typeface="Consolas"/>
              </a:rPr>
              <a:t>│   └── tool.search [2.7s]</a:t>
            </a:r>
          </a:p>
          <a:p>
            <a:pPr algn="l"/>
            <a:r>
              <a:rPr sz="1100">
                <a:solidFill>
                  <a:srgbClr val="FFFFFF"/>
                </a:solidFill>
                <a:latin typeface="Consolas"/>
              </a:rPr>
              <a:t>└── llm.call answer [720ms]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4064508"/>
            <a:ext cx="806500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i="1">
                <a:solidFill>
                  <a:srgbClr val="FFFFFF"/>
                </a:solidFill>
                <a:latin typeface="Cambria"/>
              </a:rPr>
              <a:t>Same idea as process mining — events with a shared case id reveal the process that produced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21708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i="1">
                <a:solidFill>
                  <a:srgbClr val="888888"/>
                </a:solidFill>
                <a:latin typeface="Calibri"/>
              </a:rPr>
              <a:t>→ pause for IC-6 (3 min): Tree vs. rows — name three questions answerable only with parent/child info.</a:t>
            </a:r>
          </a:p>
        </p:txBody>
      </p:sp>
    </p:spTree>
    <p:extLst>
      <p:ext uri="{BB962C8B-B14F-4D97-AF65-F5344CB8AC3E}">
        <p14:creationId xmlns:p14="http://schemas.microsoft.com/office/powerpoint/2010/main" val="31396796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OpenTelemetry + GenAI semantic conventions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3314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OpenTelemetry (OTel)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— the vendor-neutral standard for trace data.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GenAI semantic conventions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pick attribute names that work across all backends: gen_ai.system, gen_ai.request.model, gen_ai.usage.input_tokens, gen_ai.usage.output_tokens, gen_ai.operation.name.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Standard names = portability. Write instrumentation once, swap backends without touching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11980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i="1">
                <a:solidFill>
                  <a:srgbClr val="888888"/>
                </a:solidFill>
                <a:latin typeface="Calibri"/>
              </a:rPr>
              <a:t>Code: the lab's trace_llm_call context manager sets GenAI attributes and emits a span.</a:t>
            </a:r>
          </a:p>
        </p:txBody>
      </p:sp>
    </p:spTree>
    <p:extLst>
      <p:ext uri="{BB962C8B-B14F-4D97-AF65-F5344CB8AC3E}">
        <p14:creationId xmlns:p14="http://schemas.microsoft.com/office/powerpoint/2010/main" val="29886401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76D6FF"/>
                </a:solidFill>
                <a:latin typeface="Century Gothic"/>
              </a:rPr>
              <a:t>INTERLUDE · DEMO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OpenTelemetry traces + viewer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888888"/>
                </a:solidFill>
                <a:latin typeface="Consolas"/>
              </a:rPr>
              <a:t>labs/09_monitoring/demos/5_otel_traces/ · trace_viewer.html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81381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400" b="1" i="0">
                <a:solidFill>
                  <a:srgbClr val="F4A261"/>
                </a:solidFill>
                <a:latin typeface="Calibri"/>
              </a:rPr>
              <a:t>What students see: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A Stage-B flow's spans exported as NDJSON, reconstructed into a collapsible waterfall; clicking a span shows GenAI-semconv attributes (model, tokens, tool args). Optional: --with-otlp streams the same spans into a local Phoenix.</a:t>
            </a:r>
          </a:p>
          <a:p>
            <a:pPr algn="l">
              <a:spcBef>
                <a:spcPts val="800"/>
              </a:spcBef>
            </a:pPr>
            <a:r>
              <a:rPr sz="2400" b="1" i="0">
                <a:solidFill>
                  <a:srgbClr val="F4A261"/>
                </a:solidFill>
                <a:latin typeface="Calibri"/>
              </a:rPr>
              <a:t>Returns to the deck by</a:t>
            </a:r>
          </a:p>
          <a:p>
            <a:pPr algn="l">
              <a:spcBef>
                <a:spcPts val="200"/>
              </a:spcBef>
            </a:pPr>
            <a:r>
              <a:rPr sz="2400" b="0" i="1">
                <a:solidFill>
                  <a:srgbClr val="FFFFFF"/>
                </a:solidFill>
                <a:latin typeface="Calibri"/>
              </a:rPr>
              <a:t>setting up tooling: "you've read your own tree — now let's survey what's out there."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>
                <a:solidFill>
                  <a:srgbClr val="888888"/>
                </a:solidFill>
                <a:latin typeface="Calibri"/>
              </a:rPr>
              <a:t>Budget: ~10 minutes</a:t>
            </a:r>
          </a:p>
        </p:txBody>
      </p:sp>
    </p:spTree>
    <p:extLst>
      <p:ext uri="{BB962C8B-B14F-4D97-AF65-F5344CB8AC3E}">
        <p14:creationId xmlns:p14="http://schemas.microsoft.com/office/powerpoint/2010/main" val="25381961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What's out there (and when to reach for 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32232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Phoenix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(Arize) — notebook-first, open source.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Langfuse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— full-stack LLM observability: tracing + eval + prompt management.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Jaeger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— generic OTel backend, engineer-friendly, no LLM-specific UI.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LangSmith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— LangChain-native; hosted; proprietary.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Grafana Tempo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— fits into an existing Grafana/Prometheus stack.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320540"/>
            <a:ext cx="806500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i="1">
                <a:solidFill>
                  <a:srgbClr val="FFFFFF"/>
                </a:solidFill>
                <a:latin typeface="Cambria"/>
              </a:rPr>
              <a:t>Build-vs-buy: OTLP is standard, so swap cost is low. Start home-grown; adopt a backend when the team outgrows it.</a:t>
            </a:r>
          </a:p>
        </p:txBody>
      </p:sp>
    </p:spTree>
    <p:extLst>
      <p:ext uri="{BB962C8B-B14F-4D97-AF65-F5344CB8AC3E}">
        <p14:creationId xmlns:p14="http://schemas.microsoft.com/office/powerpoint/2010/main" val="373317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Roadmap: rows 3 &amp; 4 filled 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51560"/>
          <a:ext cx="81381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88888"/>
                          </a:solidFill>
                          <a:latin typeface="Calibri"/>
                        </a:rPr>
                        <a:t>What we monitor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88888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88888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A261"/>
                          </a:solidFill>
                          <a:latin typeface="Calibri"/>
                        </a:rPr>
                        <a:t>Traditional SW / SaaS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control flow, exceptions, latency, error rate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assert + exceptions + structured logs + RED/USE + SLOs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know when broken, restore fast, debug post-hoc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A261"/>
                          </a:solidFill>
                          <a:latin typeface="Calibri"/>
                        </a:rPr>
                        <a:t>Classical ML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training-job health, serving latency, quality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job-status checks, service metrics, held-out eval, drift tests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same as any service — plus "is the model still good?"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A261"/>
                          </a:solidFill>
                          <a:latin typeface="Calibri"/>
                        </a:rPr>
                        <a:t>Single LLM call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prompt/completion, latency, cost, schema validity, safety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structured log row per call, Pydantic contract, sampled LLM-as-judge, guardrails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correctness measurable per-call; cost + safety first-class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A261"/>
                          </a:solidFill>
                          <a:latin typeface="Calibri"/>
                        </a:rPr>
                        <a:t>LLM + context / tool / memory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per-step spans, memory, tool decisions, tool results, session cumulative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OTel spans + GenAI semconv, trace viewer, tree-aware rollups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recover which step caused it — rows cannot answer that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A261"/>
                          </a:solidFill>
                          <a:latin typeface="Calibri"/>
                        </a:rPr>
                        <a:t>Systems of agents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i="1">
                          <a:solidFill>
                            <a:srgbClr val="88888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i="1">
                          <a:solidFill>
                            <a:srgbClr val="88888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i="1">
                          <a:solidFill>
                            <a:srgbClr val="88888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76072" y="4270248"/>
            <a:ext cx="806500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i="1">
                <a:solidFill>
                  <a:srgbClr val="FFFFFF"/>
                </a:solidFill>
                <a:latin typeface="Cambria"/>
              </a:rPr>
              <a:t>Each rung up the complexity ladder forces a new data structure: row → session-keyed rows → causal tree.</a:t>
            </a:r>
          </a:p>
        </p:txBody>
      </p:sp>
    </p:spTree>
    <p:extLst>
      <p:ext uri="{BB962C8B-B14F-4D97-AF65-F5344CB8AC3E}">
        <p14:creationId xmlns:p14="http://schemas.microsoft.com/office/powerpoint/2010/main" val="36719583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0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76D6FF"/>
                </a:solidFill>
                <a:latin typeface="Century Gothic"/>
              </a:rPr>
              <a:t>SECTION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286000"/>
            <a:ext cx="81381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>
                <a:solidFill>
                  <a:srgbClr val="FFFFFF"/>
                </a:solidFill>
                <a:latin typeface="Calibri"/>
              </a:rPr>
              <a:t>Agents and systems of agents</a:t>
            </a:r>
          </a:p>
        </p:txBody>
      </p:sp>
    </p:spTree>
    <p:extLst>
      <p:ext uri="{BB962C8B-B14F-4D97-AF65-F5344CB8AC3E}">
        <p14:creationId xmlns:p14="http://schemas.microsoft.com/office/powerpoint/2010/main" val="19646999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Topology: orchestrators and sub-agents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3314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Orchestrators, planners, reasoners, sub-agents, handoffs, re-entry.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The span structure generalises: one request can spawn several sub-agent spans, each with its own LLM and tool calls underneath.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11980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i="1">
                <a:solidFill>
                  <a:srgbClr val="888888"/>
                </a:solidFill>
                <a:latin typeface="Calibri"/>
              </a:rPr>
              <a:t>Visual: orchestrator span at top, 2–3 sub-agent spans beneath, each with child LLM and tool spans.</a:t>
            </a:r>
          </a:p>
        </p:txBody>
      </p:sp>
    </p:spTree>
    <p:extLst>
      <p:ext uri="{BB962C8B-B14F-4D97-AF65-F5344CB8AC3E}">
        <p14:creationId xmlns:p14="http://schemas.microsoft.com/office/powerpoint/2010/main" val="10993341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Task-level and coordination assertions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3771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Task-level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— "did the final answer satisfy the original user intent?" — an LLM-as-judge rubric over the whole span tree.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Coordination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— plan is valid; step budget bounded across the tree; no role drift; no planner-ping-pong.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Statistical at task level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— task-success rate, repair rate, human-escalation rate, cost/task.</a:t>
            </a:r>
          </a:p>
        </p:txBody>
      </p:sp>
    </p:spTree>
    <p:extLst>
      <p:ext uri="{BB962C8B-B14F-4D97-AF65-F5344CB8AC3E}">
        <p14:creationId xmlns:p14="http://schemas.microsoft.com/office/powerpoint/2010/main" val="4966859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Failure modes unique to multi-agent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3314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Silent agent disagreement.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Cascading repair (each layer retries, cost explodes).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Planner loops.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Role confusion.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11980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i="1">
                <a:solidFill>
                  <a:srgbClr val="888888"/>
                </a:solidFill>
                <a:latin typeface="Calibri"/>
              </a:rPr>
              <a:t>→ pause for IC-7 (3 min): Spot the pathology — label three ASCII trees.</a:t>
            </a:r>
          </a:p>
        </p:txBody>
      </p:sp>
    </p:spTree>
    <p:extLst>
      <p:ext uri="{BB962C8B-B14F-4D97-AF65-F5344CB8AC3E}">
        <p14:creationId xmlns:p14="http://schemas.microsoft.com/office/powerpoint/2010/main" val="2632353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76D6FF"/>
                </a:solidFill>
                <a:latin typeface="Century Gothic"/>
              </a:rPr>
              <a:t>INTERLUDE · DEMO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Multi-agent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888888"/>
                </a:solidFill>
                <a:latin typeface="Consolas"/>
              </a:rPr>
              <a:t>labs/09_monitoring/demos/6_multi_agent/ · reuse Demo 5 trace_viewer.html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81381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400" b="1" i="0">
                <a:solidFill>
                  <a:srgbClr val="F4A261"/>
                </a:solidFill>
                <a:latin typeface="Calibri"/>
              </a:rPr>
              <a:t>What students see: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A healthy orchestrator tree (wide, bounded depth) next to a --failure-mode=planner_loop run (tall, repeating retries); task_judgments.ndjson alongside shows the task-level rubric verdict. Instructor points at the shape and reads back the failure-mode vocabulary.</a:t>
            </a:r>
          </a:p>
          <a:p>
            <a:pPr algn="l">
              <a:spcBef>
                <a:spcPts val="800"/>
              </a:spcBef>
            </a:pPr>
            <a:r>
              <a:rPr sz="2400" b="1" i="0">
                <a:solidFill>
                  <a:srgbClr val="F4A261"/>
                </a:solidFill>
                <a:latin typeface="Calibri"/>
              </a:rPr>
              <a:t>Returns to the deck by</a:t>
            </a:r>
          </a:p>
          <a:p>
            <a:pPr algn="l">
              <a:spcBef>
                <a:spcPts val="200"/>
              </a:spcBef>
            </a:pPr>
            <a:r>
              <a:rPr sz="2400" b="0" i="1">
                <a:solidFill>
                  <a:srgbClr val="FFFFFF"/>
                </a:solidFill>
                <a:latin typeface="Calibri"/>
              </a:rPr>
              <a:t>closing the section: "failure mode is a shape — and the shape is in the same spans file you had before."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>
                <a:solidFill>
                  <a:srgbClr val="888888"/>
                </a:solidFill>
                <a:latin typeface="Calibri"/>
              </a:rPr>
              <a:t>Budget: ~10 minutes</a:t>
            </a:r>
          </a:p>
        </p:txBody>
      </p:sp>
    </p:spTree>
    <p:extLst>
      <p:ext uri="{BB962C8B-B14F-4D97-AF65-F5344CB8AC3E}">
        <p14:creationId xmlns:p14="http://schemas.microsoft.com/office/powerpoint/2010/main" val="25889778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Roadmap: row 5 filled 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51560"/>
          <a:ext cx="8138160" cy="313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88888"/>
                          </a:solidFill>
                          <a:latin typeface="Calibri"/>
                        </a:rPr>
                        <a:t>What we monitor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88888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88888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A261"/>
                          </a:solidFill>
                          <a:latin typeface="Calibri"/>
                        </a:rPr>
                        <a:t>Traditional SW / SaaS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control flow, exceptions, latency, error rate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assert + exceptions + structured logs + RED/USE + SLOs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know when broken, restore fast, debug post-hoc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A261"/>
                          </a:solidFill>
                          <a:latin typeface="Calibri"/>
                        </a:rPr>
                        <a:t>Classical ML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training-job health, serving latency, quality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job-status checks, service metrics, held-out eval, drift tests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same as any service — plus "is the model still good?"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A261"/>
                          </a:solidFill>
                          <a:latin typeface="Calibri"/>
                        </a:rPr>
                        <a:t>Single LLM call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prompt/completion, latency, cost, schema, safety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Pydantic contract, sampled LLM-as-judge, guardrails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correctness per-call; cost + safety first-class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A261"/>
                          </a:solidFill>
                          <a:latin typeface="Calibri"/>
                        </a:rPr>
                        <a:t>LLM + context / tool / memory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per-step spans, memory, tool decisions, tool results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OTel spans + GenAI semconv, trace viewer, tree-aware rollups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recover which step caused it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A261"/>
                          </a:solidFill>
                          <a:latin typeface="Calibri"/>
                        </a:rPr>
                        <a:t>Systems of agents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task success, coordination, cascading-repair, cost/task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task-level rubric over span trees, shape-based detection, tree-wide budgets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correctness defined at the task level; the production trace is the eval sample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76072" y="4270248"/>
            <a:ext cx="806500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i="1">
                <a:solidFill>
                  <a:srgbClr val="FFFFFF"/>
                </a:solidFill>
                <a:latin typeface="Cambria"/>
              </a:rPr>
              <a:t>In agent systems, correctness is defined at the task level; the production trace is the eval sample.</a:t>
            </a:r>
          </a:p>
        </p:txBody>
      </p:sp>
    </p:spTree>
    <p:extLst>
      <p:ext uri="{BB962C8B-B14F-4D97-AF65-F5344CB8AC3E}">
        <p14:creationId xmlns:p14="http://schemas.microsoft.com/office/powerpoint/2010/main" val="41084444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0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76D6FF"/>
                </a:solidFill>
                <a:latin typeface="Century Gothic"/>
              </a:rPr>
              <a:t>SECTION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286000"/>
            <a:ext cx="81381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>
                <a:solidFill>
                  <a:srgbClr val="FFFFFF"/>
                </a:solidFill>
                <a:latin typeface="Calibri"/>
              </a:rPr>
              <a:t>CI · Telemetry · Analysis · Reporting</a:t>
            </a:r>
          </a:p>
        </p:txBody>
      </p:sp>
    </p:spTree>
    <p:extLst>
      <p:ext uri="{BB962C8B-B14F-4D97-AF65-F5344CB8AC3E}">
        <p14:creationId xmlns:p14="http://schemas.microsoft.com/office/powerpoint/2010/main" val="14499217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CI eval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3314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Golden set + rubric judges run on every PR.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Budgets: tokens, wall-clock, dollars — fail the build if exceeded.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Regression check using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confidence intervals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(L8–L9), not raw means.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Pin dataset version, judge version, prompt version in the run artifact.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11980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i="1">
                <a:solidFill>
                  <a:srgbClr val="888888"/>
                </a:solidFill>
                <a:latin typeface="Calibri"/>
              </a:rPr>
              <a:t>Code: test_rubric_regression pytest skeleton.</a:t>
            </a:r>
          </a:p>
        </p:txBody>
      </p:sp>
    </p:spTree>
    <p:extLst>
      <p:ext uri="{BB962C8B-B14F-4D97-AF65-F5344CB8AC3E}">
        <p14:creationId xmlns:p14="http://schemas.microsoft.com/office/powerpoint/2010/main" val="20242229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Telemetry: what makes remote monitoring possible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3314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The operational act of shipping structured data (logs / metrics / spans) off the service to a remote backend.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Without telemetry you can only monitor by SSH-ing into the box.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OTLP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— vendor-neutral wire format. Same spans go to Tempo / Jaeger / Phoenix / Langfuse.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Sampling: head-based (decide at trace start) vs. tail-based (keep all errors, 1% of successes).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Cardinality discipline — no user-generated strings in metric tags.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11980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i="1">
                <a:solidFill>
                  <a:srgbClr val="888888"/>
                </a:solidFill>
                <a:latin typeface="Calibri"/>
              </a:rPr>
              <a:t>Code: ~3-line diff swapping ConsoleSpanExporter → OTLPSpanExporter.</a:t>
            </a:r>
          </a:p>
        </p:txBody>
      </p:sp>
    </p:spTree>
    <p:extLst>
      <p:ext uri="{BB962C8B-B14F-4D97-AF65-F5344CB8AC3E}">
        <p14:creationId xmlns:p14="http://schemas.microsoft.com/office/powerpoint/2010/main" val="9957545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Online evals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3771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Canary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— small % of traffic on new prompt/model, side-by-side rubric/guardrail comparison.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Shadow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— new version sees real input, output judged but not shown.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Sampled LLM-as-judge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on production traffic (L7 caveats apply).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Drift signals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— rising reject-rate, embedding-distribution shift, output-length shift, tool-mix shift.</a:t>
            </a:r>
          </a:p>
        </p:txBody>
      </p:sp>
    </p:spTree>
    <p:extLst>
      <p:ext uri="{BB962C8B-B14F-4D97-AF65-F5344CB8AC3E}">
        <p14:creationId xmlns:p14="http://schemas.microsoft.com/office/powerpoint/2010/main" val="20624448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Analysis: turning telemetry into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34265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lang="en-US" sz="2400" b="0" i="0" dirty="0">
                <a:solidFill>
                  <a:srgbClr val="FFFFFF"/>
                </a:solidFill>
                <a:latin typeface="Calibri"/>
              </a:rPr>
              <a:t>•  </a:t>
            </a:r>
            <a:r>
              <a:rPr lang="en-US" sz="2400" b="1" i="0" dirty="0">
                <a:solidFill>
                  <a:srgbClr val="F4A261"/>
                </a:solidFill>
                <a:latin typeface="Calibri"/>
              </a:rPr>
              <a:t>Aggregation</a:t>
            </a:r>
            <a:r>
              <a:rPr lang="en-US" sz="2400" b="0" i="0" dirty="0">
                <a:solidFill>
                  <a:srgbClr val="FFFFFF"/>
                </a:solidFill>
                <a:latin typeface="Calibri"/>
              </a:rPr>
              <a:t> — summary stats per prompt, model, cohort, time window.</a:t>
            </a:r>
          </a:p>
          <a:p>
            <a:pPr algn="l">
              <a:spcBef>
                <a:spcPts val="200"/>
              </a:spcBef>
            </a:pPr>
            <a:r>
              <a:rPr lang="en-US" sz="2400" b="0" i="0" dirty="0">
                <a:solidFill>
                  <a:srgbClr val="FFFFFF"/>
                </a:solidFill>
                <a:latin typeface="Calibri"/>
              </a:rPr>
              <a:t>•  </a:t>
            </a:r>
            <a:r>
              <a:rPr lang="en-US" sz="2400" b="1" i="0" dirty="0">
                <a:solidFill>
                  <a:srgbClr val="F4A261"/>
                </a:solidFill>
                <a:latin typeface="Calibri"/>
              </a:rPr>
              <a:t>Segmentation</a:t>
            </a:r>
            <a:r>
              <a:rPr lang="en-US" sz="2400" b="0" i="0" dirty="0">
                <a:solidFill>
                  <a:srgbClr val="FFFFFF"/>
                </a:solidFill>
                <a:latin typeface="Calibri"/>
              </a:rPr>
              <a:t> — slice and compare (prompt v2 vs v3; weekend vs weekday).</a:t>
            </a:r>
          </a:p>
          <a:p>
            <a:pPr algn="l">
              <a:spcBef>
                <a:spcPts val="200"/>
              </a:spcBef>
            </a:pPr>
            <a:r>
              <a:rPr lang="en-US" sz="2400" b="0" i="0" dirty="0">
                <a:solidFill>
                  <a:srgbClr val="FFFFFF"/>
                </a:solidFill>
                <a:latin typeface="Calibri"/>
              </a:rPr>
              <a:t>•  </a:t>
            </a:r>
            <a:r>
              <a:rPr lang="en-US" sz="2400" b="1" i="0" dirty="0">
                <a:solidFill>
                  <a:srgbClr val="F4A261"/>
                </a:solidFill>
                <a:latin typeface="Calibri"/>
              </a:rPr>
              <a:t>A/B comparison</a:t>
            </a:r>
            <a:r>
              <a:rPr lang="en-US" sz="2400" b="0" i="0" dirty="0">
                <a:solidFill>
                  <a:srgbClr val="FFFFFF"/>
                </a:solidFill>
                <a:latin typeface="Calibri"/>
              </a:rPr>
              <a:t> — canary vs control; difference with confidence intervals.</a:t>
            </a:r>
          </a:p>
          <a:p>
            <a:pPr algn="l">
              <a:spcBef>
                <a:spcPts val="200"/>
              </a:spcBef>
            </a:pPr>
            <a:r>
              <a:rPr lang="en-US" sz="2400" b="0" i="0" dirty="0">
                <a:solidFill>
                  <a:srgbClr val="FFFFFF"/>
                </a:solidFill>
                <a:latin typeface="Calibri"/>
              </a:rPr>
              <a:t>•  </a:t>
            </a:r>
            <a:r>
              <a:rPr lang="en-US" sz="2400" b="1" i="0" dirty="0">
                <a:solidFill>
                  <a:srgbClr val="F4A261"/>
                </a:solidFill>
                <a:latin typeface="Calibri"/>
              </a:rPr>
              <a:t>Drill-down</a:t>
            </a:r>
            <a:r>
              <a:rPr lang="en-US" sz="2400" b="0" i="0" dirty="0">
                <a:solidFill>
                  <a:srgbClr val="FFFFFF"/>
                </a:solidFill>
                <a:latin typeface="Calibri"/>
              </a:rPr>
              <a:t> — filter to a failing subset; pull individual traces.</a:t>
            </a:r>
          </a:p>
          <a:p>
            <a:pPr algn="l">
              <a:spcBef>
                <a:spcPts val="200"/>
              </a:spcBef>
            </a:pPr>
            <a:r>
              <a:rPr lang="en-US" sz="2400" b="0" i="0" dirty="0">
                <a:solidFill>
                  <a:srgbClr val="FFFFFF"/>
                </a:solidFill>
                <a:latin typeface="Calibri"/>
              </a:rPr>
              <a:t>•  </a:t>
            </a:r>
            <a:r>
              <a:rPr lang="en-US" sz="2400" b="1" i="0" dirty="0">
                <a:solidFill>
                  <a:srgbClr val="F4A261"/>
                </a:solidFill>
                <a:latin typeface="Calibri"/>
              </a:rPr>
              <a:t>Trend detection</a:t>
            </a:r>
            <a:r>
              <a:rPr lang="en-US" sz="2400" b="0" i="0" dirty="0">
                <a:solidFill>
                  <a:srgbClr val="FFFFFF"/>
                </a:solidFill>
                <a:latin typeface="Calibri"/>
              </a:rPr>
              <a:t> — rolling windows to spot drift before SLO breaks.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318000"/>
            <a:ext cx="806500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i="1">
                <a:solidFill>
                  <a:srgbClr val="FFFFFF"/>
                </a:solidFill>
                <a:latin typeface="Cambria"/>
              </a:rPr>
              <a:t>Same structured data powers live dashboards, CI gates, and after-the-fact analysis. Build the pipeline once.</a:t>
            </a:r>
          </a:p>
        </p:txBody>
      </p:sp>
    </p:spTree>
    <p:extLst>
      <p:ext uri="{BB962C8B-B14F-4D97-AF65-F5344CB8AC3E}">
        <p14:creationId xmlns:p14="http://schemas.microsoft.com/office/powerpoint/2010/main" val="19549487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76D6FF"/>
                </a:solidFill>
                <a:latin typeface="Century Gothic"/>
              </a:rPr>
              <a:t>INTERLUDE · DEMO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Analysis / A-B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888888"/>
                </a:solidFill>
                <a:latin typeface="Consolas"/>
              </a:rPr>
              <a:t>labs/09_monitoring/demos/7_ab_analysis/ · python analyze.py → analysis_report.html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81381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400" b="1" i="0">
                <a:solidFill>
                  <a:srgbClr val="F4A261"/>
                </a:solidFill>
                <a:latin typeface="Calibri"/>
              </a:rPr>
              <a:t>What students see: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The five Analysis operations applied to llm_calls.ndjson (Demo 4) plus task_judgments.ndjson (Demo 6) — an executive one-liner with a CI, side-by-side bars with whiskers, a drill-down list deep-linking into Demo 5's trace viewer for the 20 worst cases.</a:t>
            </a:r>
          </a:p>
          <a:p>
            <a:pPr algn="l">
              <a:spcBef>
                <a:spcPts val="800"/>
              </a:spcBef>
            </a:pPr>
            <a:r>
              <a:rPr sz="2400" b="1" i="0">
                <a:solidFill>
                  <a:srgbClr val="F4A261"/>
                </a:solidFill>
                <a:latin typeface="Calibri"/>
              </a:rPr>
              <a:t>Returns to the deck by</a:t>
            </a:r>
          </a:p>
          <a:p>
            <a:pPr algn="l">
              <a:spcBef>
                <a:spcPts val="200"/>
              </a:spcBef>
            </a:pPr>
            <a:r>
              <a:rPr sz="2400" b="0" i="1">
                <a:solidFill>
                  <a:srgbClr val="FFFFFF"/>
                </a:solidFill>
                <a:latin typeface="Calibri"/>
              </a:rPr>
              <a:t>setting up reporting cadences: "same file — different audience, different cadence."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>
                <a:solidFill>
                  <a:srgbClr val="888888"/>
                </a:solidFill>
                <a:latin typeface="Calibri"/>
              </a:rPr>
              <a:t>Budget: ~10 minutes</a:t>
            </a:r>
          </a:p>
        </p:txBody>
      </p:sp>
    </p:spTree>
    <p:extLst>
      <p:ext uri="{BB962C8B-B14F-4D97-AF65-F5344CB8AC3E}">
        <p14:creationId xmlns:p14="http://schemas.microsoft.com/office/powerpoint/2010/main" val="13113006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Reporting cadences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3314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Real-time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→ alerts on hard assertion breaks.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Daily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→ team quality/cost summary.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Weekly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→ PM/leadership: one quality number with CI, one cost number, one safety number, short prose "what changed and why."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11980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i="1">
                <a:solidFill>
                  <a:srgbClr val="888888"/>
                </a:solidFill>
                <a:latin typeface="Calibri"/>
              </a:rPr>
              <a:t>Visual: the lab's 4-week weekly-report chart (quality w/ CI bars · cost/request · reject-rate).</a:t>
            </a:r>
          </a:p>
        </p:txBody>
      </p:sp>
    </p:spTree>
    <p:extLst>
      <p:ext uri="{BB962C8B-B14F-4D97-AF65-F5344CB8AC3E}">
        <p14:creationId xmlns:p14="http://schemas.microsoft.com/office/powerpoint/2010/main" val="41914440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Incident reviews for AI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3771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LLM failures are usually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distribution shifts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, not bugs.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Post-mortems look different from Software 1.0:</a:t>
            </a:r>
          </a:p>
          <a:p>
            <a:pPr lvl="1"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   –  What new traffic pattern appeared?</a:t>
            </a:r>
          </a:p>
          <a:p>
            <a:pPr lvl="1"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   –  What upstream model / prompt / tool changed?</a:t>
            </a:r>
          </a:p>
          <a:p>
            <a:pPr lvl="1"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   –  What guardrail / rubric was silent when it shouldn't have been?</a:t>
            </a:r>
          </a:p>
        </p:txBody>
      </p:sp>
    </p:spTree>
    <p:extLst>
      <p:ext uri="{BB962C8B-B14F-4D97-AF65-F5344CB8AC3E}">
        <p14:creationId xmlns:p14="http://schemas.microsoft.com/office/powerpoint/2010/main" val="2842018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1">
                <a:solidFill>
                  <a:srgbClr val="76D6FF"/>
                </a:solidFill>
                <a:latin typeface="Century Gothic"/>
              </a:rPr>
              <a:t>CI gate, production dashboard, and post-hoc analysis all run the same assertions on the same structured data — only the cadence differs. Telemetry is what lets them share a pipeline.</a:t>
            </a:r>
          </a:p>
        </p:txBody>
      </p:sp>
    </p:spTree>
    <p:extLst>
      <p:ext uri="{BB962C8B-B14F-4D97-AF65-F5344CB8AC3E}">
        <p14:creationId xmlns:p14="http://schemas.microsoft.com/office/powerpoint/2010/main" val="18262164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Summary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51560"/>
          <a:ext cx="81381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88888"/>
                          </a:solidFill>
                          <a:latin typeface="Calibri"/>
                        </a:rPr>
                        <a:t>What we monitor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88888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88888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A261"/>
                          </a:solidFill>
                          <a:latin typeface="Calibri"/>
                        </a:rPr>
                        <a:t>Traditional SW / SaaS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control flow, exceptions, latency, error rate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assert + exceptions + structured logs + RED/USE + SLOs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know when broken, restore fast, debug post-hoc, hit SLAs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A261"/>
                          </a:solidFill>
                          <a:latin typeface="Calibri"/>
                        </a:rPr>
                        <a:t>Classical ML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training-job health, serving latency, quality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job-status checks, service metrics, held-out eval, drift tests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same as any service — plus "is the model still good?"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A261"/>
                          </a:solidFill>
                          <a:latin typeface="Calibri"/>
                        </a:rPr>
                        <a:t>Single LLM call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prompt/completion, latency, cost, schema, safety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Pydantic contract, sampled LLM-as-judge, guardrails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correctness per-call; cost + safety first-class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A261"/>
                          </a:solidFill>
                          <a:latin typeface="Calibri"/>
                        </a:rPr>
                        <a:t>+ context / tool / memory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per-step spans, memory, tool decisions, session cumulative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OTel spans + GenAI semconv, trace viewer, tree-aware rollups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recover which step caused it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A261"/>
                          </a:solidFill>
                          <a:latin typeface="Calibri"/>
                        </a:rPr>
                        <a:t>Systems of agents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task success, coordination, cascading-repair, cost/task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task-level rubric over span trees, shape-based detection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correctness defined at the task level; trace is the eval sample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95360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76D6FF"/>
                </a:solidFill>
                <a:latin typeface="Century Gothic"/>
              </a:rPr>
              <a:t>Take-aways &amp;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3771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Logging is the primitive. Monitoring is continuous assertion-checking on top.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Assertions evolve with system complexity: code → statistical → semantic → trace → task.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Telemetry is what makes remote monitoring possible.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Same assertions, different cadences: CI gate ↔ production dashboard.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•  Humans and AI both monitor AI — operators read dashboards, agents check other agents.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Next: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L13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— multi-agent systems in depth · </a:t>
            </a:r>
            <a:r>
              <a:rPr sz="2400" b="1" i="0">
                <a:solidFill>
                  <a:srgbClr val="F4A261"/>
                </a:solidFill>
                <a:latin typeface="Calibri"/>
              </a:rPr>
              <a:t>L15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 — long-term maintenance.</a:t>
            </a:r>
          </a:p>
        </p:txBody>
      </p:sp>
    </p:spTree>
    <p:extLst>
      <p:ext uri="{BB962C8B-B14F-4D97-AF65-F5344CB8AC3E}">
        <p14:creationId xmlns:p14="http://schemas.microsoft.com/office/powerpoint/2010/main" val="2183557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CD711A8-FC18-2444-9BDD-2CC73660C67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9eac8918-cb19-48c5-a526-cb78a379e69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791</TotalTime>
  <Words>5208</Words>
  <Application>Microsoft Macintosh PowerPoint</Application>
  <PresentationFormat>On-screen Show (16:9)</PresentationFormat>
  <Paragraphs>451</Paragraphs>
  <Slides>51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Aptos</vt:lpstr>
      <vt:lpstr>Arial</vt:lpstr>
      <vt:lpstr>Calibri</vt:lpstr>
      <vt:lpstr>Cambria</vt:lpstr>
      <vt:lpstr>Century Gothic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Casati, Fabio</cp:lastModifiedBy>
  <cp:revision>8</cp:revision>
  <dcterms:created xsi:type="dcterms:W3CDTF">2013-01-27T09:14:16Z</dcterms:created>
  <dcterms:modified xsi:type="dcterms:W3CDTF">2026-04-19T08:51:24Z</dcterms:modified>
  <cp:category/>
</cp:coreProperties>
</file>