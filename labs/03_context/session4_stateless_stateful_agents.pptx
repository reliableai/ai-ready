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77" r:id="rId4"/>
    <p:sldId id="258" r:id="rId5"/>
    <p:sldId id="281" r:id="rId6"/>
    <p:sldId id="259" r:id="rId7"/>
    <p:sldId id="260" r:id="rId8"/>
    <p:sldId id="261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96" d="100"/>
          <a:sy n="96" d="100"/>
        </p:scale>
        <p:origin x="200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Stateless &amp;</a:t>
            </a:r>
            <a:br/>
            <a:r>
              <a:t>Stateful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 i="1">
                <a:solidFill>
                  <a:srgbClr val="2DD4BF"/>
                </a:solidFill>
                <a:latin typeface="Calibri"/>
              </a:defRPr>
            </a:pPr>
            <a:r>
              <a:t>From single calls to conversations: managing context, cost, and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DD4BF"/>
                </a:solidFill>
                <a:latin typeface="Calibri"/>
              </a:defRPr>
            </a:pPr>
            <a:r>
              <a:t>reliableai.github.io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8A94A6"/>
                </a:solidFill>
                <a:latin typeface="Calibri"/>
              </a:defRPr>
            </a:pPr>
            <a:r>
              <a:t>Fabio Casati  ·  University of Trento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 txBox="1"/>
          <p:nvPr/>
        </p:nvSpPr>
        <p:spPr>
          <a:xfrm>
            <a:off x="508000" y="177800"/>
            <a:ext cx="11176000" cy="533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When Do You Need AI?</a:t>
            </a:r>
          </a:p>
        </p:txBody>
      </p:sp>
      <p:sp>
        <p:nvSpPr>
          <p:cNvPr id="51" name="Subtitle"/>
          <p:cNvSpPr txBox="1"/>
          <p:nvPr/>
        </p:nvSpPr>
        <p:spPr>
          <a:xfrm>
            <a:off x="508000" y="635000"/>
            <a:ext cx="11176000" cy="406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dirty="0">
                <a:solidFill>
                  <a:srgbClr val="E0E8F5"/>
                </a:solidFill>
                <a:latin typeface="Calibri"/>
              </a:rPr>
              <a:t>Three kinds of problems, three kinds of engineering</a:t>
            </a:r>
          </a:p>
        </p:txBody>
      </p:sp>
      <p:sp>
        <p:nvSpPr>
          <p:cNvPr id="60" name="T1Bg"/>
          <p:cNvSpPr/>
          <p:nvPr/>
        </p:nvSpPr>
        <p:spPr>
          <a:xfrm>
            <a:off x="680276" y="1143000"/>
            <a:ext cx="11176000" cy="1778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1Accent"/>
          <p:cNvSpPr/>
          <p:nvPr/>
        </p:nvSpPr>
        <p:spPr>
          <a:xfrm>
            <a:off x="508000" y="1143000"/>
            <a:ext cx="63500" cy="1778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1Header"/>
          <p:cNvSpPr txBox="1"/>
          <p:nvPr/>
        </p:nvSpPr>
        <p:spPr>
          <a:xfrm>
            <a:off x="711200" y="1295400"/>
            <a:ext cx="3048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No AI (for now)</a:t>
            </a:r>
          </a:p>
        </p:txBody>
      </p:sp>
      <p:sp>
        <p:nvSpPr>
          <p:cNvPr id="63" name="T1Sub"/>
          <p:cNvSpPr txBox="1"/>
          <p:nvPr/>
        </p:nvSpPr>
        <p:spPr>
          <a:xfrm>
            <a:off x="711200" y="1727200"/>
            <a:ext cx="304800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EAECF2"/>
                </a:solidFill>
                <a:latin typeface="Calibri"/>
              </a:rPr>
              <a:t>Fully specifiable</a:t>
            </a:r>
          </a:p>
        </p:txBody>
      </p:sp>
      <p:sp>
        <p:nvSpPr>
          <p:cNvPr id="64" name="T1Ex"/>
          <p:cNvSpPr txBox="1"/>
          <p:nvPr/>
        </p:nvSpPr>
        <p:spPr>
          <a:xfrm>
            <a:off x="711200" y="2133600"/>
            <a:ext cx="3048000" cy="660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DDE0EA"/>
                </a:solidFill>
                <a:latin typeface="Calibri"/>
              </a:rPr>
              <a:t>billing logic, form validation, API routing, access control</a:t>
            </a:r>
          </a:p>
        </p:txBody>
      </p:sp>
      <p:sp>
        <p:nvSpPr>
          <p:cNvPr id="65" name="T1Bullets"/>
          <p:cNvSpPr txBox="1"/>
          <p:nvPr/>
        </p:nvSpPr>
        <p:spPr>
          <a:xfrm>
            <a:off x="4109276" y="1244600"/>
            <a:ext cx="7569200" cy="1574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Behavior is specified, reviewed, and approved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Outputs are deterministic and testable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You want guarantees, not guesses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Adding AI adds complexity without value</a:t>
            </a:r>
          </a:p>
        </p:txBody>
      </p:sp>
      <p:sp>
        <p:nvSpPr>
          <p:cNvPr id="66" name="T1Div"/>
          <p:cNvSpPr/>
          <p:nvPr/>
        </p:nvSpPr>
        <p:spPr>
          <a:xfrm>
            <a:off x="3810000" y="1270000"/>
            <a:ext cx="19050" cy="15240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2Bg"/>
          <p:cNvSpPr/>
          <p:nvPr/>
        </p:nvSpPr>
        <p:spPr>
          <a:xfrm>
            <a:off x="508000" y="3022600"/>
            <a:ext cx="11176000" cy="1778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2Accent"/>
          <p:cNvSpPr/>
          <p:nvPr/>
        </p:nvSpPr>
        <p:spPr>
          <a:xfrm>
            <a:off x="508000" y="3022600"/>
            <a:ext cx="63500" cy="177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2Header"/>
          <p:cNvSpPr txBox="1"/>
          <p:nvPr/>
        </p:nvSpPr>
        <p:spPr>
          <a:xfrm>
            <a:off x="711200" y="3175000"/>
            <a:ext cx="3048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59E0B"/>
                </a:solidFill>
                <a:latin typeface="Calibri"/>
              </a:rPr>
              <a:t>AI as a Convenience</a:t>
            </a:r>
          </a:p>
        </p:txBody>
      </p:sp>
      <p:sp>
        <p:nvSpPr>
          <p:cNvPr id="73" name="T2Sub"/>
          <p:cNvSpPr txBox="1"/>
          <p:nvPr/>
        </p:nvSpPr>
        <p:spPr>
          <a:xfrm>
            <a:off x="711200" y="3606800"/>
            <a:ext cx="316865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FFD866"/>
                </a:solidFill>
                <a:latin typeface="Calibri"/>
              </a:rPr>
              <a:t>Easier in English. </a:t>
            </a:r>
            <a:r>
              <a:rPr lang="en-US" sz="1600" b="1" i="1" dirty="0">
                <a:solidFill>
                  <a:srgbClr val="FFD866"/>
                </a:solidFill>
                <a:latin typeface="Calibri"/>
              </a:rPr>
              <a:t>A NEW CATEGORY!!</a:t>
            </a:r>
            <a:endParaRPr lang="en-US" sz="1400" b="1" i="1" dirty="0">
              <a:solidFill>
                <a:srgbClr val="FFD866"/>
              </a:solidFill>
              <a:latin typeface="Calibri"/>
            </a:endParaRPr>
          </a:p>
        </p:txBody>
      </p:sp>
      <p:sp>
        <p:nvSpPr>
          <p:cNvPr id="74" name="T2Ex"/>
          <p:cNvSpPr txBox="1"/>
          <p:nvPr/>
        </p:nvSpPr>
        <p:spPr>
          <a:xfrm>
            <a:off x="711200" y="4013200"/>
            <a:ext cx="3048000" cy="660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FFD866"/>
                </a:solidFill>
                <a:latin typeface="Calibri"/>
              </a:rPr>
              <a:t>data extraction, classification, format conversion, structured parsing</a:t>
            </a:r>
          </a:p>
        </p:txBody>
      </p:sp>
      <p:sp>
        <p:nvSpPr>
          <p:cNvPr id="75" name="T2Bullets"/>
          <p:cNvSpPr txBox="1"/>
          <p:nvPr/>
        </p:nvSpPr>
        <p:spPr>
          <a:xfrm>
            <a:off x="4109276" y="3124200"/>
            <a:ext cx="7569200" cy="1574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The behavior can be fully written down as rules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But a prompt is simpler than writing code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English becomes the implementation language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Outputs are known — you can still test correctness</a:t>
            </a:r>
          </a:p>
        </p:txBody>
      </p:sp>
      <p:sp>
        <p:nvSpPr>
          <p:cNvPr id="76" name="T2Div"/>
          <p:cNvSpPr/>
          <p:nvPr/>
        </p:nvSpPr>
        <p:spPr>
          <a:xfrm>
            <a:off x="3810000" y="3149600"/>
            <a:ext cx="19050" cy="15240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T3Bg"/>
          <p:cNvSpPr/>
          <p:nvPr/>
        </p:nvSpPr>
        <p:spPr>
          <a:xfrm>
            <a:off x="508000" y="4902200"/>
            <a:ext cx="11176000" cy="1778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T3Accent"/>
          <p:cNvSpPr/>
          <p:nvPr/>
        </p:nvSpPr>
        <p:spPr>
          <a:xfrm>
            <a:off x="508000" y="4902200"/>
            <a:ext cx="63500" cy="177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3Header"/>
          <p:cNvSpPr txBox="1"/>
          <p:nvPr/>
        </p:nvSpPr>
        <p:spPr>
          <a:xfrm>
            <a:off x="711200" y="5054600"/>
            <a:ext cx="3048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2DD4BF"/>
                </a:solidFill>
                <a:latin typeface="Calibri"/>
              </a:rPr>
              <a:t>AI as a Solution</a:t>
            </a:r>
          </a:p>
        </p:txBody>
      </p:sp>
      <p:sp>
        <p:nvSpPr>
          <p:cNvPr id="83" name="T3Sub"/>
          <p:cNvSpPr txBox="1"/>
          <p:nvPr/>
        </p:nvSpPr>
        <p:spPr>
          <a:xfrm>
            <a:off x="711200" y="5486400"/>
            <a:ext cx="304800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80FFF0"/>
                </a:solidFill>
                <a:latin typeface="Calibri"/>
              </a:rPr>
              <a:t>Hard to specify. </a:t>
            </a:r>
          </a:p>
        </p:txBody>
      </p:sp>
      <p:sp>
        <p:nvSpPr>
          <p:cNvPr id="84" name="T3Ex"/>
          <p:cNvSpPr txBox="1"/>
          <p:nvPr/>
        </p:nvSpPr>
        <p:spPr>
          <a:xfrm>
            <a:off x="711200" y="5892800"/>
            <a:ext cx="3048000" cy="660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80FFF0"/>
                </a:solidFill>
                <a:latin typeface="Calibri"/>
              </a:rPr>
              <a:t>summarization, intent, creative generation, open-ended Q&amp;A</a:t>
            </a:r>
          </a:p>
        </p:txBody>
      </p:sp>
      <p:sp>
        <p:nvSpPr>
          <p:cNvPr id="85" name="T3Bullets"/>
          <p:cNvSpPr txBox="1"/>
          <p:nvPr/>
        </p:nvSpPr>
        <p:spPr>
          <a:xfrm>
            <a:off x="4109276" y="5003800"/>
            <a:ext cx="7569200" cy="1574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Behavior is too complex or contextual for rules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You can’t write conventional tests — no expected output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The value comes precisely from what’s hard to specify</a:t>
            </a:r>
          </a:p>
        </p:txBody>
      </p:sp>
      <p:sp>
        <p:nvSpPr>
          <p:cNvPr id="86" name="T3Div"/>
          <p:cNvSpPr/>
          <p:nvPr/>
        </p:nvSpPr>
        <p:spPr>
          <a:xfrm>
            <a:off x="3810000" y="5029200"/>
            <a:ext cx="19050" cy="15240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1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 txBox="1"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Calibri"/>
              </a:rPr>
              <a:t>Who Are You Building For?</a:t>
            </a:r>
          </a:p>
        </p:txBody>
      </p:sp>
      <p:sp>
        <p:nvSpPr>
          <p:cNvPr id="51" name="AccentLine"/>
          <p:cNvSpPr/>
          <p:nvPr/>
        </p:nvSpPr>
        <p:spPr>
          <a:xfrm>
            <a:off x="762000" y="2133600"/>
            <a:ext cx="1524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MainMsg"/>
          <p:cNvSpPr txBox="1"/>
          <p:nvPr/>
        </p:nvSpPr>
        <p:spPr>
          <a:xfrm>
            <a:off x="762000" y="2476500"/>
            <a:ext cx="10668000" cy="127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>
              <a:lnSpc>
                <a:spcPts val="3600"/>
              </a:lnSpc>
            </a:pPr>
            <a:r>
              <a:rPr lang="en-US" sz="2600" dirty="0">
                <a:solidFill>
                  <a:srgbClr val="FFFFFF"/>
                </a:solidFill>
                <a:latin typeface="Calibri"/>
              </a:rPr>
              <a:t>If you are building an API — chances are, it’s going to be consumed by AI.</a:t>
            </a:r>
          </a:p>
        </p:txBody>
      </p:sp>
      <p:sp>
        <p:nvSpPr>
          <p:cNvPr id="53" name="CalloutBg"/>
          <p:cNvSpPr/>
          <p:nvPr/>
        </p:nvSpPr>
        <p:spPr>
          <a:xfrm>
            <a:off x="762000" y="4064000"/>
            <a:ext cx="10668000" cy="1016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CalloutAccent"/>
          <p:cNvSpPr/>
          <p:nvPr/>
        </p:nvSpPr>
        <p:spPr>
          <a:xfrm>
            <a:off x="762000" y="4064000"/>
            <a:ext cx="63500" cy="1016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allout"/>
          <p:cNvSpPr txBox="1"/>
          <p:nvPr/>
        </p:nvSpPr>
        <p:spPr>
          <a:xfrm>
            <a:off x="1066800" y="4127500"/>
            <a:ext cx="10160000" cy="889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2400" b="1" dirty="0">
                <a:solidFill>
                  <a:srgbClr val="2DD4BF"/>
                </a:solidFill>
                <a:latin typeface="Calibri"/>
              </a:rPr>
              <a:t>And if you are building a UI…. Also think about that</a:t>
            </a:r>
          </a:p>
        </p:txBody>
      </p:sp>
    </p:spTree>
    <p:extLst>
      <p:ext uri="{BB962C8B-B14F-4D97-AF65-F5344CB8AC3E}">
        <p14:creationId xmlns:p14="http://schemas.microsoft.com/office/powerpoint/2010/main" val="23740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Four Challenges of Working with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0B8C8"/>
                </a:solidFill>
                <a:latin typeface="Calibri"/>
              </a:defRPr>
            </a:pPr>
            <a:r>
              <a:t>Each builds on the one before. This lesson tackles challenges 2 and 3.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05156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45720" cy="105156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24028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2996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8A94A6"/>
                </a:solidFill>
                <a:latin typeface="Calibri"/>
              </a:defRPr>
            </a:pPr>
            <a:r>
              <a:t>Getting a single call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6A7080"/>
                </a:solidFill>
                <a:latin typeface="Calibri"/>
              </a:defRPr>
            </a:pPr>
            <a:r>
              <a:t>How do I craft a prompt that reliably produces the output I need?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402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8A94A6"/>
                </a:solidFill>
                <a:latin typeface="Calibri"/>
              </a:defRPr>
            </a:pPr>
            <a:r>
              <a:t>Prompting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698480" cy="10515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45720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5840" y="342900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1868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Managing a conversation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1188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How do I give the model the right context across turns without blowing up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290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2DD4BF"/>
                </a:solidFill>
                <a:latin typeface="Calibri"/>
              </a:defRPr>
            </a:pPr>
            <a:r>
              <a:t>This lesson (sections 1–4)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79"/>
            <a:ext cx="10698480" cy="10515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297679"/>
            <a:ext cx="45720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5840" y="4617719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407407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Long-term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800599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How do I remember a user across sessions — their facts, preferences, history?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17719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2DD4BF"/>
                </a:solidFill>
                <a:latin typeface="Calibri"/>
              </a:defRPr>
            </a:pPr>
            <a:r>
              <a:t>This lesson (section 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45720" cy="105156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580644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59612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8A94A6"/>
                </a:solidFill>
                <a:latin typeface="Calibri"/>
              </a:defRPr>
            </a:pPr>
            <a:r>
              <a:t>Enterprise / community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98932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6A7080"/>
                </a:solidFill>
                <a:latin typeface="Calibri"/>
              </a:defRPr>
            </a:pPr>
            <a:r>
              <a:t>How do I connect knowledge across users while respecting privacy?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8064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8A94A6"/>
                </a:solidFill>
                <a:latin typeface="Calibri"/>
              </a:defRPr>
            </a:pPr>
            <a:r>
              <a:t>Later lessons (RAG)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 txBox="1"/>
          <p:nvPr/>
        </p:nvSpPr>
        <p:spPr>
          <a:xfrm>
            <a:off x="736600" y="508000"/>
            <a:ext cx="10922000" cy="533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New Abstraction: "state" and memory management</a:t>
            </a:r>
          </a:p>
        </p:txBody>
      </p:sp>
      <p:sp>
        <p:nvSpPr>
          <p:cNvPr id="51" name="Subtitle"/>
          <p:cNvSpPr txBox="1"/>
          <p:nvPr/>
        </p:nvSpPr>
        <p:spPr>
          <a:xfrm>
            <a:off x="736600" y="1041400"/>
            <a:ext cx="1092200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endParaRPr lang="en-US" sz="1800" dirty="0">
              <a:solidFill>
                <a:srgbClr val="B0B8C8"/>
              </a:solidFill>
              <a:latin typeface="Calibri"/>
            </a:endParaRPr>
          </a:p>
        </p:txBody>
      </p:sp>
      <p:sp>
        <p:nvSpPr>
          <p:cNvPr id="52" name="AccentLine"/>
          <p:cNvSpPr/>
          <p:nvPr/>
        </p:nvSpPr>
        <p:spPr>
          <a:xfrm>
            <a:off x="736600" y="1473200"/>
            <a:ext cx="1524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CardBg"/>
          <p:cNvSpPr/>
          <p:nvPr/>
        </p:nvSpPr>
        <p:spPr>
          <a:xfrm>
            <a:off x="685800" y="1778000"/>
            <a:ext cx="10998200" cy="2222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CardAccent"/>
          <p:cNvSpPr/>
          <p:nvPr/>
        </p:nvSpPr>
        <p:spPr>
          <a:xfrm>
            <a:off x="508000" y="1778000"/>
            <a:ext cx="63500" cy="22225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SectionHeader"/>
          <p:cNvSpPr txBox="1"/>
          <p:nvPr/>
        </p:nvSpPr>
        <p:spPr>
          <a:xfrm>
            <a:off x="838200" y="1879600"/>
            <a:ext cx="10668000" cy="431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Wha t we know from the past: Server-Managed State</a:t>
            </a:r>
          </a:p>
        </p:txBody>
      </p:sp>
      <p:sp>
        <p:nvSpPr>
          <p:cNvPr id="56" name="CardBullets"/>
          <p:cNvSpPr txBox="1"/>
          <p:nvPr/>
        </p:nvSpPr>
        <p:spPr>
          <a:xfrm>
            <a:off x="838200" y="2336800"/>
            <a:ext cx="10668000" cy="1524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We had stateful APIs in the past – that is not new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State often server managed, explicit, structured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Responsibility is clear: it's on the server and the service provider </a:t>
            </a: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rgbClr val="E8ECF4"/>
                </a:solidFill>
                <a:latin typeface="Calibri"/>
              </a:rPr>
              <a:t>  Declared, reviewed, backed up, … </a:t>
            </a:r>
            <a:endParaRPr lang="en-US" sz="1800" dirty="0">
              <a:solidFill>
                <a:srgbClr val="E8ECF4"/>
              </a:solidFill>
              <a:latin typeface="Calibri"/>
            </a:endParaRPr>
          </a:p>
        </p:txBody>
      </p:sp>
      <p:sp>
        <p:nvSpPr>
          <p:cNvPr id="57" name="Card2Bg"/>
          <p:cNvSpPr/>
          <p:nvPr/>
        </p:nvSpPr>
        <p:spPr>
          <a:xfrm>
            <a:off x="685800" y="4254500"/>
            <a:ext cx="10998200" cy="1270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Card2Accent"/>
          <p:cNvSpPr/>
          <p:nvPr/>
        </p:nvSpPr>
        <p:spPr>
          <a:xfrm>
            <a:off x="508000" y="4254500"/>
            <a:ext cx="63500" cy="1270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Section2Header"/>
          <p:cNvSpPr txBox="1"/>
          <p:nvPr/>
        </p:nvSpPr>
        <p:spPr>
          <a:xfrm>
            <a:off x="838200" y="4343400"/>
            <a:ext cx="10668000" cy="431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Now: Agent-Managed State</a:t>
            </a:r>
          </a:p>
        </p:txBody>
      </p:sp>
      <p:sp>
        <p:nvSpPr>
          <p:cNvPr id="60" name="Card2Content"/>
          <p:cNvSpPr txBox="1"/>
          <p:nvPr/>
        </p:nvSpPr>
        <p:spPr>
          <a:xfrm>
            <a:off x="838200" y="4800600"/>
            <a:ext cx="10668000" cy="101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</a:t>
            </a:r>
            <a:r>
              <a:rPr lang="en-US" dirty="0">
                <a:solidFill>
                  <a:srgbClr val="E8ECF4"/>
                </a:solidFill>
                <a:latin typeface="Calibri"/>
              </a:rPr>
              <a:t>Evolving practices. Client – agent – LLM – who does what? Where is it stored?</a:t>
            </a: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rgbClr val="E8ECF4"/>
                </a:solidFill>
                <a:latin typeface="Calibri"/>
              </a:rPr>
              <a:t> How and how manages it?</a:t>
            </a: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rgbClr val="E8ECF4"/>
                </a:solidFill>
                <a:latin typeface="Calibri"/>
              </a:rPr>
              <a:t> What is remembered is somewhat non deterministic / LLM-dependent</a:t>
            </a:r>
            <a:endParaRPr lang="en-US" sz="1800" dirty="0">
              <a:solidFill>
                <a:srgbClr val="E8ECF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160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The 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1">
                <a:solidFill>
                  <a:srgbClr val="2DD4BF"/>
                </a:solidFill>
                <a:latin typeface="Calibri"/>
              </a:defRPr>
            </a:pPr>
            <a:r>
              <a:rPr dirty="0"/>
              <a:t>LLMs are stateless functions.</a:t>
            </a:r>
            <a:br>
              <a:rPr dirty="0"/>
            </a:br>
            <a:r>
              <a:rPr dirty="0"/>
              <a:t>State </a:t>
            </a:r>
            <a:r>
              <a:rPr lang="en-US" u="sng" dirty="0"/>
              <a:t>could</a:t>
            </a:r>
            <a:r>
              <a:rPr dirty="0"/>
              <a:t> </a:t>
            </a:r>
            <a:r>
              <a:rPr lang="en-US" dirty="0"/>
              <a:t>be </a:t>
            </a:r>
            <a:r>
              <a:rPr dirty="0"/>
              <a:t>your responsibility.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9601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0B8C8"/>
                </a:solidFill>
                <a:latin typeface="Calibri"/>
              </a:defRPr>
            </a:pPr>
            <a:r>
              <a:t>The model doesn’t remember anything — you must send the relevant context with every request. This design choice has profound implications for cost, latency, and system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06240"/>
            <a:ext cx="5029200" cy="210312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45720" cy="2103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3434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What is an “agent”?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0060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•  Receives input (user message, event)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48072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•  Decides what to do (via an LLM call)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495544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•  Takes action (responds, calls tool, updates state)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843016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•  Repeats until 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292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F2E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2004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1A1F2E"/>
                </a:solidFill>
                <a:latin typeface="Calibri"/>
              </a:defRPr>
            </a:pPr>
            <a:r>
              <a:t>Stateless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8A94A6"/>
                </a:solidFill>
                <a:latin typeface="Calibri"/>
              </a:defRPr>
            </a:pPr>
            <a:r>
              <a:t>No memory, no context — each turn starts 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32918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t>Try this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F2E"/>
                </a:solidFill>
                <a:latin typeface="Consolas"/>
              </a:rPr>
              <a:t>You: </a:t>
            </a:r>
            <a:r>
              <a:rPr sz="1300" b="0" i="0">
                <a:solidFill>
                  <a:srgbClr val="1A1F2E"/>
                </a:solidFill>
                <a:latin typeface="Consolas"/>
              </a:rPr>
              <a:t>My name is Alice.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onsolas"/>
              </a:rPr>
              <a:t>Assistant: </a:t>
            </a:r>
            <a:r>
              <a:rPr sz="1300" b="0" i="0">
                <a:solidFill>
                  <a:srgbClr val="4A5568"/>
                </a:solidFill>
                <a:latin typeface="Consolas"/>
              </a:rPr>
              <a:t>Nice to meet you, Alice!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F2E"/>
                </a:solidFill>
                <a:latin typeface="Consolas"/>
              </a:rPr>
              <a:t>You: </a:t>
            </a:r>
            <a:r>
              <a:rPr sz="1300" b="0" i="0">
                <a:solidFill>
                  <a:srgbClr val="1A1F2E"/>
                </a:solidFill>
                <a:latin typeface="Consolas"/>
              </a:rPr>
              <a:t>What’s my name?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DC2626"/>
                </a:solidFill>
                <a:latin typeface="Consolas"/>
              </a:rPr>
              <a:t>Assistant: </a:t>
            </a:r>
            <a:r>
              <a:rPr sz="1300" b="0" i="0">
                <a:solidFill>
                  <a:srgbClr val="DC2626"/>
                </a:solidFill>
                <a:latin typeface="Consolas"/>
              </a:rPr>
              <a:t>I don’t have access to personal information...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1">
                <a:solidFill>
                  <a:srgbClr val="6B7280"/>
                </a:solidFill>
                <a:latin typeface="Calibri"/>
              </a:defRPr>
            </a:pPr>
            <a:r>
              <a:t>The model doesn’t know your name because</a:t>
            </a:r>
            <a:br/>
            <a:r>
              <a:t>it never saw the first message.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029200" cy="15544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45720" cy="1554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t>When stateless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48840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A5568"/>
                </a:solidFill>
                <a:latin typeface="Calibri"/>
              </a:defRPr>
            </a:pPr>
            <a:r>
              <a:t>•  Single-shot tasks: “Translate this to French”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A5568"/>
                </a:solidFill>
                <a:latin typeface="Calibri"/>
              </a:defRPr>
            </a:pPr>
            <a:r>
              <a:t>•  Independent queries: “Capital of France?”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88920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A5568"/>
                </a:solidFill>
                <a:latin typeface="Calibri"/>
              </a:defRPr>
            </a:pPr>
            <a:r>
              <a:t>•  Serverless functions, webhooks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337560"/>
            <a:ext cx="5029200" cy="1508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337560"/>
            <a:ext cx="45720" cy="1508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4747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t>Cost: constant per 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3192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A5568"/>
                </a:solidFill>
                <a:latin typeface="Consolas"/>
              </a:defRPr>
            </a:pPr>
            <a:r>
              <a:t>~100 input + ~100 output = ~200 tokens/turn</a:t>
            </a:r>
            <a:br/>
            <a:r>
              <a:t>Total after N turns: ~200N tokens</a:t>
            </a:r>
            <a:br/>
            <a:r>
              <a:t>Linear growth. Predictable. But no memory.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Each call is independent. If your task is self-contained, stateless is simpler and cheaper.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292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F2E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2004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1A1F2E"/>
                </a:solidFill>
                <a:latin typeface="Calibri"/>
              </a:defRPr>
            </a:pPr>
            <a:r>
              <a:t>Stateful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8A94A6"/>
                </a:solidFill>
                <a:latin typeface="Calibri"/>
              </a:defRPr>
            </a:pPr>
            <a:r>
              <a:t>Full conversation history — send everything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1828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t>Now it remembers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F2E"/>
                </a:solidFill>
                <a:latin typeface="Consolas"/>
              </a:rPr>
              <a:t>You: </a:t>
            </a:r>
            <a:r>
              <a:rPr sz="1300" b="0" i="0">
                <a:solidFill>
                  <a:srgbClr val="1A1F2E"/>
                </a:solidFill>
                <a:latin typeface="Consolas"/>
              </a:rPr>
              <a:t>My name is Alice.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onsolas"/>
              </a:rPr>
              <a:t>Assistant: </a:t>
            </a:r>
            <a:r>
              <a:rPr sz="1300" b="0" i="0">
                <a:solidFill>
                  <a:srgbClr val="4A5568"/>
                </a:solidFill>
                <a:latin typeface="Consolas"/>
              </a:rPr>
              <a:t>Nice to meet you, Alice!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52344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F2E"/>
                </a:solidFill>
                <a:latin typeface="Consolas"/>
              </a:rPr>
              <a:t>You: </a:t>
            </a:r>
            <a:r>
              <a:rPr sz="1300" b="0" i="0">
                <a:solidFill>
                  <a:srgbClr val="1A1F2E"/>
                </a:solidFill>
                <a:latin typeface="Consolas"/>
              </a:rPr>
              <a:t>What’s my name?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6A34A"/>
                </a:solidFill>
                <a:latin typeface="Consolas"/>
              </a:rPr>
              <a:t>Assistant: </a:t>
            </a:r>
            <a:r>
              <a:rPr sz="1300" b="0" i="0">
                <a:solidFill>
                  <a:srgbClr val="16A34A"/>
                </a:solidFill>
                <a:latin typeface="Consolas"/>
              </a:rPr>
              <a:t>Your name is Alice!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45720" cy="18288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rPr dirty="0"/>
              <a:t>What’s actually sent on turn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57348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t>messages = [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124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t>  {"role":"user", "content":"My name is Alice."},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410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rPr dirty="0"/>
              <a:t>  {"</a:t>
            </a:r>
            <a:r>
              <a:rPr dirty="0" err="1"/>
              <a:t>role":"assistant</a:t>
            </a:r>
            <a:r>
              <a:rPr dirty="0"/>
              <a:t>", "</a:t>
            </a:r>
            <a:r>
              <a:rPr dirty="0" err="1"/>
              <a:t>content":"Nice</a:t>
            </a:r>
            <a:r>
              <a:rPr dirty="0"/>
              <a:t> to..."},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696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t>  {"role":"user", "content":"What's my name?"},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982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t>  {"role":"assistant", "content":"Alice!"},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268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rPr dirty="0"/>
              <a:t>  {"</a:t>
            </a:r>
            <a:r>
              <a:rPr dirty="0" err="1"/>
              <a:t>role":"user</a:t>
            </a:r>
            <a:r>
              <a:rPr dirty="0"/>
              <a:t>", "</a:t>
            </a:r>
            <a:r>
              <a:rPr dirty="0" err="1"/>
              <a:t>content":"Fav</a:t>
            </a:r>
            <a:r>
              <a:rPr dirty="0"/>
              <a:t> color?"}, 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49039"/>
            <a:ext cx="10698480" cy="118872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45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8404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92400E"/>
                </a:solidFill>
                <a:latin typeface="Calibri"/>
              </a:defRPr>
            </a:pPr>
            <a:r>
              <a:t>The hidden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78350F"/>
                </a:solidFill>
                <a:latin typeface="Calibri"/>
              </a:defRPr>
            </a:pPr>
            <a:r>
              <a:t>Every token in the conversation history is processed on every turn. By turn 50, you might be sending 10,000+ tokens of context — even if the current question is “yes or no?”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History enables continuity — but you’re paying for everything, every single 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292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F2E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200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The Quadratic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0B8C8"/>
                </a:solidFill>
                <a:latin typeface="Calibri"/>
              </a:defRPr>
            </a:pPr>
            <a:r>
              <a:t>Cost &amp; latency tradeoffs with full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23774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5720" cy="2377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How costs 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100 tok/user msg, 200 tok/assistant reply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Turn 1:   100 tokens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24912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Turn 2:   400 tokens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80944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Turn 3:   700 tokens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36976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Turn N: ≈ 300N tokens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02736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DD4BF"/>
                </a:solidFill>
                <a:latin typeface="Consolas"/>
              </a:defRPr>
            </a:pPr>
            <a:r>
              <a:t>Total after N turns: ≈ 150N²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Real numbers (cumulative input tokens)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461772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F2E"/>
                          </a:solidFill>
                          <a:latin typeface="Calibri"/>
                        </a:defRPr>
                      </a:pPr>
                      <a:r>
                        <a:t>Turns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F2E"/>
                          </a:solidFill>
                          <a:latin typeface="Calibri"/>
                        </a:defRPr>
                      </a:pPr>
                      <a:r>
                        <a:t>Input tokens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F2E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F2E"/>
                          </a:solidFill>
                          <a:latin typeface="Calibri"/>
                        </a:defRPr>
                      </a:pPr>
                      <a:r>
                        <a:t>gpt-5-nano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$0.006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$0.001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375,000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$0.15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$0.019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1,500,000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$0.60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$0.075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37,500,000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$15.00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$1.88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8046720" y="4206240"/>
            <a:ext cx="3383280" cy="210312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06240"/>
            <a:ext cx="4572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43434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Latency grows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7548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0B8C8"/>
                </a:solidFill>
                <a:latin typeface="Calibri"/>
              </a:rPr>
              <a:t>Turn 1: </a:t>
            </a:r>
            <a:r>
              <a:rPr sz="1300" b="1" i="0">
                <a:solidFill>
                  <a:srgbClr val="F59E0B"/>
                </a:solidFill>
                <a:latin typeface="Calibri"/>
              </a:rPr>
              <a:t>~0.5s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0749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0B8C8"/>
                </a:solidFill>
                <a:latin typeface="Calibri"/>
              </a:rPr>
              <a:t>Turn 50: </a:t>
            </a:r>
            <a:r>
              <a:rPr sz="1300" b="1" i="0">
                <a:solidFill>
                  <a:srgbClr val="F59E0B"/>
                </a:solidFill>
                <a:latin typeface="Calibri"/>
              </a:rPr>
              <a:t>~2-3s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3949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0B8C8"/>
                </a:solidFill>
                <a:latin typeface="Calibri"/>
              </a:rPr>
              <a:t>Turn 100+: </a:t>
            </a:r>
            <a:r>
              <a:rPr sz="1300" b="1" i="0">
                <a:solidFill>
                  <a:srgbClr val="F59E0B"/>
                </a:solidFill>
                <a:latin typeface="Calibri"/>
              </a:rPr>
              <a:t>5-10s+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7607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8A94A6"/>
                </a:solidFill>
                <a:latin typeface="Calibri"/>
              </a:defRPr>
            </a:pPr>
            <a:r>
              <a:t>Users notice. Long waits</a:t>
            </a:r>
            <a:br/>
            <a:r>
              <a:t>feel broken.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292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F2E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200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1A1F2E"/>
                </a:solidFill>
                <a:latin typeface="Calibri"/>
              </a:defRPr>
            </a:pPr>
            <a:r>
              <a:t>Bounding the Unbounded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8A94A6"/>
                </a:solidFill>
                <a:latin typeface="Calibri"/>
              </a:defRPr>
            </a:pPr>
            <a:r>
              <a:t>Context windowing &amp; memory — don’t send everything, send what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1F2E"/>
                </a:solidFill>
                <a:latin typeface="Calibri"/>
              </a:defRPr>
            </a:pPr>
            <a:r>
              <a:t>Strategy 1: Sliding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4A5568"/>
                </a:solidFill>
                <a:latin typeface="Calibri"/>
              </a:defRPr>
            </a:pPr>
            <a:r>
              <a:t>Keep only the last N turns. Simple, predictable, but lossy.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6A34A"/>
                </a:solidFill>
                <a:latin typeface="Calibri"/>
              </a:defRPr>
            </a:pPr>
            <a:r>
              <a:t>Cost is now bounded: ~1,800 tokens max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1">
                <a:solidFill>
                  <a:srgbClr val="DC2626"/>
                </a:solidFill>
                <a:latin typeface="Calibri"/>
              </a:defRPr>
            </a:pPr>
            <a:r>
              <a:t>Problem: “What did I tell you at the start?”</a:t>
            </a:r>
            <a:br/>
            <a:r>
              <a:t>→ No idea. The window forgot.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02920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1F2E"/>
                </a:solidFill>
                <a:latin typeface="Calibri"/>
              </a:defRPr>
            </a:pPr>
            <a:r>
              <a:t>Strategy 2: Window +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4A5568"/>
                </a:solidFill>
                <a:latin typeface="Calibri"/>
              </a:defRPr>
            </a:pPr>
            <a:r>
              <a:t>Compress older turns into a summary.</a:t>
            </a:r>
            <a:br/>
            <a:r>
              <a:t>Keep recent turns verbatim.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4389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A5568"/>
                </a:solidFill>
                <a:latin typeface="Consolas"/>
              </a:defRPr>
            </a:pPr>
            <a:r>
              <a:t>MEMORY (summary):</a:t>
            </a:r>
            <a:br/>
            <a:r>
              <a:t>• User’s name is Alice</a:t>
            </a:r>
            <a:br/>
            <a:r>
              <a:t>• Working on web scraping project</a:t>
            </a:r>
            <a:br/>
            <a:r>
              <a:t>• Prefers Python examples</a:t>
            </a:r>
            <a:br/>
            <a:r>
              <a:t>[Last 6 turns verbatim]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EE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45720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DD4B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262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2D5A50"/>
                </a:solidFill>
                <a:latin typeface="Calibri"/>
              </a:defRPr>
            </a:pPr>
            <a:r>
              <a:t>Memory is lossy compression. You’re trading fidelity for efficiency. The summarizer decides what matters — and it might be wrong. This is a fundamental design choice, not a bug to fix.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Memory design choices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alibri"/>
              </a:defRPr>
            </a:pPr>
            <a:r>
              <a:t>•  Larger window → more fidelity, higher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2648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alibri"/>
              </a:defRPr>
            </a:pPr>
            <a:r>
              <a:t>•  Summarize every turn → freshest, 2× API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alibri"/>
              </a:defRPr>
            </a:pPr>
            <a:r>
              <a:t>•  Structured memory (JSON) → rigid but machine-readable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LLMs are stateless.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2DD4BF"/>
                </a:solidFill>
                <a:latin typeface="Calibri"/>
              </a:defRPr>
            </a:pPr>
            <a:r>
              <a:t>State is your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39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Full history doesn’t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2DD4BF"/>
                </a:solidFill>
                <a:latin typeface="Calibri"/>
              </a:defRPr>
            </a:pPr>
            <a:r>
              <a:t>Cost and latency grow quadratically.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Memory is lossy 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776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2DD4BF"/>
                </a:solidFill>
                <a:latin typeface="Calibri"/>
              </a:defRPr>
            </a:pPr>
            <a:r>
              <a:t>You choose what to keep and what to lose.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Memory is not a feature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834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2DD4BF"/>
                </a:solidFill>
                <a:latin typeface="Calibri"/>
              </a:defRPr>
            </a:pPr>
            <a:r>
              <a:t>it’s a design decision.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10698480" cy="36576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1">
                <a:solidFill>
                  <a:srgbClr val="8A94A6"/>
                </a:solidFill>
                <a:latin typeface="Calibri"/>
              </a:defRPr>
            </a:pPr>
            <a:r>
              <a:t>Next: agents that can do things — tools, the agentic loop, and what happens when the model acts in the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EB58AF-327C-844A-93DA-45162E4FE173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15458</TotalTime>
  <Words>1235</Words>
  <Application>Microsoft Macintosh PowerPoint</Application>
  <PresentationFormat>Widescreen</PresentationFormat>
  <Paragraphs>165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10</cp:revision>
  <dcterms:created xsi:type="dcterms:W3CDTF">2013-01-27T09:14:16Z</dcterms:created>
  <dcterms:modified xsi:type="dcterms:W3CDTF">2026-03-19T12:43:23Z</dcterms:modified>
  <cp:category/>
</cp:coreProperties>
</file>