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B3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CADCFC"/>
                </a:solidFill>
                <a:latin typeface="Calibri"/>
              </a:rPr>
              <a:t>STATISTICS · TWO-SAMPLE T-TEST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Georgia"/>
              </a:rPr>
              <a:t>Why isn't the standard error</a:t>
            </a:r>
          </a:p>
          <a:p>
            <a:pPr algn="l"/>
            <a:r>
              <a:rPr sz="4800" b="1" i="0">
                <a:solidFill>
                  <a:srgbClr val="FFFFFF"/>
                </a:solidFill>
                <a:latin typeface="Georgia"/>
              </a:rPr>
              <a:t>just √(pooled variance)?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02336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1">
                <a:solidFill>
                  <a:srgbClr val="CADCFC"/>
                </a:solidFill>
                <a:latin typeface="Calibri"/>
              </a:rPr>
              <a:t>A short derivation — from variance of one observation</a:t>
            </a:r>
          </a:p>
          <a:p>
            <a:pPr algn="l"/>
            <a:r>
              <a:rPr sz="2000" b="0" i="1">
                <a:solidFill>
                  <a:srgbClr val="CADCFC"/>
                </a:solidFill>
                <a:latin typeface="Calibri"/>
              </a:rPr>
              <a:t>to variance of a difference of two sample means.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5623560"/>
            <a:ext cx="10515600" cy="822960"/>
          </a:xfrm>
          <a:prstGeom prst="rect">
            <a:avLst/>
          </a:prstGeom>
          <a:solidFill>
            <a:srgbClr val="22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5623560"/>
            <a:ext cx="109728" cy="822960"/>
          </a:xfrm>
          <a:prstGeom prst="rect">
            <a:avLst/>
          </a:prstGeom>
          <a:solidFill>
            <a:srgbClr val="FB3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5760720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i="0">
                <a:solidFill>
                  <a:srgbClr val="CADCFC"/>
                </a:solidFill>
                <a:latin typeface="Calibri"/>
              </a:rPr>
              <a:t>The statistic we care about:  </a:t>
            </a:r>
            <a:r>
              <a:rPr sz="2000" b="1" i="1">
                <a:solidFill>
                  <a:srgbClr val="FFFFFF"/>
                </a:solidFill>
                <a:latin typeface="Calibri"/>
              </a:rPr>
              <a:t>x̄</a:t>
            </a:r>
            <a:r>
              <a:rPr sz="2000" b="1" i="0">
                <a:solidFill>
                  <a:srgbClr val="FFFFFF"/>
                </a:solidFill>
                <a:latin typeface="Calibri"/>
              </a:rPr>
              <a:t>ₐ − </a:t>
            </a:r>
            <a:r>
              <a:rPr sz="2000" b="1" i="1">
                <a:solidFill>
                  <a:srgbClr val="FFFFFF"/>
                </a:solidFill>
                <a:latin typeface="Calibri"/>
              </a:rPr>
              <a:t>x̄</a:t>
            </a:r>
            <a:r>
              <a:rPr sz="2000" b="1" i="0">
                <a:solidFill>
                  <a:srgbClr val="FFFFFF"/>
                </a:solidFill>
                <a:latin typeface="Calibri"/>
              </a:rPr>
              <a:t>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Georgia"/>
              </a:rPr>
              <a:t>The key distinction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822960" cy="73152"/>
          </a:xfrm>
          <a:prstGeom prst="rect">
            <a:avLst/>
          </a:prstGeom>
          <a:solidFill>
            <a:srgbClr val="FB3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1">
                <a:solidFill>
                  <a:srgbClr val="6B7593"/>
                </a:solidFill>
                <a:latin typeface="Calibri"/>
              </a:rPr>
              <a:t>Pooled variance describes data. Standard error describes estimates.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5486400" cy="4160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965960"/>
            <a:ext cx="109728" cy="41605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240279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6B7593"/>
                </a:solidFill>
                <a:latin typeface="Calibri"/>
              </a:rPr>
              <a:t>POOLED VARIANCE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51760"/>
            <a:ext cx="5029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1">
                <a:solidFill>
                  <a:srgbClr val="1E2761"/>
                </a:solidFill>
                <a:latin typeface="Georgia"/>
              </a:rPr>
              <a:t>s</a:t>
            </a:r>
            <a:r>
              <a:rPr sz="2000" b="1" i="1">
                <a:solidFill>
                  <a:srgbClr val="1E2761"/>
                </a:solidFill>
                <a:latin typeface="Georgia"/>
              </a:rPr>
              <a:t>p</a:t>
            </a:r>
            <a:r>
              <a:rPr sz="3600" b="1" i="0">
                <a:solidFill>
                  <a:srgbClr val="1E2761"/>
                </a:solidFill>
                <a:latin typeface="Georgia"/>
              </a:rPr>
              <a:t>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566160"/>
            <a:ext cx="5029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222B45"/>
                </a:solidFill>
                <a:latin typeface="Calibri"/>
              </a:rPr>
              <a:t>Variability of individual</a:t>
            </a:r>
          </a:p>
          <a:p>
            <a:pPr algn="l"/>
            <a:r>
              <a:rPr sz="1800" b="0" i="0">
                <a:solidFill>
                  <a:srgbClr val="222B45"/>
                </a:solidFill>
                <a:latin typeface="Calibri"/>
              </a:rPr>
              <a:t>observations in the sample.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4846320"/>
            <a:ext cx="4709160" cy="18288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983479"/>
            <a:ext cx="5029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B7593"/>
                </a:solidFill>
                <a:latin typeface="Calibri"/>
              </a:rPr>
              <a:t>Treats every data point as the unit.</a:t>
            </a:r>
          </a:p>
          <a:p>
            <a:pPr algn="l"/>
            <a:r>
              <a:rPr sz="1400" b="0" i="1">
                <a:solidFill>
                  <a:srgbClr val="6B7593"/>
                </a:solidFill>
                <a:latin typeface="Calibri"/>
              </a:rPr>
              <a:t>Says nothing about averages.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1965960"/>
            <a:ext cx="5486400" cy="4160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80" y="1965960"/>
            <a:ext cx="109728" cy="4160520"/>
          </a:xfrm>
          <a:prstGeom prst="rect">
            <a:avLst/>
          </a:prstGeom>
          <a:solidFill>
            <a:srgbClr val="FB3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2240279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B3640"/>
                </a:solidFill>
                <a:latin typeface="Calibri"/>
              </a:rPr>
              <a:t>STANDARD ERROR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651760"/>
            <a:ext cx="5029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Georgia"/>
              </a:rPr>
              <a:t>SE(</a:t>
            </a:r>
            <a:r>
              <a:rPr sz="3200" b="1" i="1">
                <a:solidFill>
                  <a:srgbClr val="1E2761"/>
                </a:solidFill>
                <a:latin typeface="Georgia"/>
              </a:rPr>
              <a:t>x̄</a:t>
            </a:r>
            <a:r>
              <a:rPr sz="3200" b="1" i="0">
                <a:solidFill>
                  <a:srgbClr val="1E2761"/>
                </a:solidFill>
                <a:latin typeface="Georgia"/>
              </a:rPr>
              <a:t>ₐ − </a:t>
            </a:r>
            <a:r>
              <a:rPr sz="3200" b="1" i="1">
                <a:solidFill>
                  <a:srgbClr val="1E2761"/>
                </a:solidFill>
                <a:latin typeface="Georgia"/>
              </a:rPr>
              <a:t>x̄</a:t>
            </a:r>
            <a:r>
              <a:rPr sz="3200" b="1" i="0">
                <a:solidFill>
                  <a:srgbClr val="1E2761"/>
                </a:solidFill>
                <a:latin typeface="Georgia"/>
              </a:rPr>
              <a:t>ᵦ)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566160"/>
            <a:ext cx="5029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222B45"/>
                </a:solidFill>
                <a:latin typeface="Calibri"/>
              </a:rPr>
              <a:t>Variability of the statistic</a:t>
            </a:r>
          </a:p>
          <a:p>
            <a:pPr algn="l"/>
            <a:r>
              <a:rPr sz="1800" b="0" i="0">
                <a:solidFill>
                  <a:srgbClr val="222B45"/>
                </a:solidFill>
                <a:latin typeface="Calibri"/>
              </a:rPr>
              <a:t>we actually test.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0" y="4846320"/>
            <a:ext cx="4709160" cy="18288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4983479"/>
            <a:ext cx="5029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B7593"/>
                </a:solidFill>
                <a:latin typeface="Calibri"/>
              </a:rPr>
              <a:t>Averaging shrinks noise.</a:t>
            </a:r>
          </a:p>
          <a:p>
            <a:pPr algn="l"/>
            <a:r>
              <a:rPr sz="1400" b="0" i="1">
                <a:solidFill>
                  <a:srgbClr val="6B7593"/>
                </a:solidFill>
                <a:latin typeface="Calibri"/>
              </a:rPr>
              <a:t>The question is how variable</a:t>
            </a:r>
          </a:p>
          <a:p>
            <a:pPr algn="l"/>
            <a:r>
              <a:rPr sz="1400" b="0" i="1">
                <a:solidFill>
                  <a:srgbClr val="6B7593"/>
                </a:solidFill>
                <a:latin typeface="Calibri"/>
              </a:rPr>
              <a:t>the difference of two means is.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1">
                <a:solidFill>
                  <a:srgbClr val="6B7593"/>
                </a:solidFill>
                <a:latin typeface="Calibri"/>
              </a:rPr>
              <a:t>Different objects → different uncertainties.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Georgia"/>
              </a:rPr>
              <a:t>From one observation to a difference of means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822960" cy="73152"/>
          </a:xfrm>
          <a:prstGeom prst="rect">
            <a:avLst/>
          </a:prstGeom>
          <a:solidFill>
            <a:srgbClr val="FB3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6B7593"/>
                </a:solidFill>
                <a:latin typeface="Calibri"/>
              </a:rPr>
              <a:t>Three steps — each one adds structure that plain σ² ignores.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920240"/>
            <a:ext cx="777240" cy="7772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800" b="1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82880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libri"/>
              </a:rPr>
              <a:t>Variance of one sample mean</a:t>
            </a:r>
          </a:p>
        </p:txBody>
      </p:sp>
      <p:sp>
        <p:nvSpPr>
          <p:cNvPr id="8" name="Rectangle 7"/>
          <p:cNvSpPr/>
          <p:nvPr/>
        </p:nvSpPr>
        <p:spPr>
          <a:xfrm>
            <a:off x="1554480" y="2240280"/>
            <a:ext cx="594360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554480" y="2240280"/>
            <a:ext cx="73152" cy="548640"/>
          </a:xfrm>
          <a:prstGeom prst="rect">
            <a:avLst/>
          </a:prstGeom>
          <a:solidFill>
            <a:srgbClr val="FB3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37360" y="2313432"/>
            <a:ext cx="5760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1">
                <a:solidFill>
                  <a:srgbClr val="222B45"/>
                </a:solidFill>
                <a:latin typeface="Georgia"/>
              </a:rPr>
              <a:t>Var(x̄ₐ) = σ² / nₐ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1920240"/>
            <a:ext cx="40233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B7593"/>
                </a:solidFill>
                <a:latin typeface="Calibri"/>
              </a:rPr>
              <a:t>Averaging nₐ observations shrinks the variance by a factor of nₐ.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383279"/>
            <a:ext cx="777240" cy="7772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800" b="1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291839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libri"/>
              </a:rPr>
              <a:t>Variance of a difference (independent samples)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54480" y="3703320"/>
            <a:ext cx="594360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554480" y="3703320"/>
            <a:ext cx="73152" cy="548640"/>
          </a:xfrm>
          <a:prstGeom prst="rect">
            <a:avLst/>
          </a:prstGeom>
          <a:solidFill>
            <a:srgbClr val="FB3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37360" y="3776472"/>
            <a:ext cx="5760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1">
                <a:solidFill>
                  <a:srgbClr val="222B45"/>
                </a:solidFill>
                <a:latin typeface="Georgia"/>
              </a:rPr>
              <a:t>Var(x̄ₐ − x̄ᵦ) = σ²/nₐ + σ²/nᵦ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3383279"/>
            <a:ext cx="40233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B7593"/>
                </a:solidFill>
                <a:latin typeface="Calibri"/>
              </a:rPr>
              <a:t>For independent samples, variances of a sum or difference add.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4846320"/>
            <a:ext cx="777240" cy="7772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800" b="1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75488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libri"/>
              </a:rPr>
              <a:t>Replace σ² with the pooled estimate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54480" y="5166360"/>
            <a:ext cx="594360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554480" y="5166360"/>
            <a:ext cx="73152" cy="548640"/>
          </a:xfrm>
          <a:prstGeom prst="rect">
            <a:avLst/>
          </a:prstGeom>
          <a:solidFill>
            <a:srgbClr val="FB3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737360" y="5239512"/>
            <a:ext cx="5760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1">
                <a:solidFill>
                  <a:srgbClr val="222B45"/>
                </a:solidFill>
                <a:latin typeface="Georgia"/>
              </a:rPr>
              <a:t>SE = √( sₚ² · (1/nₐ + 1/nᵦ) 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4846320"/>
            <a:ext cx="40233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B7593"/>
                </a:solidFill>
                <a:latin typeface="Calibri"/>
              </a:rPr>
              <a:t>We don't know σ², so we plug in sₚ². Both sample sizes now appear.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B3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CADCFC"/>
                </a:solidFill>
                <a:latin typeface="Calibri"/>
              </a:rPr>
              <a:t>THE MENTAL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1">
                <a:solidFill>
                  <a:srgbClr val="FFFFFF"/>
                </a:solidFill>
                <a:latin typeface="Georgia"/>
              </a:rPr>
              <a:t>How much would the difference of</a:t>
            </a:r>
          </a:p>
          <a:p>
            <a:pPr algn="l"/>
            <a:r>
              <a:rPr sz="3200" b="1" i="1">
                <a:solidFill>
                  <a:srgbClr val="FFFFFF"/>
                </a:solidFill>
                <a:latin typeface="Georgia"/>
              </a:rPr>
              <a:t>means fluctuate if I repeated the experiment?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429000"/>
            <a:ext cx="5212080" cy="2194560"/>
          </a:xfrm>
          <a:prstGeom prst="rect">
            <a:avLst/>
          </a:prstGeom>
          <a:solidFill>
            <a:srgbClr val="22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3429000"/>
            <a:ext cx="109728" cy="219456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65760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CADCFC"/>
                </a:solidFill>
                <a:latin typeface="Calibri"/>
              </a:rPr>
              <a:t>LARGE nₐ, nᵦ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069080"/>
            <a:ext cx="4754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Georgia"/>
              </a:rPr>
              <a:t>Stable means → small 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846320"/>
            <a:ext cx="4754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CADCFC"/>
                </a:solidFill>
                <a:latin typeface="Calibri"/>
              </a:rPr>
              <a:t>Averaging pays off: both means</a:t>
            </a:r>
          </a:p>
          <a:p>
            <a:pPr algn="l"/>
            <a:r>
              <a:rPr sz="1300" b="0" i="1">
                <a:solidFill>
                  <a:srgbClr val="CADCFC"/>
                </a:solidFill>
                <a:latin typeface="Calibri"/>
              </a:rPr>
              <a:t>are precise, differences are clean.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3429000"/>
            <a:ext cx="5212080" cy="2194560"/>
          </a:xfrm>
          <a:prstGeom prst="rect">
            <a:avLst/>
          </a:prstGeom>
          <a:solidFill>
            <a:srgbClr val="22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3429000"/>
            <a:ext cx="109728" cy="2194560"/>
          </a:xfrm>
          <a:prstGeom prst="rect">
            <a:avLst/>
          </a:prstGeom>
          <a:solidFill>
            <a:srgbClr val="FB3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365760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B3640"/>
                </a:solidFill>
                <a:latin typeface="Calibri"/>
              </a:rPr>
              <a:t>SMALL nₐ, nᵦ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4069080"/>
            <a:ext cx="4754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Georgia"/>
              </a:rPr>
              <a:t>Noisy means → large 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4846320"/>
            <a:ext cx="4754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CADCFC"/>
                </a:solidFill>
                <a:latin typeface="Calibri"/>
              </a:rPr>
              <a:t>Each mean still wobbles, and the</a:t>
            </a:r>
          </a:p>
          <a:p>
            <a:pPr algn="l"/>
            <a:r>
              <a:rPr sz="1300" b="0" i="1">
                <a:solidFill>
                  <a:srgbClr val="CADCFC"/>
                </a:solidFill>
                <a:latin typeface="Calibri"/>
              </a:rPr>
              <a:t>difference inherits both wobbles.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5989320"/>
            <a:ext cx="1097280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" y="5989320"/>
            <a:ext cx="109728" cy="640080"/>
          </a:xfrm>
          <a:prstGeom prst="rect">
            <a:avLst/>
          </a:prstGeom>
          <a:solidFill>
            <a:srgbClr val="FB3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6080760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i="0">
                <a:solidFill>
                  <a:srgbClr val="222B45"/>
                </a:solidFill>
                <a:latin typeface="Calibri"/>
              </a:rPr>
              <a:t>Pooled variance is about </a:t>
            </a:r>
            <a:r>
              <a:rPr sz="1600" b="1" i="0">
                <a:solidFill>
                  <a:srgbClr val="1E2761"/>
                </a:solidFill>
                <a:latin typeface="Calibri"/>
              </a:rPr>
              <a:t>data</a:t>
            </a:r>
            <a:r>
              <a:rPr sz="1600" b="0" i="0">
                <a:solidFill>
                  <a:srgbClr val="222B45"/>
                </a:solidFill>
                <a:latin typeface="Calibri"/>
              </a:rPr>
              <a:t>. Standard error is about </a:t>
            </a:r>
            <a:r>
              <a:rPr sz="1600" b="1" i="0">
                <a:solidFill>
                  <a:srgbClr val="FB3640"/>
                </a:solidFill>
                <a:latin typeface="Calibri"/>
              </a:rPr>
              <a:t>estimates</a:t>
            </a:r>
            <a:r>
              <a:rPr sz="1600" b="0" i="1">
                <a:solidFill>
                  <a:srgbClr val="222B45"/>
                </a:solidFill>
                <a:latin typeface="Calibri"/>
              </a:rPr>
              <a:t> — and estimates average noise away.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