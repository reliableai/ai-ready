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  <a:latin typeface="Calibri"/>
              </a:defRPr>
            </a:pPr>
            <a:r>
              <a:t>Sources of Uncertainty</a:t>
            </a:r>
            <a:br/>
            <a:r>
              <a:t>in AI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9260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3B82F6"/>
                </a:solidFill>
                <a:latin typeface="Calibri"/>
              </a:defRPr>
            </a:pPr>
            <a:r>
              <a:t>Why your scorecard lies — and what to do about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5760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Designing Large Scale AI Systems · Spring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Setup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CADCFC"/>
                </a:solidFill>
                <a:latin typeface="Calibri"/>
              </a:defRPr>
            </a:pPr>
            <a:r>
              <a:t>AI System → LLM Judge → 1-5 Scores</a:t>
            </a:r>
            <a:br/>
            <a:r>
              <a:t>4-Metric Scorecard: Correctness, Helpfulness, Tone, Completeness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468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Correctness: 4.2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514600"/>
            <a:ext cx="2688336" cy="27432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0" y="246888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Helpfulness: 4.1</a:t>
            </a:r>
          </a:p>
        </p:txBody>
      </p:sp>
      <p:sp>
        <p:nvSpPr>
          <p:cNvPr id="9" name="Rectangle 8"/>
          <p:cNvSpPr/>
          <p:nvPr/>
        </p:nvSpPr>
        <p:spPr>
          <a:xfrm>
            <a:off x="2560320" y="3108960"/>
            <a:ext cx="2624327" cy="27432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943600" y="3063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Tone: 4.3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560320" y="3703320"/>
            <a:ext cx="2752344" cy="27432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0" y="365760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425196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Completeness: 3.6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320" y="4297680"/>
            <a:ext cx="2304288" cy="274320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25196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5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Nine Sources + One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1. Sampling Noise          5. Variance Across Domains     9. LLM Evolution</a:t>
            </a:r>
            <a:br/>
            <a:br/>
            <a:r>
              <a:t>2. Sampling Bias          6. Choice of Metric</a:t>
            </a:r>
            <a:br/>
            <a:br/>
            <a:r>
              <a:t>3. Overfitting            7. Temporal Drift</a:t>
            </a:r>
            <a:br/>
            <a:br/>
            <a:r>
              <a:t>4. Multiple Hypothesis    8. Prompt Brittleness</a:t>
            </a:r>
            <a:br/>
            <a:br/>
            <a:r>
              <a:t>The Judge Layer: Cross-cutting uncertainty 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Sampling</a:t>
            </a:r>
            <a:br/>
            <a:r>
              <a:t>Noise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  <a:latin typeface="Calibri"/>
              </a:defRPr>
            </a:pPr>
            <a:r>
              <a:t>Your scorecard wobbles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Small n, Big Wobbles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Repeated evaluations of the same system give wildly different scores.</a:t>
            </a:r>
            <a:br/>
            <a:br/>
            <a:r>
              <a:t>Run 1: Correctness 4.2, Helpfulness 3.9, Tone 4.5, Completeness 3.4</a:t>
            </a:r>
            <a:br/>
            <a:r>
              <a:t>Run 2: Correctness 3.8, Helpfulness 4.3, Tone 3.9, Completeness 4.1</a:t>
            </a:r>
            <a:br/>
            <a:r>
              <a:t>Run 3: Correctness 4.4, Helpfulness 4.0, Tone 4.2, Completeness 3.7</a:t>
            </a:r>
            <a:br/>
            <a:br/>
            <a:r>
              <a:t>▶ Interactive: sampling_noise.html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Confidence Intervals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Beta Posteriors (binarize ≥4):</a:t>
            </a:r>
            <a:br/>
            <a:r>
              <a:t>Small n: wide interval    |    Large n: narrow spike</a:t>
            </a:r>
            <a:br/>
            <a:br/>
            <a:r>
              <a:t>Bootstrap on raw 1-5 scores:</a:t>
            </a:r>
            <a:br/>
            <a:r>
              <a:t>Resample with replacement, compute distribution of mean</a:t>
            </a:r>
            <a:br/>
            <a:br/>
            <a:r>
              <a:t>Key Insight: Report confidence intervals, never bare point estimates.</a:t>
            </a:r>
            <a:br/>
            <a:r>
              <a:t>Variance shrinks as 1/n — more data is a clean fix here.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1097280"/>
            <a:ext cx="1828800" cy="1371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1828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n = 30</a:t>
            </a:r>
            <a:br/>
            <a:r>
              <a:t>CI: ±0.4</a:t>
            </a:r>
          </a:p>
        </p:txBody>
      </p:sp>
      <p:sp>
        <p:nvSpPr>
          <p:cNvPr id="6" name="Rectangle 5"/>
          <p:cNvSpPr/>
          <p:nvPr/>
        </p:nvSpPr>
        <p:spPr>
          <a:xfrm>
            <a:off x="3200400" y="1097280"/>
            <a:ext cx="1371600" cy="1371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13716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FFFFFF"/>
                </a:solidFill>
                <a:latin typeface="Calibri"/>
              </a:defRPr>
            </a:pPr>
            <a:r>
              <a:t>n = 100</a:t>
            </a:r>
            <a:br/>
            <a:r>
              <a:t>CI: ±0.2</a:t>
            </a:r>
          </a:p>
        </p:txBody>
      </p:sp>
      <p:sp>
        <p:nvSpPr>
          <p:cNvPr id="8" name="Rectangle 7"/>
          <p:cNvSpPr/>
          <p:nvPr/>
        </p:nvSpPr>
        <p:spPr>
          <a:xfrm>
            <a:off x="5029200" y="1097280"/>
            <a:ext cx="914400" cy="13716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1188720"/>
            <a:ext cx="9144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>
                <a:solidFill>
                  <a:srgbClr val="FFFFFF"/>
                </a:solidFill>
                <a:latin typeface="Calibri"/>
              </a:defRPr>
            </a:pPr>
            <a:r>
              <a:t>n = 500</a:t>
            </a:r>
            <a:br/>
            <a:r>
              <a:t>CI: ±0.08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78638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2C55E"/>
                </a:solidFill>
                <a:latin typeface="Calibri"/>
              </a:defRPr>
            </a:pPr>
            <a:r>
              <a:t>YES ✓  Uncertainty collapses as √(1/n)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Sampling</a:t>
            </a:r>
            <a:br/>
            <a:r>
              <a:t>Bias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97316"/>
                </a:solidFill>
                <a:latin typeface="Calibri"/>
              </a:defRPr>
            </a:pPr>
            <a:r>
              <a:t>Your test set doesn't look like production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Wrong Population Mix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Test Set: 95% English, 5% Italian</a:t>
            </a:r>
            <a:br/>
            <a:r>
              <a:t>Production: 60% English, 40% Italian</a:t>
            </a:r>
            <a:br/>
            <a:br/>
            <a:r>
              <a:t>Test Scorecard: Correctness 4.2</a:t>
            </a:r>
            <a:br/>
            <a:r>
              <a:t>Production Reality: Correctness 3.2</a:t>
            </a:r>
            <a:br/>
            <a:br/>
            <a:r>
              <a:t>Language is one axis. Bias lurks on any dimension:</a:t>
            </a:r>
            <a:br/>
            <a:r>
              <a:t>Synthetic vs real data, simple vs complex queries,</a:t>
            </a:r>
            <a:br/>
            <a:r>
              <a:t>formal vs casual tone, domain-specific topics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Know Your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1. Know your production distribution. Measure it. Don't assume.</a:t>
            </a:r>
            <a:br/>
            <a:br/>
            <a:r>
              <a:t>2. Stratified sampling: sample proportionally to production mix.</a:t>
            </a:r>
            <a:br/>
            <a:br/>
            <a:r>
              <a:t>3. Per-segment reporting: never trust only the aggregate.</a:t>
            </a:r>
            <a:br/>
            <a:br/>
            <a:r>
              <a:t>4. Validate on real production data when possible.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F4444"/>
                </a:solidFill>
                <a:latin typeface="Calibri"/>
              </a:defRPr>
            </a:pPr>
            <a:r>
              <a:t>NO ✗  More biased data is still biased.</a:t>
            </a:r>
            <a:br/>
            <a:br/>
            <a:r>
              <a:t>10,000 wrong samples &lt; 100 right samples</a:t>
            </a:r>
            <a:br/>
            <a:br/>
            <a:r>
              <a:t>More data helps ONLY if it's representative.</a:t>
            </a:r>
            <a:br/>
            <a:r>
              <a:t>The fix is in the sampling design, not the sample size.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Overfitting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22C55E"/>
                </a:solidFill>
                <a:latin typeface="Calibri"/>
              </a:defRPr>
            </a:pPr>
            <a:r>
              <a:t>You looked at the test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Information Leakage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You iterated on the prompt using dev examples.</a:t>
            </a:r>
            <a:br/>
            <a:r>
              <a:t>You read the examples, understood patterns,</a:t>
            </a:r>
            <a:br/>
            <a:r>
              <a:t>and encoded them into the prompt.</a:t>
            </a:r>
            <a:br/>
            <a:br/>
            <a:r>
              <a:t>Even copy-pasted dev examples as few-shot examples.</a:t>
            </a:r>
            <a:br/>
            <a:br/>
            <a:r>
              <a:t>Dev score climbs steadily.</a:t>
            </a:r>
            <a:br/>
            <a:r>
              <a:t>Held-out test score: barely moves, then stalls.</a:t>
            </a:r>
            <a:br/>
            <a:br/>
            <a:r>
              <a:t>Dev: not trustworthy after many iterations.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Lab: Live Iteration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Task B1 — Judge calibration (Prometheus/FeedbackBench)</a:t>
            </a:r>
            <a:br/>
            <a:r>
              <a:t>Tune an LLM judge prompt. Dev set: 50 examples.</a:t>
            </a:r>
            <a:br/>
            <a:r>
              <a:t>Test set: 200 examples. Watch dev improve, test plateau.</a:t>
            </a:r>
            <a:br/>
            <a:br/>
            <a:r>
              <a:t>Task B2 — Structured extraction (TWEETSUMM)</a:t>
            </a:r>
            <a:br/>
            <a:r>
              <a:t>Extract fields from support tickets. Tune prompt iteratively.</a:t>
            </a:r>
            <a:br/>
            <a:r>
              <a:t>Rules that work on dev don't generalize to test.</a:t>
            </a:r>
            <a:br/>
            <a:br/>
            <a:r>
              <a:t>The Gap: When did you stop trusting the dev number?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EAB308"/>
                </a:solidFill>
                <a:latin typeface="Calibri"/>
              </a:defRPr>
            </a:pPr>
            <a:r>
              <a:t>PARTIALLY  Larger dev set is harder to overfit.</a:t>
            </a:r>
            <a:br/>
            <a:r>
              <a:t>But with enough iterations, you'll overfit any finite set.</a:t>
            </a:r>
            <a:br/>
            <a:br/>
            <a:r>
              <a:t>Real fix: Process discipline.</a:t>
            </a:r>
            <a:br/>
            <a:r>
              <a:t>Held-out test set you only touch once.</a:t>
            </a:r>
            <a:br/>
            <a:br/>
            <a:r>
              <a:t>More data buys you time, not safety.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91440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Multiple</a:t>
            </a:r>
            <a:br/>
            <a:r>
              <a:t>Hypothesis</a:t>
            </a:r>
            <a:br/>
            <a:r>
              <a:t>Testing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A78BFA"/>
                </a:solidFill>
                <a:latin typeface="Calibri"/>
              </a:defRPr>
            </a:pPr>
            <a:r>
              <a:t>You picked the luckiest variant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Selection Bias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You designed 10 prompt variants independently.</a:t>
            </a:r>
            <a:br/>
            <a:r>
              <a:t>You were disciplined — never looked at test data.</a:t>
            </a:r>
            <a:br/>
            <a:r>
              <a:t>Then you evaluated all 10 on the same test set.</a:t>
            </a:r>
            <a:br/>
            <a:r>
              <a:t>Variant #7 scored highest. You ship it.</a:t>
            </a:r>
            <a:br/>
            <a:br/>
            <a:r>
              <a:t>But: the test set had sampling noise.</a:t>
            </a:r>
            <a:br/>
            <a:r>
              <a:t>Variant #7 was just the luckiest.</a:t>
            </a:r>
            <a:br/>
            <a:r>
              <a:t>On fresh data, it often performs worse</a:t>
            </a:r>
            <a:br/>
            <a:r>
              <a:t>than variants you discarded.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Key Insights: Selection Bias Scales with 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CADCFC"/>
                </a:solidFill>
                <a:latin typeface="Calibri"/>
              </a:defRPr>
            </a:pPr>
            <a:r>
              <a:t>More variants = bigger bias.</a:t>
            </a:r>
            <a:br/>
            <a:br/>
            <a:r>
              <a:t>N=2 variants:    ±0.05 inflation</a:t>
            </a:r>
            <a:br/>
            <a:r>
              <a:t>N=10 variants:   ±0.15 inflation</a:t>
            </a:r>
            <a:br/>
            <a:r>
              <a:t>N=50 variants:   ±0.35 inflation</a:t>
            </a:r>
            <a:br/>
            <a:br/>
            <a:r>
              <a:t>The more thorough your search,</a:t>
            </a:r>
            <a:br/>
            <a:r>
              <a:t>the more you fool yourself.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Two-Stage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Stage 1: Use dev set to select winner</a:t>
            </a:r>
            <a:br/>
            <a:br/>
            <a:r>
              <a:t>Stage 2: Use fresh test set to measure winner's true performance</a:t>
            </a:r>
            <a:br/>
            <a:br/>
            <a:r>
              <a:t>Alternatives:</a:t>
            </a:r>
            <a:br/>
            <a:r>
              <a:t>• Bonferroni / Holm-Bonferroni correction</a:t>
            </a:r>
            <a:br/>
            <a:r>
              <a:t>• Pre-register which variant you're testing</a:t>
            </a:r>
            <a:br/>
            <a:r>
              <a:t>• Report adjusted CI for best-of-N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AB308"/>
                </a:solidFill>
                <a:latin typeface="Calibri"/>
              </a:defRPr>
            </a:pPr>
            <a:r>
              <a:t>PARTIALLY  More data shrinks per-variant noise.</a:t>
            </a:r>
            <a:br/>
            <a:r>
              <a:t>Selection bias gets smaller, never reaches zero.</a:t>
            </a:r>
            <a:br/>
            <a:br/>
            <a:r>
              <a:t>Worse: tighter CIs make noise look 'significant',</a:t>
            </a:r>
            <a:br/>
            <a:r>
              <a:t>so you're more confident in a biased pick.</a:t>
            </a:r>
            <a:br/>
            <a:br/>
            <a:r>
              <a:t>Real fix: process (two-stage, corrections),</a:t>
            </a:r>
            <a:br/>
            <a:r>
              <a:t>not just more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82296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Variance</a:t>
            </a:r>
            <a:br/>
            <a:r>
              <a:t>Across</a:t>
            </a:r>
            <a:br/>
            <a:r>
              <a:t>Domains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  <a:latin typeface="Calibri"/>
              </a:defRPr>
            </a:pPr>
            <a:r>
              <a:t>The aggregate lies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Simpson's Paradox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Overall Correctness: 4.0 (looks good)</a:t>
            </a:r>
            <a:br/>
            <a:br/>
            <a:r>
              <a:t>Per-segment reality:</a:t>
            </a:r>
            <a:br/>
            <a:r>
              <a:t>  Finance queries:  4.6 → happy</a:t>
            </a:r>
            <a:br/>
            <a:r>
              <a:t>  Medical queries:  3.3 → churns</a:t>
            </a:r>
            <a:br/>
            <a:r>
              <a:t>  Legal queries:    3.8 → confused</a:t>
            </a:r>
            <a:br/>
            <a:br/>
            <a:r>
              <a:t>Simpson's Paradox: System A beats B overall,</a:t>
            </a:r>
            <a:br/>
            <a:r>
              <a:t>but B beats A in *every single segment*.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Per-Segment Everything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1. Always report per-segment scores.</a:t>
            </a:r>
            <a:br/>
            <a:r>
              <a:t>Never trust only the aggregate.</a:t>
            </a:r>
            <a:br/>
            <a:br/>
            <a:r>
              <a:t>2. Define minimum acceptable performance per segment.</a:t>
            </a:r>
            <a:br/>
            <a:r>
              <a:t>A system at 4.5 finance / 2.0 medical is broken.</a:t>
            </a:r>
            <a:br/>
            <a:br/>
            <a:r>
              <a:t>3. Set SLAs per segment, per customer.</a:t>
            </a:r>
            <a:br/>
            <a:br/>
            <a:r>
              <a:t>4. Improve the system itself to reduce real variance.</a:t>
            </a:r>
            <a:br/>
            <a:r>
              <a:t>Make it more adaptive to different domains.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  <a:latin typeface="Calibri"/>
              </a:defRPr>
            </a:pPr>
            <a:r>
              <a:t>NO ✗  More data gives tighter estimates.</a:t>
            </a:r>
            <a:br/>
            <a:r>
              <a:t>Doesn't reduce the variance between segments.</a:t>
            </a:r>
            <a:br/>
            <a:br/>
            <a:r>
              <a:t>Variance is a property of the world:</a:t>
            </a:r>
            <a:br/>
            <a:r>
              <a:t>Your system handles finance well, medical poorly.</a:t>
            </a:r>
            <a:br/>
            <a:br/>
            <a:r>
              <a:t>Only system improvements reduce the variance.</a:t>
            </a:r>
            <a:br/>
            <a:r>
              <a:t>Measurement precision ≠ system improvement.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F97316"/>
          </a:solidFill>
          <a:ln>
            <a:solidFill>
              <a:srgbClr val="F9731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Choice of</a:t>
            </a:r>
            <a:br/>
            <a:r>
              <a:t>Metric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F97316"/>
                </a:solidFill>
                <a:latin typeface="Calibri"/>
              </a:defRPr>
            </a:pPr>
            <a:r>
              <a:t>The winner depends on how you ask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Same Data, Different Winners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System A vs B — 200 queries, same judge</a:t>
            </a:r>
            <a:br/>
            <a:br/>
            <a:r>
              <a:t>Mean:              A 4.1  vs  B 3.9  →  A wins</a:t>
            </a:r>
            <a:br/>
            <a:r>
              <a:t>Median:            A 4.0  vs  B 4.0  →  Tie</a:t>
            </a:r>
            <a:br/>
            <a:r>
              <a:t>% scoring ≥4:      A 62%  vs  B 68%  →  B wins</a:t>
            </a:r>
            <a:br/>
            <a:r>
              <a:t>5th percentile:     A 1.8  vs  B 2.5  →  B wins</a:t>
            </a:r>
            <a:br/>
            <a:br/>
            <a:r>
              <a:t>A has higher average. B is more consistent.</a:t>
            </a:r>
            <a:br/>
            <a:r>
              <a:t>Which is 'better'? The data didn't change. The question changed.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Pre-Commit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Pre-register before evaluation:</a:t>
            </a:r>
            <a:br/>
            <a:r>
              <a:t>• Primary metric (mean? threshold? percentile?)</a:t>
            </a:r>
            <a:br/>
            <a:r>
              <a:t>• Specific aggregation method</a:t>
            </a:r>
            <a:br/>
            <a:r>
              <a:t>• Success criteria</a:t>
            </a:r>
            <a:br/>
            <a:br/>
            <a:r>
              <a:t>Metric hierarchy: primary metric + guardrails.</a:t>
            </a:r>
            <a:br/>
            <a:br/>
            <a:r>
              <a:t>Document why you chose the metric.</a:t>
            </a:r>
            <a:br/>
            <a:r>
              <a:t>What user outcome does it proxy for?</a:t>
            </a:r>
            <a:br/>
            <a:br/>
            <a:r>
              <a:t>The metric choice is part of system design,</a:t>
            </a:r>
            <a:br/>
            <a:r>
              <a:t>not an afterthought.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Temporal</a:t>
            </a:r>
            <a:br/>
            <a:r>
              <a:t>Drift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>
                <a:solidFill>
                  <a:srgbClr val="22C55E"/>
                </a:solidFill>
                <a:latin typeface="Calibri"/>
              </a:defRPr>
            </a:pPr>
            <a:r>
              <a:t>Your number has an expiration date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The World Changes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Customer support bot — monthly evaluations:</a:t>
            </a:r>
            <a:br/>
            <a:br/>
            <a:r>
              <a:t>January:   Correctness 4.2  →  ship it</a:t>
            </a:r>
            <a:br/>
            <a:r>
              <a:t>February:  Correctness 4.1</a:t>
            </a:r>
            <a:br/>
            <a:r>
              <a:t>March:     Correctness 3.8  →  hmm</a:t>
            </a:r>
            <a:br/>
            <a:r>
              <a:t>April:     Correctness 3.5  →  panic</a:t>
            </a:r>
            <a:br/>
            <a:br/>
            <a:r>
              <a:t>Code never changed. World changed.</a:t>
            </a:r>
            <a:br/>
            <a:r>
              <a:t>New product launch → queries the system was never designed for.</a:t>
            </a:r>
            <a:br/>
            <a:r>
              <a:t>Your January evaluation tells you about January. Nothing about April.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Continuous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1. Build monitoring into the system from day one.</a:t>
            </a:r>
            <a:br/>
            <a:br/>
            <a:r>
              <a:t>2. Automated periodic evaluation on fresh production data.</a:t>
            </a:r>
            <a:br/>
            <a:br/>
            <a:r>
              <a:t>3. Drift detection: alert when scores drop or shift too much.</a:t>
            </a:r>
            <a:br/>
            <a:br/>
            <a:r>
              <a:t>4. Version everything (data, prompts, models)</a:t>
            </a:r>
            <a:br/>
            <a:r>
              <a:t>    to diagnose what drifted.</a:t>
            </a:r>
            <a:br/>
            <a:br/>
            <a:r>
              <a:t>Does more data help? NO — more old January data</a:t>
            </a:r>
            <a:br/>
            <a:r>
              <a:t>tells you about January. Need fresh data over time.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A78BFA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91440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FFFFFF"/>
                </a:solidFill>
                <a:latin typeface="Calibri"/>
              </a:defRPr>
            </a:pPr>
            <a:r>
              <a:t>Prompt</a:t>
            </a:r>
            <a:br/>
            <a:r>
              <a:t>Brittleness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>
                <a:solidFill>
                  <a:srgbClr val="A78BFA"/>
                </a:solidFill>
                <a:latin typeface="Calibri"/>
              </a:defRPr>
            </a:pPr>
            <a:r>
              <a:t>One comma changed your accuracy by 20%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Real Research Findings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Reorder few-shot examples:      54% → 93% accuracy</a:t>
            </a:r>
            <a:br/>
            <a:r>
              <a:t>Change single delimiter char:    ±23% accuracy</a:t>
            </a:r>
            <a:br/>
            <a:r>
              <a:t>Punctuation/whitespace only:    9.4% → 54.9% (6x swing!)</a:t>
            </a:r>
            <a:br/>
            <a:r>
              <a:t>Move answer option positions:    Model ranking changes</a:t>
            </a:r>
            <a:br/>
            <a:r>
              <a:t>Formatting in few-shot:         Up to 76 accuracy points</a:t>
            </a:r>
            <a:br/>
            <a:br/>
            <a:r>
              <a:t>Production incident: Changing "strictly valid JSON"</a:t>
            </a:r>
            <a:br/>
            <a:r>
              <a:t>to "clean, parseable JSON" silently broke parsers.</a:t>
            </a:r>
            <a:br/>
            <a:br/>
            <a:r>
              <a:t>These aren't corner cases. They're typical.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Sensitivity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Before shipping, try N rephrasings.</a:t>
            </a:r>
            <a:br/>
            <a:r>
              <a:t>Measure variance in scores.</a:t>
            </a:r>
            <a:br/>
            <a:br/>
            <a:r>
              <a:t>Report score as a range, not a single number.</a:t>
            </a:r>
            <a:br/>
            <a:r>
              <a:t>Best / worst across rephrasings.</a:t>
            </a:r>
            <a:br/>
            <a:br/>
            <a:r>
              <a:t>Robustness as a selection criterion:</a:t>
            </a:r>
            <a:br/>
            <a:r>
              <a:t>Prefer prompts where small changes → small score changes.</a:t>
            </a:r>
            <a:br/>
            <a:br/>
            <a:r>
              <a:t>Pin prompt versions exactly.</a:t>
            </a:r>
            <a:br/>
            <a:r>
              <a:t>Treat any edit as a new deployment.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78638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EF4444"/>
                </a:solidFill>
                <a:latin typeface="Calibri"/>
              </a:defRPr>
            </a:pPr>
            <a:r>
              <a:t>NO ✗  More data makes each prompt variant</a:t>
            </a:r>
            <a:br/>
            <a:r>
              <a:t>more precise, but doesn't reduce brittleness.</a:t>
            </a:r>
            <a:br/>
            <a:br/>
            <a:r>
              <a:t>The sensitivity between prompts is a property of the model,</a:t>
            </a:r>
            <a:br/>
            <a:r>
              <a:t>not the measurement.</a:t>
            </a:r>
            <a:br/>
            <a:br/>
            <a:r>
              <a:t>You can measure it more precisely with more data.</a:t>
            </a:r>
            <a:br/>
            <a:r>
              <a:t>The gap between variants stays.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3B82F6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82880" y="1371600"/>
            <a:ext cx="10058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Calibri"/>
              </a:defRPr>
            </a:pPr>
            <a:r>
              <a:t>#9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LLM</a:t>
            </a:r>
            <a:br/>
            <a:r>
              <a:t>Evolution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3B82F6"/>
                </a:solidFill>
                <a:latin typeface="Calibri"/>
              </a:defRPr>
            </a:pPr>
            <a:r>
              <a:t>The ground shifted under you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Problem: You Don't Own Your Model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The provider updated the weights silently.</a:t>
            </a:r>
            <a:br/>
            <a:r>
              <a:t>Your prompt, test set, code: unchanged.</a:t>
            </a:r>
            <a:br/>
            <a:r>
              <a:t>Scores shifted.</a:t>
            </a:r>
            <a:br/>
            <a:br/>
            <a:r>
              <a:t>Key example — Chen et al. (2023):</a:t>
            </a:r>
            <a:br/>
            <a:r>
              <a:t>GPT-4 on 'identify prime numbers'</a:t>
            </a:r>
            <a:br/>
            <a:r>
              <a:t>March 2023:  97.6% accuracy</a:t>
            </a:r>
            <a:br/>
            <a:r>
              <a:t>June 2023:   2.4% accuracy</a:t>
            </a:r>
            <a:br/>
            <a:br/>
            <a:r>
              <a:t>Catastrophic regression. Same task, same prompt.</a:t>
            </a:r>
            <a:br/>
            <a:r>
              <a:t>22.9% of model updates cause prompt regressions (&gt;20% drops).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Fix: Version Discipline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>
                <a:solidFill>
                  <a:srgbClr val="CADCFC"/>
                </a:solidFill>
                <a:latin typeface="Calibri"/>
              </a:defRPr>
            </a:pPr>
            <a:r>
              <a:t>Pin model versions (gpt-4-0613, not gpt-4).</a:t>
            </a:r>
            <a:br/>
            <a:br/>
            <a:r>
              <a:t>Automated regression tests on a schedule.</a:t>
            </a:r>
            <a:br/>
            <a:r>
              <a:t>Catch degradation early.</a:t>
            </a:r>
            <a:br/>
            <a:br/>
            <a:r>
              <a:t>Fallback strategy: if new version regresses, roll back.</a:t>
            </a:r>
            <a:br/>
            <a:br/>
            <a:r>
              <a:t>Treat every model version change as a deployment.</a:t>
            </a:r>
            <a:br/>
            <a:r>
              <a:t>Full re-evaluation required.</a:t>
            </a:r>
            <a:br/>
            <a:br/>
            <a:r>
              <a:t>Monitor provider changelogs and deprecation notices.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EF4444"/>
          </a:solidFill>
          <a:ln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Calibri"/>
              </a:defRPr>
            </a:pPr>
            <a:r>
              <a:t>⚖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1097280"/>
            <a:ext cx="70408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The Judge</a:t>
            </a:r>
            <a:br/>
            <a:r>
              <a:t>Layer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F4444"/>
                </a:solidFill>
                <a:latin typeface="Calibri"/>
              </a:defRPr>
            </a:pPr>
            <a:r>
              <a:t>Every source applies again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Every Measurement Goes Through the Judge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The judge (LLM or human) is itself an imperfect system.</a:t>
            </a:r>
            <a:br/>
            <a:r>
              <a:t>Every uncertainty source applies AGAIN at the judge level.</a:t>
            </a:r>
            <a:br/>
            <a:br/>
            <a:r>
              <a:t>Judge issues:</a:t>
            </a:r>
            <a:br/>
            <a:r>
              <a:t>• Noise: same judge, same output, different score</a:t>
            </a:r>
            <a:br/>
            <a:r>
              <a:t>• Bias: systematically generous or harsh</a:t>
            </a:r>
            <a:br/>
            <a:r>
              <a:t>• Subjectivity: experts disagree on 'what is a 4?'</a:t>
            </a:r>
            <a:br/>
            <a:r>
              <a:t>• Brittleness: judge prompt rewording → different scores</a:t>
            </a:r>
            <a:br/>
            <a:r>
              <a:t>• Evolution: judge model gets updated</a:t>
            </a:r>
            <a:br/>
            <a:br/>
            <a:r>
              <a:t>Judge uncertainties MULTIPLY with others. They don't add.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The Compounding Effect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Perfect judge scenario:</a:t>
            </a:r>
            <a:br/>
            <a:r>
              <a:t>Sampling noise alone: CI ±0.2</a:t>
            </a:r>
            <a:br/>
            <a:br/>
            <a:r>
              <a:t>Add judge noise (65% self-agreement):</a:t>
            </a:r>
            <a:br/>
            <a:r>
              <a:t>Each data point is itself uncertain: CI ±0.4</a:t>
            </a:r>
            <a:br/>
            <a:br/>
            <a:r>
              <a:t>Add judge bias (systematically +0.3):</a:t>
            </a:r>
            <a:br/>
            <a:r>
              <a:t>CI still ±0.4, but center shifts to 4.4</a:t>
            </a:r>
            <a:br/>
            <a:br/>
            <a:r>
              <a:t>Add judge subjectivity:</a:t>
            </a:r>
            <a:br/>
            <a:r>
              <a:t>There isn't even a single 'true' value to estimate.</a:t>
            </a:r>
            <a:br/>
            <a:br/>
            <a:r>
              <a:t>Noisy judge doesn't just add fuzz — it doubles/triples uncertainty.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Judge Issue: Subjectivity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Some things are genuinely subjective.</a:t>
            </a:r>
            <a:br/>
            <a:r>
              <a:t>"Is this response helpful?" Reasonable experts disagree.</a:t>
            </a:r>
            <a:br/>
            <a:r>
              <a:t>There isn't a ground truth to converge to.</a:t>
            </a:r>
            <a:br/>
            <a:br/>
            <a:r>
              <a:t>Example: 20 outputs, 5 human experts score Helpfulness</a:t>
            </a:r>
            <a:br/>
            <a:r>
              <a:t>Some outputs: all experts agree (4-5)</a:t>
            </a:r>
            <a:br/>
            <a:r>
              <a:t>Others: range from 2 to 5</a:t>
            </a:r>
            <a:br/>
            <a:br/>
            <a:r>
              <a:t>If experts disagree, what is the 'right' score?</a:t>
            </a:r>
            <a:br/>
            <a:r>
              <a:t>Your ground truth is a social construction, not a fact.</a:t>
            </a:r>
            <a:br/>
            <a:r>
              <a:t>The LLM judge adopted one subjective standard.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0" cy="5143500"/>
          </a:xfrm>
          <a:prstGeom prst="rect">
            <a:avLst/>
          </a:prstGeom>
          <a:solidFill>
            <a:srgbClr val="EAB308"/>
          </a:solidFill>
          <a:ln>
            <a:solidFill>
              <a:srgbClr val="EAB30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188720"/>
            <a:ext cx="10972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0" b="1">
                <a:solidFill>
                  <a:srgbClr val="FFFFFF"/>
                </a:solidFill>
                <a:latin typeface="Calibri"/>
              </a:defRPr>
            </a:pPr>
            <a:r>
              <a:t>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645920" y="914400"/>
            <a:ext cx="704088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Uncertainty</a:t>
            </a:r>
            <a:br/>
            <a:r>
              <a:t>Compounds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645920" y="2560320"/>
            <a:ext cx="70408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>
                <a:solidFill>
                  <a:srgbClr val="EAB308"/>
                </a:solidFill>
                <a:latin typeface="Calibri"/>
              </a:defRPr>
            </a:pPr>
            <a:r>
              <a:t>It does not cancel out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Watch the Uncertainty Grow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09728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>
                <a:solidFill>
                  <a:srgbClr val="CADCFC"/>
                </a:solidFill>
                <a:latin typeface="Calibri"/>
              </a:defRPr>
            </a:pPr>
            <a:r>
              <a:t>What's included                        | Score      | Uncertainty</a:t>
            </a:r>
            <a:br/>
            <a:r>
              <a:t>───────────────────────────────────────┼────────────┼──────────────</a:t>
            </a:r>
            <a:br/>
            <a:r>
              <a:t>Perfect judge, infinite data           | 4.10       | Exact</a:t>
            </a:r>
            <a:br/>
            <a:r>
              <a:t>+ Sampling noise (n=100)              | 4.10 ± 0.15| CI narrows</a:t>
            </a:r>
            <a:br/>
            <a:r>
              <a:t>+ Judge noise (65% agreement)         | 4.10 ± 0.35| Each point uncertain</a:t>
            </a:r>
            <a:br/>
            <a:r>
              <a:t>+ Judge bias (systematically +0.3)    | 4.40 ± 0.35| Shifted center</a:t>
            </a:r>
            <a:br/>
            <a:r>
              <a:t>+ Sampling bias (wrong population)    | 4.40 ± 0.35| Truth outside CI</a:t>
            </a:r>
            <a:br/>
            <a:r>
              <a:t>+ Prompt brittleness (±0.3)           | 3.4–4.8    | Multiple values</a:t>
            </a:r>
            <a:br/>
            <a:r>
              <a:t>+ Model evolution (judge updated)     | ???        | Instrument changed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400" b="1">
                <a:solidFill>
                  <a:srgbClr val="FFFFFF"/>
                </a:solidFill>
                <a:latin typeface="Calibri"/>
              </a:defRPr>
            </a:pPr>
            <a:r>
              <a:t>Anti-Intuitions Students Need to Develop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80467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WRONG: Errors cancel out</a:t>
            </a:r>
            <a:br/>
            <a:r>
              <a:t>RIGHT: Variances add, biases compound</a:t>
            </a:r>
            <a:br/>
            <a:br/>
            <a:r>
              <a:t>WRONG: More data fixes everything</a:t>
            </a:r>
            <a:br/>
            <a:r>
              <a:t>RIGHT: Only fixes #1. Doesn't fix bias, judges, brittleness, drift</a:t>
            </a:r>
            <a:br/>
            <a:br/>
            <a:r>
              <a:t>WRONG: If the number looks precise, it is precise</a:t>
            </a:r>
            <a:br/>
            <a:r>
              <a:t>RIGHT: Precision ≠ accuracy. A very precise wrong number is worse</a:t>
            </a:r>
            <a:br/>
            <a:br/>
            <a:r>
              <a:t>WRONG: We measured 4.1, so it's approximately 4.1</a:t>
            </a:r>
            <a:br/>
            <a:r>
              <a:t>RIGHT: 4.1 = output of this judge, prompt, sample, model, moment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The Key Takeaway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500">
                <a:solidFill>
                  <a:srgbClr val="CADCFC"/>
                </a:solidFill>
                <a:latin typeface="Calibri"/>
              </a:defRPr>
            </a:pPr>
            <a:r>
              <a:t>The scorecard is not a measurement of your system.</a:t>
            </a:r>
            <a:br/>
            <a:br/>
            <a:r>
              <a:t>It's a measurement of your system</a:t>
            </a:r>
            <a:br/>
            <a:r>
              <a:t>as seen by THIS judge,</a:t>
            </a:r>
            <a:br/>
            <a:r>
              <a:t>with THIS prompt,</a:t>
            </a:r>
            <a:br/>
            <a:r>
              <a:t>on THIS data,</a:t>
            </a:r>
            <a:br/>
            <a:r>
              <a:t>at THIS moment in time.</a:t>
            </a:r>
            <a:br/>
            <a:br/>
            <a:r>
              <a:t>Every one of those qualifiers hides uncertainty.</a:t>
            </a:r>
            <a:br/>
            <a:r>
              <a:t>And the uncertainties do not cancel —</a:t>
            </a:r>
            <a:br/>
            <a:r>
              <a:t>they compound.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Does More Data Help?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YES (#1):  Sampling noise — variance shrinks as 1/n</a:t>
            </a:r>
            <a:br/>
            <a:br/>
            <a:r>
              <a:t>PARTIAL (#3, #4):  Overfitting &amp; MHT — harder but not impossible</a:t>
            </a:r>
            <a:br/>
            <a:br/>
            <a:r>
              <a:t>NO (#2, #5, #6, #7, #8, #9):  Bias, drift, brittleness, evolution</a:t>
            </a:r>
            <a:br/>
            <a:r>
              <a:t>More data from the same biased source is still biased.</a:t>
            </a:r>
            <a:br/>
            <a:r>
              <a:t>More old data tells you about the past.</a:t>
            </a:r>
            <a:br/>
            <a:br/>
            <a:r>
              <a:t>More data reduces sampling noise.</a:t>
            </a:r>
            <a:br/>
            <a:r>
              <a:t>Everything else requires better judges, better design,</a:t>
            </a:r>
            <a:br/>
            <a:r>
              <a:t>better discipline, or accepting uncertainty as real.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Interactive Tools &amp; Playgrounds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>
                <a:solidFill>
                  <a:srgbClr val="CADCFC"/>
                </a:solidFill>
                <a:latin typeface="Calibri"/>
              </a:defRPr>
            </a:pPr>
            <a:r>
              <a:t>Explore the sources interactively:</a:t>
            </a:r>
            <a:br/>
            <a:br/>
            <a:r>
              <a:t>▶ sampling_noise.html — adjust n, watch CI collapse</a:t>
            </a:r>
            <a:br/>
            <a:r>
              <a:t>▶ sampling_bias.html — mix biased samples, see the gap</a:t>
            </a:r>
            <a:br/>
            <a:r>
              <a:t>▶ multiple_hypothesis_testing.html — N variants, N winners</a:t>
            </a:r>
            <a:br/>
            <a:r>
              <a:t>▶ variance_across_domains.html — Simpson's paradox live</a:t>
            </a:r>
            <a:br/>
            <a:r>
              <a:t>▶ choice_of_metric.html — same data, different winners</a:t>
            </a:r>
            <a:br/>
            <a:r>
              <a:t>▶ temporal_drift.html — monthly scores over time</a:t>
            </a:r>
            <a:br/>
            <a:r>
              <a:t>▶ stacking.html — watch uncertainty compound</a:t>
            </a:r>
            <a:br/>
            <a:br/>
            <a:r>
              <a:t>Go play with it. Get a feel for how these sources hide in your measurements.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6306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E2761"/>
          </a:solidFill>
          <a:ln>
            <a:solidFill>
              <a:srgbClr val="1E27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1371600"/>
            <a:ext cx="78638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CADCFC"/>
                </a:solidFill>
                <a:latin typeface="Calibri"/>
              </a:defRPr>
            </a:pPr>
            <a:r>
              <a:t>"The goal of science is not to produce graphs,</a:t>
            </a:r>
            <a:br/>
            <a:r>
              <a:t>but to produce understanding.</a:t>
            </a:r>
            <a:br/>
            <a:r>
              <a:t>We measure to learn, not to celebrate</a:t>
            </a:r>
            <a:br/>
            <a:r>
              <a:t>the precision of the measurement itself."</a:t>
            </a:r>
            <a:br/>
            <a:br/>
            <a:r>
              <a:t>— In spirit of Tukey, Box, Ioannidis,</a:t>
            </a:r>
            <a:br/>
            <a:r>
              <a:t>and everyone who's shipped a model</a:t>
            </a:r>
            <a:br/>
            <a:r>
              <a:t>and watched it fail quietly in production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4846320"/>
            <a:ext cx="640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8892A4"/>
                </a:solidFill>
                <a:latin typeface="Calibri"/>
              </a:defRPr>
            </a:pPr>
            <a:r>
              <a:t>48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